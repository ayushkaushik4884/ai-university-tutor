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8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png"/><Relationship Id="rId5" Type="http://schemas.openxmlformats.org/officeDocument/2006/relationships/oleObject" Target="../embeddings/oleObject8.bin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61179" y="908720"/>
            <a:ext cx="4821641" cy="323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+mj-lt"/>
              </a:rPr>
              <a:t>BASIC ELECTRONICS</a:t>
            </a:r>
          </a:p>
          <a:p>
            <a:pPr algn="ctr"/>
            <a:r>
              <a:rPr lang="en-US" sz="4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(24B11EC111)</a:t>
            </a:r>
          </a:p>
          <a:p>
            <a:pPr algn="ctr"/>
            <a:r>
              <a:rPr lang="en-US" sz="4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Unit-1</a:t>
            </a:r>
          </a:p>
          <a:p>
            <a:pPr algn="ctr"/>
            <a:r>
              <a:rPr lang="en-US" sz="4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Lecture-9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Thevenin’s Theorem Contd.)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>
                <a:latin typeface="Times New Roman" pitchFamily="18" charset="0"/>
                <a:cs typeface="Times New Roman" pitchFamily="18" charset="0"/>
              </a:rPr>
              <a:pPr/>
              <a:t>1</a:t>
            </a:fld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81315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229600" cy="8572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ea typeface="+mn-ea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" y="1714500"/>
            <a:ext cx="6720036" cy="4054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itchFamily="34" charset="0"/>
              <a:buChar char="•"/>
            </a:pPr>
            <a:r>
              <a:rPr lang="en-US" sz="2000" b="1" dirty="0">
                <a:cs typeface="Times New Roman" pitchFamily="18" charset="0"/>
              </a:rPr>
              <a:t>Thevenin equivalent circuit of a circuit having dependent and independent sources.</a:t>
            </a:r>
          </a:p>
          <a:p>
            <a:endParaRPr lang="en-US" sz="2000" b="1" dirty="0">
              <a:cs typeface="Times New Roman" pitchFamily="18" charset="0"/>
            </a:endParaRPr>
          </a:p>
          <a:p>
            <a:pPr marL="214313" indent="-214313" algn="just">
              <a:buFont typeface="Arial" pitchFamily="34" charset="0"/>
              <a:buChar char="•"/>
            </a:pPr>
            <a:r>
              <a:rPr lang="en-US" sz="2000" b="1" dirty="0">
                <a:cs typeface="Times New Roman" pitchFamily="18" charset="0"/>
              </a:rPr>
              <a:t>Thevenin equivalent circuit of a circuit having dependent sources only.</a:t>
            </a:r>
          </a:p>
          <a:p>
            <a:pPr marL="214313" indent="-214313">
              <a:buFont typeface="Arial" pitchFamily="34" charset="0"/>
              <a:buChar char="•"/>
            </a:pPr>
            <a:endParaRPr lang="en-US" sz="2000" b="1" dirty="0">
              <a:cs typeface="Times New Roman" pitchFamily="18" charset="0"/>
            </a:endParaRPr>
          </a:p>
          <a:p>
            <a:pPr marL="214313" indent="-214313">
              <a:buFont typeface="Arial" pitchFamily="34" charset="0"/>
              <a:buChar char="•"/>
            </a:pPr>
            <a:r>
              <a:rPr lang="en-US" sz="2000" b="1" dirty="0">
                <a:cs typeface="Times New Roman" pitchFamily="18" charset="0"/>
              </a:rPr>
              <a:t>Problems.</a:t>
            </a:r>
          </a:p>
          <a:p>
            <a:pPr marL="214313" indent="-214313">
              <a:buFont typeface="Arial" pitchFamily="34" charset="0"/>
              <a:buChar char="•"/>
            </a:pPr>
            <a:endParaRPr lang="en-US" sz="2000" b="1" dirty="0">
              <a:cs typeface="Times New Roman" pitchFamily="18" charset="0"/>
            </a:endParaRPr>
          </a:p>
          <a:p>
            <a:pPr marL="214313" indent="-214313">
              <a:buFont typeface="Arial" pitchFamily="34" charset="0"/>
              <a:buChar char="•"/>
            </a:pPr>
            <a:r>
              <a:rPr lang="en-US" sz="2000" b="1" dirty="0">
                <a:cs typeface="Times New Roman" pitchFamily="18" charset="0"/>
              </a:rPr>
              <a:t>Practice Problems</a:t>
            </a:r>
          </a:p>
          <a:p>
            <a:pPr marL="214313" indent="-214313">
              <a:buFont typeface="Arial" pitchFamily="34" charset="0"/>
              <a:buChar char="•"/>
            </a:pPr>
            <a:endParaRPr lang="en-US" sz="2000" b="1" dirty="0">
              <a:cs typeface="Times New Roman" pitchFamily="18" charset="0"/>
            </a:endParaRPr>
          </a:p>
          <a:p>
            <a:pPr marL="214313" indent="-214313">
              <a:buFont typeface="Arial" pitchFamily="34" charset="0"/>
              <a:buChar char="•"/>
            </a:pPr>
            <a:r>
              <a:rPr lang="en-US" sz="2000" b="1" dirty="0">
                <a:cs typeface="Times New Roman" pitchFamily="18" charset="0"/>
              </a:rPr>
              <a:t>References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214313" indent="-214313">
              <a:buFont typeface="Arial" pitchFamily="34" charset="0"/>
              <a:buChar char="•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xmlns="" val="522271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8640"/>
            <a:ext cx="8229600" cy="127043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  <a:ea typeface="+mn-ea"/>
                <a:cs typeface="Times New Roman" panose="02020603050405020304" pitchFamily="18" charset="0"/>
              </a:rPr>
              <a:t>Thevenin equivalent circuit of a circuit</a:t>
            </a:r>
            <a:br>
              <a:rPr lang="en-US" sz="3200" b="1" dirty="0">
                <a:solidFill>
                  <a:srgbClr val="C00000"/>
                </a:solidFill>
                <a:ea typeface="+mn-ea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C00000"/>
                </a:solidFill>
                <a:ea typeface="+mn-ea"/>
                <a:cs typeface="Times New Roman" panose="02020603050405020304" pitchFamily="18" charset="0"/>
              </a:rPr>
              <a:t>having dependent and independent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238" y="1398258"/>
            <a:ext cx="7839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b="1" dirty="0"/>
          </a:p>
          <a:p>
            <a:pPr marL="214313" indent="-214313"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Procedure for solving such circuit using Thevenin’s Theorem</a:t>
            </a:r>
          </a:p>
          <a:p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257175" indent="-257175">
              <a:buFont typeface="+mj-lt"/>
              <a:buAutoNum type="arabicPeriod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The calculation of Voc finding remain same as we have discussed for the circuits having independent sources only.</a:t>
            </a:r>
          </a:p>
          <a:p>
            <a:pPr marL="257175" indent="-257175">
              <a:buFont typeface="+mj-lt"/>
              <a:buAutoNum type="arabicPeriod"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257175" indent="-257175">
              <a:buFont typeface="+mj-lt"/>
              <a:buAutoNum type="arabicPeriod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600" b="1" baseline="-25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calculation, first calculate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b="1" baseline="-25000" dirty="0" err="1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(short circuit current) by replacing the load resistance with short circuit. Then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Rth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can be obtained as:</a:t>
            </a:r>
          </a:p>
          <a:p>
            <a:endParaRPr lang="en-US" sz="1600" b="1" dirty="0"/>
          </a:p>
        </p:txBody>
      </p:sp>
      <p:grpSp>
        <p:nvGrpSpPr>
          <p:cNvPr id="4" name="Group 3"/>
          <p:cNvGrpSpPr/>
          <p:nvPr/>
        </p:nvGrpSpPr>
        <p:grpSpPr>
          <a:xfrm>
            <a:off x="5575233" y="4000328"/>
            <a:ext cx="2572705" cy="1371600"/>
            <a:chOff x="3218602" y="4648200"/>
            <a:chExt cx="3616558" cy="2092652"/>
          </a:xfrm>
        </p:grpSpPr>
        <p:pic>
          <p:nvPicPr>
            <p:cNvPr id="5" name="Picture 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8602" y="4648200"/>
              <a:ext cx="2877397" cy="2092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6" name="Straight Connector 5"/>
            <p:cNvCxnSpPr/>
            <p:nvPr/>
          </p:nvCxnSpPr>
          <p:spPr>
            <a:xfrm>
              <a:off x="5680287" y="5029200"/>
              <a:ext cx="0" cy="13716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5680287" y="5257800"/>
              <a:ext cx="0" cy="4572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892883" y="5544539"/>
              <a:ext cx="942277" cy="457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b="1" dirty="0" err="1"/>
                <a:t>Isc</a:t>
              </a:r>
              <a:endParaRPr lang="en-US" sz="1350" b="1" dirty="0"/>
            </a:p>
          </p:txBody>
        </p:sp>
      </p:grp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667000" y="3937824"/>
          <a:ext cx="1676400" cy="916781"/>
        </p:xfrm>
        <a:graphic>
          <a:graphicData uri="http://schemas.openxmlformats.org/presentationml/2006/ole">
            <p:oleObj spid="_x0000_s1026" name="Equation" r:id="rId4" imgW="14630400" imgH="106680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10793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32656"/>
            <a:ext cx="8229600" cy="8572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Problem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799199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Q1. Determine the Thevenin equivalent circuit for the circuit shown in Figure.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71916" y="2348880"/>
            <a:ext cx="6200168" cy="1922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651782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2228850"/>
            <a:ext cx="83820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Sol. Step 1.  Solving </a:t>
            </a:r>
            <a:r>
              <a:rPr lang="en-US" sz="1350" b="1" dirty="0" err="1"/>
              <a:t>V</a:t>
            </a:r>
            <a:r>
              <a:rPr lang="en-US" sz="1350" b="1" baseline="-25000" dirty="0" err="1"/>
              <a:t>oc</a:t>
            </a:r>
            <a:endParaRPr lang="en-US" sz="1350" b="1" baseline="-25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1" y="3943351"/>
            <a:ext cx="4240879" cy="1407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8600" y="2914651"/>
            <a:ext cx="4190998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The open circuit causes the current in the 5-V resistor to be zero. The voltage across that resistor is also zero, so the</a:t>
            </a:r>
            <a:br>
              <a:rPr lang="en-US" sz="1350" b="1" dirty="0"/>
            </a:br>
            <a:r>
              <a:rPr lang="en-US" sz="1350" b="1" dirty="0"/>
              <a:t>voltage across the 40-V resistor is </a:t>
            </a:r>
            <a:r>
              <a:rPr lang="en-US" sz="1350" b="1" dirty="0" err="1"/>
              <a:t>voc</a:t>
            </a:r>
            <a:r>
              <a:rPr lang="en-US" sz="1350" b="1" dirty="0"/>
              <a:t> . The </a:t>
            </a:r>
            <a:r>
              <a:rPr lang="en-US" sz="1350" b="1" dirty="0" err="1"/>
              <a:t>i</a:t>
            </a:r>
            <a:r>
              <a:rPr lang="en-US" sz="1350" b="1" baseline="-25000" dirty="0" err="1"/>
              <a:t>a</a:t>
            </a:r>
            <a:r>
              <a:rPr lang="en-US" sz="1350" b="1" dirty="0"/>
              <a:t> can be calculated as</a:t>
            </a:r>
          </a:p>
          <a:p>
            <a:r>
              <a:rPr lang="en-US" sz="1350" b="1" dirty="0"/>
              <a:t/>
            </a:r>
            <a:br>
              <a:rPr lang="en-US" sz="1350" b="1" dirty="0"/>
            </a:br>
            <a:endParaRPr lang="en-US" sz="1350" b="1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85800" y="4675982"/>
          <a:ext cx="1447800" cy="827315"/>
        </p:xfrm>
        <a:graphic>
          <a:graphicData uri="http://schemas.openxmlformats.org/presentationml/2006/ole">
            <p:oleObj spid="_x0000_s2050" name="Equation" r:id="rId4" imgW="12801600" imgH="9753600" progId="Equation.3">
              <p:embed/>
            </p:oleObj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457200" y="260648"/>
            <a:ext cx="8229600" cy="720080"/>
          </a:xfrm>
          <a:prstGeom prst="rect">
            <a:avLst/>
          </a:prstGeom>
        </p:spPr>
        <p:txBody>
          <a:bodyPr/>
          <a:lstStyle/>
          <a:p>
            <a:pPr algn="ctr" defTabSz="685800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accent2"/>
                </a:solidFill>
                <a:latin typeface="+mj-lt"/>
                <a:ea typeface="+mj-ea"/>
                <a:cs typeface="Times New Roman" pitchFamily="18" charset="0"/>
              </a:rPr>
              <a:t>Solution 1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95801" y="1828801"/>
            <a:ext cx="4495800" cy="1393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1822103"/>
            <a:ext cx="8382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Applying KVL to the loop consisting the 12-V source, 10-</a:t>
            </a:r>
            <a:r>
              <a:rPr lang="el-GR" sz="1350" b="1" dirty="0"/>
              <a:t>Ω</a:t>
            </a:r>
            <a:r>
              <a:rPr lang="en-US" sz="1350" b="1" dirty="0"/>
              <a:t> resistor, and 40-</a:t>
            </a:r>
            <a:r>
              <a:rPr lang="el-GR" sz="1350" b="1" dirty="0"/>
              <a:t> Ω</a:t>
            </a:r>
            <a:r>
              <a:rPr lang="en-US" sz="1350" b="1" dirty="0"/>
              <a:t> resistor gives </a:t>
            </a:r>
            <a:br>
              <a:rPr lang="en-US" sz="1350" b="1" dirty="0"/>
            </a:br>
            <a:endParaRPr lang="en-US" sz="1350" b="1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09601" y="3200400"/>
          <a:ext cx="3585632" cy="800100"/>
        </p:xfrm>
        <a:graphic>
          <a:graphicData uri="http://schemas.openxmlformats.org/presentationml/2006/ole">
            <p:oleObj spid="_x0000_s3074" name="Equation" r:id="rId3" imgW="36880800" imgH="10972800" progId="Equation.3">
              <p:embed/>
            </p:oleObj>
          </a:graphicData>
        </a:graphic>
      </p:graphicFrame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1" y="2686051"/>
            <a:ext cx="4240879" cy="1407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241B4FF2-6EE8-567D-3AB1-8BB2EAC9E1C9}"/>
              </a:ext>
            </a:extLst>
          </p:cNvPr>
          <p:cNvSpPr txBox="1">
            <a:spLocks/>
          </p:cNvSpPr>
          <p:nvPr/>
        </p:nvSpPr>
        <p:spPr>
          <a:xfrm>
            <a:off x="457200" y="260648"/>
            <a:ext cx="8229600" cy="834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Problem 1 continues</a:t>
            </a:r>
          </a:p>
        </p:txBody>
      </p:sp>
    </p:spTree>
    <p:extLst>
      <p:ext uri="{BB962C8B-B14F-4D97-AF65-F5344CB8AC3E}">
        <p14:creationId xmlns:p14="http://schemas.microsoft.com/office/powerpoint/2010/main" xmlns="" val="3138183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" y="1657351"/>
            <a:ext cx="838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Sol. Step 2.  Solving </a:t>
            </a:r>
            <a:r>
              <a:rPr lang="en-US" sz="1350" b="1" dirty="0" err="1"/>
              <a:t>Isc</a:t>
            </a:r>
            <a:endParaRPr lang="en-US" sz="1350" b="1" dirty="0"/>
          </a:p>
          <a:p>
            <a:endParaRPr lang="en-US" sz="1350" b="1" dirty="0"/>
          </a:p>
          <a:p>
            <a:r>
              <a:rPr lang="en-US" sz="1350" b="1" dirty="0"/>
              <a:t>Applying KVL in loop having 5 </a:t>
            </a:r>
            <a:r>
              <a:rPr lang="el-GR" sz="1350" b="1" dirty="0"/>
              <a:t>Ω</a:t>
            </a:r>
            <a:r>
              <a:rPr lang="en-US" sz="1350" b="1" dirty="0"/>
              <a:t> and 40 </a:t>
            </a:r>
            <a:r>
              <a:rPr lang="el-GR" sz="1350" b="1" dirty="0"/>
              <a:t>Ω</a:t>
            </a:r>
            <a:endParaRPr lang="en-US" sz="1350" b="1" dirty="0"/>
          </a:p>
          <a:p>
            <a:r>
              <a:rPr lang="en-US" sz="1350" b="1" dirty="0"/>
              <a:t> resistors    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94616" y="1714500"/>
            <a:ext cx="4231341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33401" y="2628901"/>
          <a:ext cx="2903171" cy="566473"/>
        </p:xfrm>
        <a:graphic>
          <a:graphicData uri="http://schemas.openxmlformats.org/presentationml/2006/ole">
            <p:oleObj spid="_x0000_s4098" name="Equation" r:id="rId4" imgW="37490400" imgH="9753600" progId="Equation.3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3371850"/>
            <a:ext cx="6991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Applying KCL at the top node of the 10 </a:t>
            </a:r>
            <a:r>
              <a:rPr lang="el-GR" sz="1350" b="1" dirty="0"/>
              <a:t>Ω </a:t>
            </a:r>
            <a:r>
              <a:rPr lang="en-US" sz="1350" b="1" dirty="0"/>
              <a:t> resistor</a:t>
            </a:r>
          </a:p>
          <a:p>
            <a:r>
              <a:rPr lang="en-US" sz="1350" b="1" dirty="0"/>
              <a:t>  </a:t>
            </a:r>
          </a:p>
          <a:p>
            <a:endParaRPr lang="en-US" sz="1350" b="1" dirty="0"/>
          </a:p>
          <a:p>
            <a:endParaRPr lang="en-US" sz="1350" b="1" dirty="0"/>
          </a:p>
          <a:p>
            <a:endParaRPr lang="en-US" sz="1350" b="1" dirty="0"/>
          </a:p>
          <a:p>
            <a:endParaRPr lang="en-US" sz="1350" b="1" dirty="0"/>
          </a:p>
          <a:p>
            <a:r>
              <a:rPr lang="en-US" sz="1350" b="1" dirty="0"/>
              <a:t>Applying KVL in loop having 5 </a:t>
            </a:r>
            <a:r>
              <a:rPr lang="el-GR" sz="1350" b="1" dirty="0"/>
              <a:t>Ω</a:t>
            </a:r>
            <a:r>
              <a:rPr lang="en-US" sz="1350" b="1" dirty="0"/>
              <a:t> and 10 </a:t>
            </a:r>
            <a:r>
              <a:rPr lang="el-GR" sz="1350" b="1" dirty="0"/>
              <a:t>Ω</a:t>
            </a:r>
            <a:r>
              <a:rPr lang="en-US" sz="1350" b="1" dirty="0"/>
              <a:t> resistors    </a:t>
            </a:r>
          </a:p>
          <a:p>
            <a:endParaRPr lang="en-US" sz="1350" b="1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438401" y="3829050"/>
          <a:ext cx="3831824" cy="553998"/>
        </p:xfrm>
        <a:graphic>
          <a:graphicData uri="http://schemas.openxmlformats.org/presentationml/2006/ole">
            <p:oleObj spid="_x0000_s4099" name="Equation" r:id="rId5" imgW="50596800" imgH="9753600" progId="Equation.3">
              <p:embed/>
            </p:oleObj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133601" y="5086350"/>
          <a:ext cx="4649864" cy="606504"/>
        </p:xfrm>
        <a:graphic>
          <a:graphicData uri="http://schemas.openxmlformats.org/presentationml/2006/ole">
            <p:oleObj spid="_x0000_s4100" name="Equation" r:id="rId6" imgW="63093600" imgH="10972800" progId="Equation.3">
              <p:embed/>
            </p:oleObj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C18223-2618-5249-CB32-30F3D897ECCB}"/>
              </a:ext>
            </a:extLst>
          </p:cNvPr>
          <p:cNvSpPr txBox="1">
            <a:spLocks/>
          </p:cNvSpPr>
          <p:nvPr/>
        </p:nvSpPr>
        <p:spPr>
          <a:xfrm>
            <a:off x="457200" y="260648"/>
            <a:ext cx="8229600" cy="834133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chemeClr val="accent2"/>
                </a:solidFill>
                <a:cs typeface="Times New Roman" pitchFamily="18" charset="0"/>
              </a:rPr>
              <a:t>Problem 1 continues</a:t>
            </a:r>
            <a:endParaRPr lang="en-US" b="1" dirty="0">
              <a:solidFill>
                <a:schemeClr val="accent2"/>
              </a:solidFill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83413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Problem 1 continues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1657351"/>
            <a:ext cx="861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Sol. Step 3.  Solving </a:t>
            </a:r>
            <a:r>
              <a:rPr lang="en-US" sz="1350" b="1" dirty="0" err="1"/>
              <a:t>Rth</a:t>
            </a:r>
            <a:endParaRPr lang="en-US" sz="1350" b="1" dirty="0"/>
          </a:p>
          <a:p>
            <a:endParaRPr lang="en-US" sz="1350" b="1" dirty="0"/>
          </a:p>
          <a:p>
            <a:endParaRPr lang="en-US" sz="1350" b="1" dirty="0"/>
          </a:p>
          <a:p>
            <a:endParaRPr lang="en-US" sz="1350" b="1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12776" y="1943101"/>
          <a:ext cx="4260850" cy="916781"/>
        </p:xfrm>
        <a:graphic>
          <a:graphicData uri="http://schemas.openxmlformats.org/presentationml/2006/ole">
            <p:oleObj spid="_x0000_s5122" name="Equation" r:id="rId3" imgW="37185600" imgH="10668000" progId="Equation.3">
              <p:embed/>
            </p:oleObj>
          </a:graphicData>
        </a:graphic>
      </p:graphicFrame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19476" y="3143251"/>
            <a:ext cx="2066925" cy="1729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847755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81"/>
            <a:ext cx="8229600" cy="79208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Problem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983281"/>
            <a:ext cx="8382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Q2.  For the given circuit , find the value of the resistance R</a:t>
            </a:r>
            <a:r>
              <a:rPr lang="en-US" sz="1350" b="1" baseline="-25000" dirty="0"/>
              <a:t>L</a:t>
            </a:r>
            <a:r>
              <a:rPr lang="en-US" sz="1350" b="1" dirty="0"/>
              <a:t> that will cause current </a:t>
            </a:r>
            <a:r>
              <a:rPr lang="en-US" sz="1350" b="1" dirty="0" err="1"/>
              <a:t>i</a:t>
            </a:r>
            <a:r>
              <a:rPr lang="en-US" sz="1350" b="1" baseline="-25000" dirty="0" err="1"/>
              <a:t>L</a:t>
            </a:r>
            <a:r>
              <a:rPr lang="en-US" sz="1350" b="1" dirty="0"/>
              <a:t> to be -2 A. </a:t>
            </a:r>
            <a:br>
              <a:rPr lang="en-US" sz="1350" b="1" dirty="0"/>
            </a:br>
            <a:endParaRPr lang="en-US" sz="1350" b="1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071"/>
          <a:stretch/>
        </p:blipFill>
        <p:spPr bwMode="auto">
          <a:xfrm>
            <a:off x="1763688" y="2686050"/>
            <a:ext cx="4887400" cy="1731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998458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8780"/>
            <a:ext cx="8229600" cy="68501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Solution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2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3657600" cy="121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314451"/>
            <a:ext cx="3356070" cy="1312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648200" y="3028951"/>
          <a:ext cx="2619768" cy="668041"/>
        </p:xfrm>
        <a:graphic>
          <a:graphicData uri="http://schemas.openxmlformats.org/presentationml/2006/ole">
            <p:oleObj spid="_x0000_s6146" name="Equation" r:id="rId5" imgW="30480000" imgH="10363200" progId="Equation.3">
              <p:embed/>
            </p:oleObj>
          </a:graphicData>
        </a:graphic>
      </p:graphicFrame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1" y="4114801"/>
            <a:ext cx="4190999" cy="127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81001" y="4114800"/>
          <a:ext cx="3932905" cy="1179872"/>
        </p:xfrm>
        <a:graphic>
          <a:graphicData uri="http://schemas.openxmlformats.org/presentationml/2006/ole">
            <p:oleObj spid="_x0000_s6147" name="Equation" r:id="rId7" imgW="51816000" imgH="207264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626786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0100"/>
            <a:ext cx="8229600" cy="8572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Problem 2 continues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90341"/>
            <a:ext cx="3885172" cy="1667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495800" y="2400300"/>
          <a:ext cx="4399429" cy="742950"/>
        </p:xfrm>
        <a:graphic>
          <a:graphicData uri="http://schemas.openxmlformats.org/presentationml/2006/ole">
            <p:oleObj spid="_x0000_s7170" name="Equation" r:id="rId4" imgW="46024800" imgH="103632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23424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2961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Thevenin equivalent circuit of a circuit</a:t>
            </a:r>
            <a:br>
              <a:rPr lang="en-US" b="1" dirty="0">
                <a:solidFill>
                  <a:schemeClr val="accent2"/>
                </a:solidFill>
                <a:cs typeface="Times New Roman" pitchFamily="18" charset="0"/>
              </a:rPr>
            </a:br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having dependent sources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2193311"/>
            <a:ext cx="8458200" cy="2239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Procedure for solving such circuit using Thevenin’s Theorem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The value of V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oc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must be zero, because no independent source is there.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b="1" baseline="-25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calculation, remove the load resistance and connects a 1 A current source across load terminals and measure the voltage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b="1" baseline="-25000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across that current source, then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b="1" baseline="-25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is 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1350" b="1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657600" y="4572000"/>
          <a:ext cx="1371600" cy="731520"/>
        </p:xfrm>
        <a:graphic>
          <a:graphicData uri="http://schemas.openxmlformats.org/presentationml/2006/ole">
            <p:oleObj spid="_x0000_s8194" name="Equation" r:id="rId3" imgW="13716000" imgH="97536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635424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4733"/>
            <a:ext cx="8229600" cy="85725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Problem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0219" y="1666101"/>
            <a:ext cx="81534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Q1. Determine the Thevenin's equivalent network for the given circuit.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7327"/>
          <a:stretch/>
        </p:blipFill>
        <p:spPr bwMode="auto">
          <a:xfrm>
            <a:off x="1331640" y="2400301"/>
            <a:ext cx="4908144" cy="1709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655410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1"/>
          <p:cNvGrpSpPr/>
          <p:nvPr/>
        </p:nvGrpSpPr>
        <p:grpSpPr>
          <a:xfrm>
            <a:off x="4037322" y="3486151"/>
            <a:ext cx="4878079" cy="1490716"/>
            <a:chOff x="206108" y="3346379"/>
            <a:chExt cx="4878079" cy="1987621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108" y="3346379"/>
              <a:ext cx="4617856" cy="1987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7" name="Group 16"/>
            <p:cNvGrpSpPr/>
            <p:nvPr/>
          </p:nvGrpSpPr>
          <p:grpSpPr>
            <a:xfrm>
              <a:off x="4356919" y="3808852"/>
              <a:ext cx="727268" cy="1125056"/>
              <a:chOff x="4356919" y="3808852"/>
              <a:chExt cx="727268" cy="1125056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4356919" y="4114800"/>
                <a:ext cx="367481" cy="381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b="1"/>
              </a:p>
            </p:txBody>
          </p:sp>
          <p:cxnSp>
            <p:nvCxnSpPr>
              <p:cNvPr id="8" name="Straight Arrow Connector 7"/>
              <p:cNvCxnSpPr/>
              <p:nvPr/>
            </p:nvCxnSpPr>
            <p:spPr>
              <a:xfrm flipV="1">
                <a:off x="4540659" y="4229100"/>
                <a:ext cx="1" cy="190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>
                <a:endCxn id="5" idx="0"/>
              </p:cNvCxnSpPr>
              <p:nvPr/>
            </p:nvCxnSpPr>
            <p:spPr>
              <a:xfrm>
                <a:off x="4540659" y="3886200"/>
                <a:ext cx="1" cy="2286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4528983" y="4495800"/>
                <a:ext cx="0" cy="381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4645435" y="3808852"/>
                <a:ext cx="357058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350" b="1" dirty="0"/>
                  <a:t>+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4645435" y="4533799"/>
                <a:ext cx="357058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350" b="1" dirty="0"/>
                  <a:t>-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4648200" y="4150503"/>
                <a:ext cx="435987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350" b="1" dirty="0" err="1"/>
                  <a:t>Vt</a:t>
                </a:r>
                <a:endParaRPr lang="en-US" sz="1350" b="1" dirty="0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578" y="290567"/>
            <a:ext cx="8229600" cy="85725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Solution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1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04416" y="1662167"/>
            <a:ext cx="4410984" cy="1423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000" y="1771651"/>
            <a:ext cx="25908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 V</a:t>
            </a:r>
            <a:r>
              <a:rPr lang="en-US" sz="1500" b="1" baseline="-25000" dirty="0"/>
              <a:t>oc</a:t>
            </a:r>
            <a:r>
              <a:rPr lang="en-US" sz="1500" b="1" dirty="0"/>
              <a:t>=0</a:t>
            </a:r>
          </a:p>
          <a:p>
            <a:endParaRPr lang="en-US" sz="1500" b="1" dirty="0"/>
          </a:p>
          <a:p>
            <a:endParaRPr lang="en-US" sz="1500" b="1" dirty="0"/>
          </a:p>
          <a:p>
            <a:endParaRPr lang="en-US" sz="1500" b="1" dirty="0"/>
          </a:p>
          <a:p>
            <a:r>
              <a:rPr lang="en-US" sz="1500" b="1" dirty="0"/>
              <a:t>For </a:t>
            </a:r>
            <a:r>
              <a:rPr lang="en-US" sz="1500" b="1" dirty="0" err="1"/>
              <a:t>R</a:t>
            </a:r>
            <a:r>
              <a:rPr lang="en-US" sz="1500" b="1" baseline="-25000" dirty="0" err="1"/>
              <a:t>th</a:t>
            </a:r>
            <a:r>
              <a:rPr lang="en-US" sz="1500" b="1" dirty="0"/>
              <a:t>, </a:t>
            </a:r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345142" y="3314700"/>
          <a:ext cx="3845859" cy="1371600"/>
        </p:xfrm>
        <a:graphic>
          <a:graphicData uri="http://schemas.openxmlformats.org/presentationml/2006/ole">
            <p:oleObj spid="_x0000_s9218" name="Equation" r:id="rId4" imgW="43586400" imgH="207264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332869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1813"/>
            <a:ext cx="8229600" cy="85725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Practice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6923" y="3875039"/>
            <a:ext cx="8229600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Times New Roman" pitchFamily="18" charset="0"/>
                <a:cs typeface="Times New Roman" pitchFamily="18" charset="0"/>
              </a:rPr>
              <a:t>Q1. </a:t>
            </a:r>
            <a:r>
              <a:rPr lang="en-US" sz="1500" b="1" dirty="0"/>
              <a:t>For the given circuit , find out the resistance R that will cause current </a:t>
            </a:r>
            <a:r>
              <a:rPr lang="en-US" sz="1500" b="1" dirty="0" err="1"/>
              <a:t>ib</a:t>
            </a:r>
            <a:r>
              <a:rPr lang="en-US" sz="1500" b="1" dirty="0"/>
              <a:t> to be 2 mA. The current </a:t>
            </a:r>
            <a:r>
              <a:rPr lang="en-US" sz="1500" b="1" dirty="0" err="1"/>
              <a:t>ia</a:t>
            </a:r>
            <a:r>
              <a:rPr lang="en-US" sz="1500" b="1" dirty="0"/>
              <a:t> has units of amps. </a:t>
            </a:r>
            <a:br>
              <a:rPr lang="en-US" sz="1500" b="1" dirty="0"/>
            </a:br>
            <a:endParaRPr lang="en-US" sz="1350" b="1" dirty="0"/>
          </a:p>
          <a:p>
            <a:r>
              <a:rPr lang="en-US" sz="1350" b="1" dirty="0"/>
              <a:t>Ans.     R=-2</a:t>
            </a:r>
            <a:r>
              <a:rPr lang="el-GR" sz="1350" b="1" dirty="0"/>
              <a:t> Ω</a:t>
            </a:r>
            <a:r>
              <a:rPr lang="en-US" sz="1350" b="1" dirty="0"/>
              <a:t/>
            </a:r>
            <a:br>
              <a:rPr lang="en-US" sz="1350" b="1" dirty="0"/>
            </a:br>
            <a:r>
              <a:rPr lang="en-US" sz="1350" b="1" dirty="0"/>
              <a:t>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78910" y="1831858"/>
            <a:ext cx="3200400" cy="1986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53962" y="1576234"/>
            <a:ext cx="86646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Q1. Find the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Thevenin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equivalent circuit for the circuit shown in Figure </a:t>
            </a:r>
            <a:r>
              <a:rPr lang="en-US" sz="1200" b="1" dirty="0"/>
              <a:t>.</a:t>
            </a:r>
          </a:p>
          <a:p>
            <a:endParaRPr lang="en-US" sz="1200" b="1" dirty="0"/>
          </a:p>
          <a:p>
            <a:r>
              <a:rPr lang="en-US" sz="1200" b="1" dirty="0"/>
              <a:t>Ans.    </a:t>
            </a:r>
            <a:r>
              <a:rPr lang="en-US" sz="1200" b="1" dirty="0" err="1"/>
              <a:t>Voc</a:t>
            </a:r>
            <a:r>
              <a:rPr lang="en-US" sz="1200" b="1" dirty="0"/>
              <a:t>= -2V, </a:t>
            </a:r>
            <a:r>
              <a:rPr lang="en-US" sz="1200" b="1" dirty="0" err="1"/>
              <a:t>Rth</a:t>
            </a:r>
            <a:r>
              <a:rPr lang="en-US" sz="1200" b="1" dirty="0"/>
              <a:t>= -8/3</a:t>
            </a:r>
            <a:r>
              <a:rPr lang="el-GR" sz="1200" b="1" dirty="0"/>
              <a:t> Ω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/>
              <a:t> 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25184" y="4343400"/>
            <a:ext cx="5481165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041479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44824"/>
            <a:ext cx="81534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cs typeface="Times New Roman" pitchFamily="18" charset="0"/>
              </a:rPr>
              <a:t>[1] R.C. </a:t>
            </a:r>
            <a:r>
              <a:rPr lang="en-US" sz="2000" b="1" dirty="0" err="1">
                <a:solidFill>
                  <a:prstClr val="black"/>
                </a:solidFill>
                <a:cs typeface="Times New Roman" pitchFamily="18" charset="0"/>
              </a:rPr>
              <a:t>Dorf</a:t>
            </a:r>
            <a:r>
              <a:rPr lang="en-US" sz="2000" b="1" dirty="0">
                <a:solidFill>
                  <a:prstClr val="black"/>
                </a:solidFill>
                <a:cs typeface="Times New Roman" pitchFamily="18" charset="0"/>
              </a:rPr>
              <a:t> and James A. Svoboda, “Introduction to Electric Circuits”, 9</a:t>
            </a:r>
            <a:r>
              <a:rPr lang="en-US" sz="2000" b="1" baseline="30000" dirty="0">
                <a:solidFill>
                  <a:prstClr val="black"/>
                </a:solidFill>
                <a:cs typeface="Times New Roman" pitchFamily="18" charset="0"/>
              </a:rPr>
              <a:t>th</a:t>
            </a:r>
            <a:r>
              <a:rPr lang="en-US" sz="2000" b="1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prstClr val="black"/>
                </a:solidFill>
                <a:cs typeface="Times New Roman" pitchFamily="18" charset="0"/>
              </a:rPr>
              <a:t>ed</a:t>
            </a:r>
            <a:r>
              <a:rPr lang="en-US" sz="2000" b="1" dirty="0">
                <a:solidFill>
                  <a:prstClr val="black"/>
                </a:solidFill>
                <a:cs typeface="Times New Roman" pitchFamily="18" charset="0"/>
              </a:rPr>
              <a:t>, John Wiley &amp; Sons, 2013.</a:t>
            </a:r>
          </a:p>
          <a:p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712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On-screen Show (4:3)</PresentationFormat>
  <Paragraphs>75</Paragraphs>
  <Slides>16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Equation</vt:lpstr>
      <vt:lpstr>Slide 1</vt:lpstr>
      <vt:lpstr>CONTENTS</vt:lpstr>
      <vt:lpstr>Thevenin equivalent circuit of a circuit having dependent and independent sources</vt:lpstr>
      <vt:lpstr>Problem 1</vt:lpstr>
      <vt:lpstr>Slide 5</vt:lpstr>
      <vt:lpstr>Slide 6</vt:lpstr>
      <vt:lpstr>Slide 7</vt:lpstr>
      <vt:lpstr>Problem 1 continues</vt:lpstr>
      <vt:lpstr>Problem 2</vt:lpstr>
      <vt:lpstr>Solution 2</vt:lpstr>
      <vt:lpstr>Problem 2 continues</vt:lpstr>
      <vt:lpstr>Thevenin equivalent circuit of a circuit having dependent sources only</vt:lpstr>
      <vt:lpstr>Problem 1</vt:lpstr>
      <vt:lpstr>Solution 1</vt:lpstr>
      <vt:lpstr>Practice Problems</vt:lpstr>
      <vt:lpstr>References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ankur bhardwaj</dc:creator>
  <cp:lastModifiedBy>ankur.bhardwaj</cp:lastModifiedBy>
  <cp:revision>1</cp:revision>
  <dcterms:created xsi:type="dcterms:W3CDTF">2006-08-16T00:00:00Z</dcterms:created>
  <dcterms:modified xsi:type="dcterms:W3CDTF">2024-08-14T03:49:18Z</dcterms:modified>
</cp:coreProperties>
</file>