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493" r:id="rId3"/>
    <p:sldId id="494" r:id="rId4"/>
    <p:sldId id="495" r:id="rId5"/>
    <p:sldId id="497" r:id="rId6"/>
    <p:sldId id="498" r:id="rId7"/>
    <p:sldId id="499" r:id="rId8"/>
    <p:sldId id="496" r:id="rId9"/>
    <p:sldId id="259" r:id="rId10"/>
    <p:sldId id="260" r:id="rId11"/>
    <p:sldId id="262" r:id="rId12"/>
    <p:sldId id="491" r:id="rId13"/>
    <p:sldId id="492" r:id="rId14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402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 Goel" userId="217e8e5b6e5024a0" providerId="LiveId" clId="{AA5D4058-B780-4D74-9BF5-B556D6A9219B}"/>
    <pc:docChg chg="modSld">
      <pc:chgData name="Varun Goel" userId="217e8e5b6e5024a0" providerId="LiveId" clId="{AA5D4058-B780-4D74-9BF5-B556D6A9219B}" dt="2023-01-17T08:50:02.976" v="42" actId="20577"/>
      <pc:docMkLst>
        <pc:docMk/>
      </pc:docMkLst>
      <pc:sldChg chg="modSp mod">
        <pc:chgData name="Varun Goel" userId="217e8e5b6e5024a0" providerId="LiveId" clId="{AA5D4058-B780-4D74-9BF5-B556D6A9219B}" dt="2023-01-17T08:44:17.844" v="33" actId="20577"/>
        <pc:sldMkLst>
          <pc:docMk/>
          <pc:sldMk cId="0" sldId="263"/>
        </pc:sldMkLst>
        <pc:spChg chg="mod">
          <ac:chgData name="Varun Goel" userId="217e8e5b6e5024a0" providerId="LiveId" clId="{AA5D4058-B780-4D74-9BF5-B556D6A9219B}" dt="2023-01-17T08:44:17.844" v="33" actId="20577"/>
          <ac:spMkLst>
            <pc:docMk/>
            <pc:sldMk cId="0" sldId="263"/>
            <ac:spMk id="2" creationId="{00000000-0000-0000-0000-000000000000}"/>
          </ac:spMkLst>
        </pc:spChg>
      </pc:sldChg>
      <pc:sldChg chg="modSp mod">
        <pc:chgData name="Varun Goel" userId="217e8e5b6e5024a0" providerId="LiveId" clId="{AA5D4058-B780-4D74-9BF5-B556D6A9219B}" dt="2023-01-17T08:49:20.054" v="37" actId="20577"/>
        <pc:sldMkLst>
          <pc:docMk/>
          <pc:sldMk cId="0" sldId="264"/>
        </pc:sldMkLst>
        <pc:spChg chg="mod">
          <ac:chgData name="Varun Goel" userId="217e8e5b6e5024a0" providerId="LiveId" clId="{AA5D4058-B780-4D74-9BF5-B556D6A9219B}" dt="2023-01-17T08:49:20.054" v="37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Varun Goel" userId="217e8e5b6e5024a0" providerId="LiveId" clId="{AA5D4058-B780-4D74-9BF5-B556D6A9219B}" dt="2023-01-17T08:49:52.687" v="39" actId="20577"/>
        <pc:sldMkLst>
          <pc:docMk/>
          <pc:sldMk cId="0" sldId="268"/>
        </pc:sldMkLst>
        <pc:spChg chg="mod">
          <ac:chgData name="Varun Goel" userId="217e8e5b6e5024a0" providerId="LiveId" clId="{AA5D4058-B780-4D74-9BF5-B556D6A9219B}" dt="2023-01-17T08:49:52.687" v="39" actId="20577"/>
          <ac:spMkLst>
            <pc:docMk/>
            <pc:sldMk cId="0" sldId="268"/>
            <ac:spMk id="2" creationId="{00000000-0000-0000-0000-000000000000}"/>
          </ac:spMkLst>
        </pc:spChg>
      </pc:sldChg>
      <pc:sldChg chg="modSp mod">
        <pc:chgData name="Varun Goel" userId="217e8e5b6e5024a0" providerId="LiveId" clId="{AA5D4058-B780-4D74-9BF5-B556D6A9219B}" dt="2023-01-17T08:50:02.976" v="42" actId="20577"/>
        <pc:sldMkLst>
          <pc:docMk/>
          <pc:sldMk cId="0" sldId="271"/>
        </pc:sldMkLst>
        <pc:spChg chg="mod">
          <ac:chgData name="Varun Goel" userId="217e8e5b6e5024a0" providerId="LiveId" clId="{AA5D4058-B780-4D74-9BF5-B556D6A9219B}" dt="2023-01-17T08:50:02.976" v="42" actId="20577"/>
          <ac:spMkLst>
            <pc:docMk/>
            <pc:sldMk cId="0" sldId="271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2CF142-A264-EB4C-69F5-6C3C122671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362B54-4104-FEA9-C5EF-EFE2A09D24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4298C-9D46-4638-A1E7-4241EDE68631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E07362-CF8B-9422-6318-34070E80E3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B192F-E877-CA93-FFFC-388503E85A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B7910-31CB-43DF-956B-5C0DD49FD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9353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26226-F8D0-4BFE-AC26-6ECBBF4B9084}" type="datetimeFigureOut">
              <a:rPr lang="en-IN" smtClean="0"/>
              <a:pPr/>
              <a:t>22-07-2024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E8AA83-949A-452E-B2A1-683147796EEB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EF5C-5E4C-4C5F-8B26-036C0F450E1C}" type="datetime1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4EF4F-245C-40EC-BC60-6647E0DF0F77}" type="datetime1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B6EA-FAA0-46B5-9518-6D1DBE3F3856}" type="datetime1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0AE7-AD1D-4C2B-BCF4-73D80B755154}" type="datetime1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228B-3456-43B6-A600-6BD730EA4C27}" type="datetime1">
              <a:rPr lang="en-IN" smtClean="0"/>
              <a:t>22-07-2024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58D4F-2301-4121-8BC4-4D6AEA3EB1B1}" type="datetime1">
              <a:rPr lang="en-IN" smtClean="0"/>
              <a:t>22-07-2024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B924-3EF9-49DA-B5D6-4C0121B95B8B}" type="datetime1">
              <a:rPr lang="en-IN" smtClean="0"/>
              <a:t>22-07-2024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63B6B-31A6-4CD8-B50A-279C02ED8C7D}" type="datetime1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2F9ED-5B74-46A9-9FFB-5A79BA34264A}" type="datetime1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A90C-91A0-4C7D-923B-3B824EEFB59C}" type="datetime1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24668-413C-43BA-B40B-95F9287602D9}" type="datetime1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838E7-0F13-42AD-97EB-B96C0B09F982}" type="datetime1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D6217-2CB0-4899-A90F-D165D154DCA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50355" y="908720"/>
            <a:ext cx="5243294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latin typeface="+mj-lt"/>
              </a:rPr>
              <a:t>BASIC ELECTRONICS</a:t>
            </a:r>
          </a:p>
          <a:p>
            <a:pPr algn="ctr"/>
            <a:r>
              <a:rPr lang="en-US" sz="4800" b="1" dirty="0">
                <a:solidFill>
                  <a:srgbClr val="C00000"/>
                </a:solidFill>
                <a:latin typeface="+mj-lt"/>
              </a:rPr>
              <a:t>(24B11EC111)</a:t>
            </a:r>
          </a:p>
          <a:p>
            <a:pPr algn="ctr"/>
            <a:r>
              <a:rPr lang="en-US" sz="4400" b="1" dirty="0">
                <a:solidFill>
                  <a:srgbClr val="002060"/>
                </a:solidFill>
                <a:latin typeface="+mj-lt"/>
              </a:rPr>
              <a:t>Lecture-1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4ACD4B-AE3F-484C-A9DF-25CD920CA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2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1D1061-B40B-4F52-842B-1612BC6437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288" t="2401" r="10625" b="2401"/>
          <a:stretch/>
        </p:blipFill>
        <p:spPr>
          <a:xfrm>
            <a:off x="179512" y="45434"/>
            <a:ext cx="8964488" cy="686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862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D15DB5-52AF-4DF4-B7B9-AC533885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CD39E6-4AF5-4143-AA83-3FD6613350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14" t="1000" r="10625" b="1000"/>
          <a:stretch/>
        </p:blipFill>
        <p:spPr>
          <a:xfrm>
            <a:off x="323528" y="-27384"/>
            <a:ext cx="8640960" cy="693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271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0A0A65-28F8-47C9-A3B0-99840DBE1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40C9A7-F379-447C-A1CA-5FF35A4957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72" t="2401" r="10626" b="3801"/>
          <a:stretch/>
        </p:blipFill>
        <p:spPr>
          <a:xfrm>
            <a:off x="179512" y="-2279"/>
            <a:ext cx="8964488" cy="677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312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D13B86-C5D8-4B3F-B621-72A78706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35FC50-9D65-401F-8DEF-1CA2C49A8D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58" t="1000" r="10625" b="2401"/>
          <a:stretch/>
        </p:blipFill>
        <p:spPr>
          <a:xfrm>
            <a:off x="179512" y="-1"/>
            <a:ext cx="8773819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08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EF9195-8C4F-45B2-9A87-9C657D1D0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79F864-6E5E-43FF-8DE2-356152B8CE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87" t="1000" r="10625" b="2401"/>
          <a:stretch/>
        </p:blipFill>
        <p:spPr>
          <a:xfrm>
            <a:off x="251520" y="0"/>
            <a:ext cx="87071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040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B7787D-A743-4DE1-8AFA-E6305BE9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55FA27-15C6-43B4-AABD-2ACDD9EFED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92" t="2401" r="10625" b="2401"/>
          <a:stretch/>
        </p:blipFill>
        <p:spPr>
          <a:xfrm>
            <a:off x="251520" y="0"/>
            <a:ext cx="8784976" cy="68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42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E28B79-081B-43B6-9209-B8BE34CF9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BB2B4B-29A5-4ACC-BA4D-74AB4BCDDE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288" t="2401" r="10625" b="2401"/>
          <a:stretch/>
        </p:blipFill>
        <p:spPr>
          <a:xfrm>
            <a:off x="107504" y="0"/>
            <a:ext cx="89759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307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758811"/>
              </p:ext>
            </p:extLst>
          </p:nvPr>
        </p:nvGraphicFramePr>
        <p:xfrm>
          <a:off x="215516" y="1394360"/>
          <a:ext cx="8712968" cy="4480065"/>
        </p:xfrm>
        <a:graphic>
          <a:graphicData uri="http://schemas.openxmlformats.org/drawingml/2006/table">
            <a:tbl>
              <a:tblPr/>
              <a:tblGrid>
                <a:gridCol w="942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8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471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mbria" pitchFamily="18" charset="0"/>
                          <a:ea typeface="Times New Roman"/>
                          <a:cs typeface="Mangal"/>
                        </a:rPr>
                        <a:t>CO</a:t>
                      </a:r>
                      <a:r>
                        <a:rPr lang="en-US" sz="2000" b="1" baseline="0" dirty="0">
                          <a:solidFill>
                            <a:srgbClr val="C00000"/>
                          </a:solidFill>
                          <a:latin typeface="Cambria" pitchFamily="18" charset="0"/>
                          <a:ea typeface="Times New Roman"/>
                          <a:cs typeface="Mangal"/>
                        </a:rPr>
                        <a:t> (Code: 24B11EC111)</a:t>
                      </a:r>
                      <a:endParaRPr lang="en-US" sz="2000" b="1" dirty="0">
                        <a:solidFill>
                          <a:srgbClr val="C00000"/>
                        </a:solidFill>
                        <a:latin typeface="Cambria" pitchFamily="18" charset="0"/>
                        <a:ea typeface="Times New Roman"/>
                        <a:cs typeface="Mang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mbria" pitchFamily="18" charset="0"/>
                          <a:ea typeface="Times New Roman"/>
                          <a:cs typeface="Mangal"/>
                        </a:rPr>
                        <a:t>COGNITIVE LEVELS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48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Cambria" pitchFamily="18" charset="0"/>
                          <a:ea typeface="Times New Roman"/>
                          <a:cs typeface="Mangal"/>
                        </a:rPr>
                        <a:t>C.1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76200" indent="-1270" algn="just"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mbria" pitchFamily="18" charset="0"/>
                          <a:ea typeface="Times New Roman" panose="02020603050405020304" pitchFamily="18" charset="0"/>
                          <a:cs typeface="Mangal"/>
                        </a:rPr>
                        <a:t>Recall the concepts of various circuit elements and Kirchhoff’s laws. </a:t>
                      </a:r>
                      <a:endParaRPr lang="en-IN" sz="1800" b="0" kern="1200" dirty="0">
                        <a:solidFill>
                          <a:schemeClr val="tx1"/>
                        </a:solidFill>
                        <a:latin typeface="Cambria" pitchFamily="18" charset="0"/>
                        <a:ea typeface="Times New Roman" panose="02020603050405020304" pitchFamily="18" charset="0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Cambria" pitchFamily="18" charset="0"/>
                          <a:ea typeface="Times New Roman"/>
                          <a:cs typeface="Mangal"/>
                        </a:rPr>
                        <a:t>Remembering Level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mbria" pitchFamily="18" charset="0"/>
                          <a:ea typeface="Times New Roman"/>
                          <a:cs typeface="Mangal"/>
                        </a:rPr>
                        <a:t>(C1)</a:t>
                      </a:r>
                      <a:endParaRPr lang="en-US" sz="1800" b="1" dirty="0">
                        <a:latin typeface="Cambria" pitchFamily="18" charset="0"/>
                        <a:ea typeface="Times New Roman"/>
                        <a:cs typeface="Mang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latin typeface="Cambria" pitchFamily="18" charset="0"/>
                          <a:ea typeface="Times New Roman"/>
                          <a:cs typeface="Mangal"/>
                        </a:rPr>
                        <a:t>C.2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76200" indent="-1270" algn="just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Cambria" pitchFamily="18" charset="0"/>
                          <a:ea typeface="Times New Roman" panose="02020603050405020304" pitchFamily="18" charset="0"/>
                          <a:cs typeface="Mangal"/>
                        </a:rPr>
                        <a:t>Understand the basics of semiconductor PN junction diodes and Op-Amp, and their applications.</a:t>
                      </a:r>
                      <a:endParaRPr lang="en-IN" sz="1800" b="0" kern="1200">
                        <a:solidFill>
                          <a:schemeClr val="tx1"/>
                        </a:solidFill>
                        <a:latin typeface="Cambria" pitchFamily="18" charset="0"/>
                        <a:ea typeface="Times New Roman" panose="02020603050405020304" pitchFamily="18" charset="0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latin typeface="Cambria" pitchFamily="18" charset="0"/>
                          <a:ea typeface="Times New Roman"/>
                          <a:cs typeface="Mangal"/>
                        </a:rPr>
                        <a:t>Understanding Level 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latin typeface="Cambria" pitchFamily="18" charset="0"/>
                          <a:ea typeface="Times New Roman"/>
                          <a:cs typeface="Mangal"/>
                        </a:rPr>
                        <a:t>(C2)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2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Cambria" pitchFamily="18" charset="0"/>
                          <a:ea typeface="Times New Roman"/>
                          <a:cs typeface="Mangal"/>
                        </a:rPr>
                        <a:t>C.3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76200" indent="-1270" algn="just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Cambria" pitchFamily="18" charset="0"/>
                          <a:ea typeface="Times New Roman" panose="02020603050405020304" pitchFamily="18" charset="0"/>
                          <a:cs typeface="Mangal"/>
                        </a:rPr>
                        <a:t>Apply network theorems to solve complex DC networks.</a:t>
                      </a:r>
                      <a:endParaRPr lang="en-IN" sz="1800" b="0" kern="1200">
                        <a:solidFill>
                          <a:schemeClr val="tx1"/>
                        </a:solidFill>
                        <a:latin typeface="Cambria" pitchFamily="18" charset="0"/>
                        <a:ea typeface="Times New Roman" panose="02020603050405020304" pitchFamily="18" charset="0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mbria" pitchFamily="18" charset="0"/>
                          <a:ea typeface="Times New Roman"/>
                          <a:cs typeface="Mangal"/>
                        </a:rPr>
                        <a:t>Applying Level</a:t>
                      </a:r>
                      <a:endParaRPr lang="en-US" sz="1800" b="1" dirty="0">
                        <a:latin typeface="Cambria" pitchFamily="18" charset="0"/>
                        <a:ea typeface="Times New Roman"/>
                        <a:cs typeface="Mangal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mbria" pitchFamily="18" charset="0"/>
                          <a:ea typeface="Times New Roman"/>
                          <a:cs typeface="Mangal"/>
                        </a:rPr>
                        <a:t>(C3)</a:t>
                      </a:r>
                      <a:endParaRPr lang="en-US" sz="1800" b="1" dirty="0">
                        <a:latin typeface="Cambria" pitchFamily="18" charset="0"/>
                        <a:ea typeface="Times New Roman"/>
                        <a:cs typeface="Mang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5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latin typeface="Cambria" pitchFamily="18" charset="0"/>
                          <a:ea typeface="Times New Roman"/>
                          <a:cs typeface="Mangal"/>
                        </a:rPr>
                        <a:t>C.4.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76200" indent="-1270" algn="just">
                        <a:spcAft>
                          <a:spcPts val="1200"/>
                        </a:spcAft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mbria" pitchFamily="18" charset="0"/>
                          <a:ea typeface="Times New Roman" panose="02020603050405020304" pitchFamily="18" charset="0"/>
                          <a:cs typeface="Mangal"/>
                        </a:rPr>
                        <a:t>Explain the operation of transistors (BJT and MOSFET) and analyze their biasing techniques.</a:t>
                      </a:r>
                      <a:endParaRPr lang="en-IN" sz="1800" b="0" kern="1200" dirty="0">
                        <a:solidFill>
                          <a:schemeClr val="tx1"/>
                        </a:solidFill>
                        <a:latin typeface="Cambria" pitchFamily="18" charset="0"/>
                        <a:ea typeface="Times New Roman" panose="02020603050405020304" pitchFamily="18" charset="0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latin typeface="Cambria" pitchFamily="18" charset="0"/>
                          <a:ea typeface="Times New Roman"/>
                          <a:cs typeface="Mangal"/>
                        </a:rPr>
                        <a:t>Analyzing Level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latin typeface="Cambria" pitchFamily="18" charset="0"/>
                          <a:ea typeface="Times New Roman"/>
                          <a:cs typeface="Mangal"/>
                        </a:rPr>
                        <a:t>(C4)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9512" y="171452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COURSE OUTCOMES (CO)</a:t>
            </a:r>
            <a:endParaRPr lang="en-IN" sz="44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88640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SYLLABUS</a:t>
            </a:r>
            <a:endParaRPr lang="en-IN" sz="44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562576"/>
              </p:ext>
            </p:extLst>
          </p:nvPr>
        </p:nvGraphicFramePr>
        <p:xfrm>
          <a:off x="251520" y="1196752"/>
          <a:ext cx="8640960" cy="5212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Module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Title of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Topics in the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No. of Lectures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61595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Basic Circuit Analysis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Kirchhoff's Laws, Voltage Divider rule, Current Divider Rule, DC circuit analysis (Nodal, Mesh), Superposition and Thevenin/Norton Theorem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PN Junction Diode and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Applications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PN Junction, Biasing the PN Junction, Current–Voltage Characteristics of a PN Junction, PN Junction Diodes, Half Wave Rectifier &amp; Full Wave Rectifier Clipper &amp; Clamping Circuits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61595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Zener Diode and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1595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Applications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Zener Diode and applications, Line and Load Regulations of reference circuits.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61595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Introduction to BJT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Introduction to BJT, operation, characteristics, Biasing and Stability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Introduction to MOSFET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Introduction to MOSFET, operation, characteristics and biasing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663319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86910"/>
              </p:ext>
            </p:extLst>
          </p:nvPr>
        </p:nvGraphicFramePr>
        <p:xfrm>
          <a:off x="213048" y="1052736"/>
          <a:ext cx="8640960" cy="3022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Module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Title of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Topics in the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No. of Lectures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Op-amp and Applications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Block Diagram Representation of Typical Op-Amp, Schematic Symbol, Op-Amp parameters, Ideal Op-Amp, Equivalent Circuit of Op-Amp, Op-Amp Applications: Inverting Configuration, Non-Inverting Configuration, Voltage Follower, summer, comparator, difference Amplifier, Integrator, Differentiator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Total no. of lectures</a:t>
                      </a:r>
                      <a:endParaRPr lang="en-IN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9512" y="97468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SYLLABUS</a:t>
            </a:r>
            <a:endParaRPr lang="en-IN" sz="44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1A2575-DDC5-6E1B-F4E5-B0768040F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EVALUATION CRITERIA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0ABAC-4642-7285-1093-04471A4CD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IN" sz="1800" b="1" dirty="0"/>
              <a:t>Components 			Maximum Marks </a:t>
            </a:r>
          </a:p>
          <a:p>
            <a:pPr>
              <a:lnSpc>
                <a:spcPct val="200000"/>
              </a:lnSpc>
            </a:pPr>
            <a:r>
              <a:rPr lang="en-IN" sz="1800" b="1" dirty="0"/>
              <a:t>T1 				20 </a:t>
            </a:r>
          </a:p>
          <a:p>
            <a:pPr>
              <a:lnSpc>
                <a:spcPct val="200000"/>
              </a:lnSpc>
            </a:pPr>
            <a:r>
              <a:rPr lang="en-IN" sz="1800" b="1" dirty="0"/>
              <a:t>T2 				20 </a:t>
            </a:r>
          </a:p>
          <a:p>
            <a:pPr>
              <a:lnSpc>
                <a:spcPct val="200000"/>
              </a:lnSpc>
            </a:pPr>
            <a:r>
              <a:rPr lang="en-IN" sz="1800" b="1" dirty="0"/>
              <a:t>End Term Examination 		35 </a:t>
            </a:r>
          </a:p>
          <a:p>
            <a:pPr>
              <a:lnSpc>
                <a:spcPct val="200000"/>
              </a:lnSpc>
            </a:pPr>
            <a:r>
              <a:rPr lang="fr-FR" sz="1800" b="1" dirty="0"/>
              <a:t>TA 				25 (Assignements = 15, Attendance = 10 ) </a:t>
            </a:r>
            <a:endParaRPr lang="en-IN" sz="1800" b="1" dirty="0"/>
          </a:p>
          <a:p>
            <a:pPr>
              <a:lnSpc>
                <a:spcPct val="200000"/>
              </a:lnSpc>
            </a:pPr>
            <a:r>
              <a:rPr lang="en-IN" sz="1800" b="1" dirty="0"/>
              <a:t>Total 				100 	</a:t>
            </a:r>
          </a:p>
          <a:p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C1C8EF-8F23-A90E-22CE-910B2A90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761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51352-142A-39BD-A85D-AD9EA5866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RECOMMENDED BOOKS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783C0-197D-ECCA-3244-C48141C30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6238"/>
            <a:ext cx="8229600" cy="4525963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/>
              <a:t>R.C. Dorf and James A. Svoboda, “Introduction to Electric Circuits”, 9th ed, John Wiley &amp; Sons, 2013.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/>
              <a:t>Charles K. Alexander (Author), Matthew N.O Sadiku, “ Fundamentals of Electric Circuits”, 6th ed, Tata Mc Graw Hill, 2019. 	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prstClr val="black"/>
                </a:solidFill>
              </a:rPr>
              <a:t>Sze and Ng," Physics of Semiconductor Devices", 3rd Ed., 2006.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prstClr val="black"/>
                </a:solidFill>
              </a:rPr>
              <a:t>R. </a:t>
            </a:r>
            <a:r>
              <a:rPr lang="en-US" sz="2000" b="1" dirty="0" err="1">
                <a:solidFill>
                  <a:prstClr val="black"/>
                </a:solidFill>
              </a:rPr>
              <a:t>Boylestad</a:t>
            </a:r>
            <a:r>
              <a:rPr lang="en-US" sz="2000" b="1" dirty="0">
                <a:solidFill>
                  <a:prstClr val="black"/>
                </a:solidFill>
              </a:rPr>
              <a:t> and L. </a:t>
            </a:r>
            <a:r>
              <a:rPr lang="en-US" sz="2000" b="1" dirty="0" err="1">
                <a:solidFill>
                  <a:prstClr val="black"/>
                </a:solidFill>
              </a:rPr>
              <a:t>Nashelsky</a:t>
            </a:r>
            <a:r>
              <a:rPr lang="en-US" sz="2000" b="1" dirty="0">
                <a:solidFill>
                  <a:prstClr val="black"/>
                </a:solidFill>
              </a:rPr>
              <a:t>, ‘Electronic Devices and Circuit Theory’, PHI, 7e, 2001.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000000"/>
                </a:solidFill>
                <a:cs typeface="Times New Roman" pitchFamily="18" charset="0"/>
              </a:rPr>
              <a:t>Ramakant A. </a:t>
            </a:r>
            <a:r>
              <a:rPr lang="en-US" sz="2000" b="1" dirty="0" err="1">
                <a:solidFill>
                  <a:srgbClr val="000000"/>
                </a:solidFill>
                <a:cs typeface="Times New Roman" pitchFamily="18" charset="0"/>
              </a:rPr>
              <a:t>Gayakwad</a:t>
            </a:r>
            <a:r>
              <a:rPr lang="en-US" sz="2000" b="1" dirty="0">
                <a:solidFill>
                  <a:srgbClr val="000000"/>
                </a:solidFill>
                <a:cs typeface="Times New Roman" pitchFamily="18" charset="0"/>
              </a:rPr>
              <a:t>, “Op-Amps and Linear Integrated Circuits”, 4</a:t>
            </a:r>
            <a:r>
              <a:rPr lang="en-US" sz="2000" b="1" baseline="30000" dirty="0">
                <a:solidFill>
                  <a:srgbClr val="000000"/>
                </a:solidFill>
                <a:cs typeface="Times New Roman" pitchFamily="18" charset="0"/>
              </a:rPr>
              <a:t>th</a:t>
            </a:r>
            <a:r>
              <a:rPr lang="en-US" sz="2000" b="1" dirty="0">
                <a:solidFill>
                  <a:srgbClr val="000000"/>
                </a:solidFill>
                <a:cs typeface="Times New Roman" pitchFamily="18" charset="0"/>
              </a:rPr>
              <a:t> edition, Pearson, 2000.</a:t>
            </a:r>
            <a:endParaRPr lang="en-US" sz="2000" b="1" dirty="0">
              <a:solidFill>
                <a:prstClr val="black"/>
              </a:solidFill>
            </a:endParaRPr>
          </a:p>
          <a:p>
            <a:pPr marL="457200" indent="-457200" algn="just">
              <a:lnSpc>
                <a:spcPct val="150000"/>
              </a:lnSpc>
              <a:buFontTx/>
              <a:buAutoNum type="arabicPeriod"/>
            </a:pPr>
            <a:endParaRPr lang="en-US" sz="2000" b="1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F8D4B-1F5E-6211-AA20-24B201C8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894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1071</TotalTime>
  <Words>481</Words>
  <Application>Microsoft Office PowerPoint</Application>
  <PresentationFormat>On-screen Show (4:3)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Mangal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EVALUATION CRITERIA</vt:lpstr>
      <vt:lpstr>RECOMMENDED BOOKS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BSAHU</dc:creator>
  <cp:lastModifiedBy>Varun Goel</cp:lastModifiedBy>
  <cp:revision>47</cp:revision>
  <dcterms:created xsi:type="dcterms:W3CDTF">2021-01-18T05:06:21Z</dcterms:created>
  <dcterms:modified xsi:type="dcterms:W3CDTF">2024-07-22T11:14:36Z</dcterms:modified>
</cp:coreProperties>
</file>