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B86344-EE1C-4AC5-992F-AB1213FA77C7}" type="datetimeFigureOut">
              <a:rPr lang="en-US" smtClean="0"/>
              <a:t>7/30/2024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2AFA6F-0BD8-471F-ADAB-2841946B383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AADFAFA-5C95-4778-B23F-B0E5A512A27D}" type="slidenum">
              <a:rPr lang="en-US" smtClean="0"/>
              <a:pPr/>
              <a:t>2</a:t>
            </a:fld>
            <a:endParaRPr lang="en-US"/>
          </a:p>
        </p:txBody>
      </p:sp>
    </p:spTree>
    <p:extLst>
      <p:ext uri="{BB962C8B-B14F-4D97-AF65-F5344CB8AC3E}">
        <p14:creationId xmlns:p14="http://schemas.microsoft.com/office/powerpoint/2010/main" xmlns="" val="2070209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50351" y="908720"/>
            <a:ext cx="5243295" cy="3293209"/>
          </a:xfrm>
          <a:prstGeom prst="rect">
            <a:avLst/>
          </a:prstGeom>
        </p:spPr>
        <p:txBody>
          <a:bodyPr wrap="none">
            <a:spAutoFit/>
          </a:bodyPr>
          <a:lstStyle/>
          <a:p>
            <a:pPr algn="ctr"/>
            <a:r>
              <a:rPr lang="en-US" sz="4800" b="1" dirty="0">
                <a:solidFill>
                  <a:srgbClr val="C00000"/>
                </a:solidFill>
                <a:latin typeface="+mj-lt"/>
              </a:rPr>
              <a:t>BASIC ELECTRONICS</a:t>
            </a:r>
          </a:p>
          <a:p>
            <a:pPr algn="ctr"/>
            <a:r>
              <a:rPr lang="en-US" sz="4800" b="1" dirty="0">
                <a:solidFill>
                  <a:srgbClr val="C00000"/>
                </a:solidFill>
                <a:latin typeface="Times New Roman" pitchFamily="18" charset="0"/>
                <a:cs typeface="Times New Roman" pitchFamily="18" charset="0"/>
              </a:rPr>
              <a:t>(24B11EC111)</a:t>
            </a:r>
          </a:p>
          <a:p>
            <a:pPr algn="ctr"/>
            <a:r>
              <a:rPr lang="en-US" sz="4400" b="1" dirty="0">
                <a:solidFill>
                  <a:srgbClr val="002060"/>
                </a:solidFill>
                <a:latin typeface="Times New Roman" pitchFamily="18" charset="0"/>
                <a:cs typeface="Times New Roman" pitchFamily="18" charset="0"/>
              </a:rPr>
              <a:t>Unit-1</a:t>
            </a:r>
          </a:p>
          <a:p>
            <a:pPr algn="ctr"/>
            <a:r>
              <a:rPr lang="en-US" sz="4400" b="1" dirty="0">
                <a:solidFill>
                  <a:srgbClr val="002060"/>
                </a:solidFill>
                <a:latin typeface="Times New Roman" pitchFamily="18" charset="0"/>
                <a:cs typeface="Times New Roman" pitchFamily="18" charset="0"/>
              </a:rPr>
              <a:t>Lecture-2</a:t>
            </a:r>
          </a:p>
          <a:p>
            <a:pPr algn="ctr"/>
            <a:r>
              <a:rPr lang="en-IN" sz="2400" b="1" dirty="0">
                <a:latin typeface="Times New Roman" panose="02020603050405020304" pitchFamily="18" charset="0"/>
                <a:cs typeface="Times New Roman" panose="02020603050405020304" pitchFamily="18" charset="0"/>
              </a:rPr>
              <a:t>(</a:t>
            </a:r>
            <a:r>
              <a:rPr lang="en-US" sz="2400" b="1" dirty="0">
                <a:latin typeface="Times New Roman" pitchFamily="18" charset="0"/>
                <a:cs typeface="Times New Roman" pitchFamily="18" charset="0"/>
              </a:rPr>
              <a:t>Kirchhoff’s Laws)</a:t>
            </a:r>
            <a:endParaRPr lang="en-US" sz="2400" b="1" dirty="0">
              <a:solidFill>
                <a:srgbClr val="002060"/>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7C7D6217-2CB0-4899-A90F-D165D154DCA2}" type="slidenum">
              <a:rPr lang="en-IN" smtClean="0">
                <a:latin typeface="Times New Roman" pitchFamily="18" charset="0"/>
                <a:cs typeface="Times New Roman" pitchFamily="18" charset="0"/>
              </a:rPr>
              <a:pPr/>
              <a:t>1</a:t>
            </a:fld>
            <a:endParaRPr lang="en-IN">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9214"/>
            <a:ext cx="7886700" cy="1325563"/>
          </a:xfrm>
        </p:spPr>
        <p:txBody>
          <a:bodyPr>
            <a:normAutofit/>
          </a:bodyPr>
          <a:lstStyle/>
          <a:p>
            <a:pPr algn="ctr"/>
            <a:r>
              <a:rPr lang="en-US" b="1" dirty="0">
                <a:solidFill>
                  <a:srgbClr val="C00000"/>
                </a:solidFill>
                <a:cs typeface="Times New Roman" panose="02020603050405020304" pitchFamily="18" charset="0"/>
              </a:rPr>
              <a:t>CONTENTS</a:t>
            </a:r>
          </a:p>
        </p:txBody>
      </p:sp>
      <p:sp>
        <p:nvSpPr>
          <p:cNvPr id="3" name="Content Placeholder 2"/>
          <p:cNvSpPr>
            <a:spLocks noGrp="1"/>
          </p:cNvSpPr>
          <p:nvPr>
            <p:ph sz="quarter" idx="1"/>
          </p:nvPr>
        </p:nvSpPr>
        <p:spPr>
          <a:xfrm>
            <a:off x="628650" y="1323008"/>
            <a:ext cx="7886700" cy="3762176"/>
          </a:xfrm>
        </p:spPr>
        <p:txBody>
          <a:bodyPr>
            <a:normAutofit/>
          </a:bodyPr>
          <a:lstStyle/>
          <a:p>
            <a:r>
              <a:rPr lang="en-US" sz="2800" b="1" dirty="0">
                <a:latin typeface="Times New Roman" pitchFamily="18" charset="0"/>
                <a:cs typeface="Times New Roman" pitchFamily="18" charset="0"/>
              </a:rPr>
              <a:t>Introduction</a:t>
            </a:r>
          </a:p>
          <a:p>
            <a:r>
              <a:rPr lang="en-US" sz="2800" b="1" dirty="0">
                <a:latin typeface="Times New Roman" pitchFamily="18" charset="0"/>
                <a:cs typeface="Times New Roman" pitchFamily="18" charset="0"/>
              </a:rPr>
              <a:t>Kirchhoff’s Laws</a:t>
            </a:r>
          </a:p>
          <a:p>
            <a:pPr lvl="1"/>
            <a:r>
              <a:rPr lang="en-US" sz="2400" b="1" dirty="0">
                <a:latin typeface="Times New Roman" pitchFamily="18" charset="0"/>
                <a:cs typeface="Times New Roman" pitchFamily="18" charset="0"/>
              </a:rPr>
              <a:t>Kirchhoff’s Current Law (KCL)</a:t>
            </a:r>
          </a:p>
          <a:p>
            <a:pPr lvl="1"/>
            <a:r>
              <a:rPr lang="en-US" sz="2400" b="1" dirty="0">
                <a:latin typeface="Times New Roman" pitchFamily="18" charset="0"/>
                <a:cs typeface="Times New Roman" pitchFamily="18" charset="0"/>
              </a:rPr>
              <a:t>Kirchhoff’s Voltage Law (KVL)</a:t>
            </a:r>
          </a:p>
          <a:p>
            <a:r>
              <a:rPr lang="en-IN" sz="2800" b="1" dirty="0">
                <a:latin typeface="Times New Roman" pitchFamily="18" charset="0"/>
                <a:cs typeface="Times New Roman" pitchFamily="18" charset="0"/>
              </a:rPr>
              <a:t>Problems and solutions</a:t>
            </a:r>
          </a:p>
          <a:p>
            <a:r>
              <a:rPr lang="en-IN" sz="2800" b="1" dirty="0">
                <a:latin typeface="Times New Roman" pitchFamily="18" charset="0"/>
                <a:cs typeface="Times New Roman" pitchFamily="18" charset="0"/>
              </a:rPr>
              <a:t>Practice Problems</a:t>
            </a:r>
            <a:endParaRPr lang="en-US" sz="2800" b="1" dirty="0">
              <a:latin typeface="Times New Roman" pitchFamily="18" charset="0"/>
              <a:cs typeface="Times New Roman" pitchFamily="18" charset="0"/>
            </a:endParaRPr>
          </a:p>
          <a:p>
            <a:r>
              <a:rPr lang="en-US" sz="2800" b="1" dirty="0">
                <a:latin typeface="Times New Roman" pitchFamily="18" charset="0"/>
                <a:cs typeface="Times New Roman" pitchFamily="18" charset="0"/>
              </a:rPr>
              <a:t>References</a:t>
            </a:r>
          </a:p>
        </p:txBody>
      </p:sp>
      <p:sp>
        <p:nvSpPr>
          <p:cNvPr id="4" name="Slide Number Placeholder 3"/>
          <p:cNvSpPr>
            <a:spLocks noGrp="1"/>
          </p:cNvSpPr>
          <p:nvPr>
            <p:ph type="sldNum" sz="quarter" idx="12"/>
          </p:nvPr>
        </p:nvSpPr>
        <p:spPr/>
        <p:txBody>
          <a:bodyPr/>
          <a:lstStyle/>
          <a:p>
            <a:fld id="{D679BDA3-1F2F-45F2-80B6-CFADEE268BA9}" type="slidenum">
              <a:rPr lang="en-IN" sz="1600" b="1" smtClean="0">
                <a:solidFill>
                  <a:prstClr val="black">
                    <a:tint val="75000"/>
                  </a:prstClr>
                </a:solidFill>
                <a:latin typeface="Times New Roman" pitchFamily="18" charset="0"/>
                <a:cs typeface="Times New Roman" pitchFamily="18" charset="0"/>
              </a:rPr>
              <a:pPr/>
              <a:t>2</a:t>
            </a:fld>
            <a:endParaRPr lang="en-IN" sz="2000" b="1" dirty="0">
              <a:solidFill>
                <a:prstClr val="black">
                  <a:tint val="75000"/>
                </a:prstClr>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1321403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304800"/>
            <a:ext cx="8382000" cy="3231654"/>
          </a:xfrm>
          <a:prstGeom prst="rect">
            <a:avLst/>
          </a:prstGeom>
          <a:noFill/>
        </p:spPr>
        <p:txBody>
          <a:bodyPr wrap="square" rtlCol="0">
            <a:spAutoFit/>
          </a:bodyPr>
          <a:lstStyle/>
          <a:p>
            <a:pPr algn="ctr"/>
            <a:r>
              <a:rPr lang="en-US" sz="4400" b="1" dirty="0">
                <a:solidFill>
                  <a:srgbClr val="C00000"/>
                </a:solidFill>
              </a:rPr>
              <a:t>Circuit</a:t>
            </a:r>
            <a:endParaRPr lang="en-US" sz="3200" b="1" dirty="0">
              <a:solidFill>
                <a:srgbClr val="C00000"/>
              </a:solidFill>
            </a:endParaRPr>
          </a:p>
          <a:p>
            <a:pPr marL="457200" indent="-457200" algn="just">
              <a:buFont typeface="Wingdings" pitchFamily="2" charset="2"/>
              <a:buChar char="Ø"/>
            </a:pPr>
            <a:endParaRPr lang="en-US" sz="2000" dirty="0"/>
          </a:p>
          <a:p>
            <a:pPr marL="457200" indent="-457200" algn="just">
              <a:buFont typeface="Wingdings" pitchFamily="2" charset="2"/>
              <a:buChar char="Ø"/>
            </a:pPr>
            <a:r>
              <a:rPr lang="en-US" sz="2000" dirty="0"/>
              <a:t>An electrical circuit is a </a:t>
            </a:r>
            <a:r>
              <a:rPr lang="en-US" sz="2000" b="1" dirty="0"/>
              <a:t>closed path </a:t>
            </a:r>
            <a:r>
              <a:rPr lang="en-US" sz="2000" dirty="0"/>
              <a:t>consisting of </a:t>
            </a:r>
            <a:r>
              <a:rPr lang="en-US" sz="2000" b="1" dirty="0"/>
              <a:t>active and passive elements</a:t>
            </a:r>
            <a:r>
              <a:rPr lang="en-US" sz="2000" dirty="0"/>
              <a:t> all interconnected and the current flow is confined to the closed path. </a:t>
            </a:r>
          </a:p>
          <a:p>
            <a:pPr marL="457200" indent="-457200" algn="just">
              <a:buFont typeface="Wingdings" pitchFamily="2" charset="2"/>
              <a:buChar char="Ø"/>
            </a:pPr>
            <a:r>
              <a:rPr lang="en-US" sz="2000" dirty="0"/>
              <a:t>An </a:t>
            </a:r>
            <a:r>
              <a:rPr lang="en-US" sz="2000" b="1" dirty="0"/>
              <a:t>active element </a:t>
            </a:r>
            <a:r>
              <a:rPr lang="en-US" sz="2000" dirty="0"/>
              <a:t>is one which supplies energy to the circuit whereas </a:t>
            </a:r>
            <a:r>
              <a:rPr lang="en-US" sz="2000" b="1" dirty="0"/>
              <a:t>passive element</a:t>
            </a:r>
            <a:r>
              <a:rPr lang="en-US" sz="2000" dirty="0"/>
              <a:t> is one which receives energy and then this energy is converted into </a:t>
            </a:r>
            <a:r>
              <a:rPr lang="en-US" sz="2000" b="1" dirty="0"/>
              <a:t>heat (resistor) </a:t>
            </a:r>
            <a:r>
              <a:rPr lang="en-US" sz="2000" dirty="0"/>
              <a:t>or </a:t>
            </a:r>
            <a:r>
              <a:rPr lang="en-US" sz="2000" b="1" dirty="0"/>
              <a:t>stores it in an electric (capacitor) or magnetic field (inductor)</a:t>
            </a:r>
            <a:r>
              <a:rPr lang="en-US" sz="2000" dirty="0"/>
              <a:t>.</a:t>
            </a:r>
          </a:p>
        </p:txBody>
      </p:sp>
      <p:pic>
        <p:nvPicPr>
          <p:cNvPr id="1026" name="Picture 2"/>
          <p:cNvPicPr>
            <a:picLocks noChangeAspect="1" noChangeArrowheads="1"/>
          </p:cNvPicPr>
          <p:nvPr/>
        </p:nvPicPr>
        <p:blipFill>
          <a:blip r:embed="rId2" cstate="print"/>
          <a:srcRect/>
          <a:stretch>
            <a:fillRect/>
          </a:stretch>
        </p:blipFill>
        <p:spPr bwMode="auto">
          <a:xfrm>
            <a:off x="3048000" y="3988512"/>
            <a:ext cx="3397074" cy="2107488"/>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xmlns="" val="3834182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76200"/>
            <a:ext cx="8229600" cy="769441"/>
          </a:xfrm>
          <a:prstGeom prst="rect">
            <a:avLst/>
          </a:prstGeom>
        </p:spPr>
        <p:txBody>
          <a:bodyPr wrap="square">
            <a:spAutoFit/>
          </a:bodyPr>
          <a:lstStyle/>
          <a:p>
            <a:pPr algn="ctr"/>
            <a:r>
              <a:rPr lang="en-IN" sz="4400" b="1" dirty="0">
                <a:solidFill>
                  <a:srgbClr val="C00000"/>
                </a:solidFill>
                <a:latin typeface="+mj-lt"/>
                <a:cs typeface="Times New Roman" panose="02020603050405020304" pitchFamily="18" charset="0"/>
              </a:rPr>
              <a:t>Power</a:t>
            </a:r>
          </a:p>
        </p:txBody>
      </p:sp>
      <mc:AlternateContent xmlns:mc="http://schemas.openxmlformats.org/markup-compatibility/2006">
        <mc:Choice xmlns:a14="http://schemas.microsoft.com/office/drawing/2010/main" xmlns="" Requires="a14">
          <p:sp>
            <p:nvSpPr>
              <p:cNvPr id="4" name="Rectangle 3"/>
              <p:cNvSpPr/>
              <p:nvPr/>
            </p:nvSpPr>
            <p:spPr>
              <a:xfrm>
                <a:off x="457200" y="990600"/>
                <a:ext cx="7772400" cy="4722190"/>
              </a:xfrm>
              <a:prstGeom prst="rect">
                <a:avLst/>
              </a:prstGeom>
            </p:spPr>
            <p:txBody>
              <a:bodyPr wrap="square">
                <a:spAutoFit/>
              </a:bodyPr>
              <a:lstStyle/>
              <a:p>
                <a:r>
                  <a:rPr lang="en-IN" sz="2000" b="1" dirty="0">
                    <a:latin typeface="Times New Roman" panose="02020603050405020304" pitchFamily="18" charset="0"/>
                    <a:cs typeface="Times New Roman" panose="02020603050405020304" pitchFamily="18" charset="0"/>
                  </a:rPr>
                  <a:t>Definition: </a:t>
                </a:r>
                <a:r>
                  <a:rPr lang="en-US" sz="2000" dirty="0">
                    <a:latin typeface="Times New Roman" panose="02020603050405020304" pitchFamily="18" charset="0"/>
                    <a:cs typeface="Times New Roman" panose="02020603050405020304" pitchFamily="18" charset="0"/>
                  </a:rPr>
                  <a:t>Power is rate of doing work. It is the work done in unit time.</a:t>
                </a:r>
              </a:p>
              <a:p>
                <a:endParaRPr lang="en-US" sz="2000" b="1" dirty="0">
                  <a:latin typeface="Times New Roman" panose="02020603050405020304" pitchFamily="18" charset="0"/>
                  <a:cs typeface="Times New Roman" panose="02020603050405020304" pitchFamily="18" charset="0"/>
                </a:endParaRPr>
              </a:p>
              <a:p>
                <a:pPr marL="342900" indent="-342900">
                  <a:buClr>
                    <a:schemeClr val="accent2"/>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Equation of power is      </a:t>
                </a:r>
                <a14:m>
                  <m:oMath xmlns:m="http://schemas.openxmlformats.org/officeDocument/2006/math">
                    <m:r>
                      <a:rPr lang="en-IN" sz="2000" b="1" i="0" smtClean="0">
                        <a:latin typeface="Cambria Math" panose="02040503050406030204" pitchFamily="18" charset="0"/>
                      </a:rPr>
                      <m:t>𝐩</m:t>
                    </m:r>
                    <m:r>
                      <a:rPr lang="en-IN" sz="2000" b="1" i="0" smtClean="0">
                        <a:latin typeface="Cambria Math" panose="02040503050406030204" pitchFamily="18" charset="0"/>
                      </a:rPr>
                      <m:t>=</m:t>
                    </m:r>
                    <m:f>
                      <m:fPr>
                        <m:ctrlPr>
                          <a:rPr lang="en-US" sz="2000" b="1" i="1" smtClean="0">
                            <a:latin typeface="Cambria Math" panose="02040503050406030204" pitchFamily="18" charset="0"/>
                          </a:rPr>
                        </m:ctrlPr>
                      </m:fPr>
                      <m:num>
                        <m:r>
                          <a:rPr lang="en-IN" sz="2000" b="1" i="1" smtClean="0">
                            <a:latin typeface="Cambria Math" panose="02040503050406030204" pitchFamily="18" charset="0"/>
                          </a:rPr>
                          <m:t>𝒅𝒘</m:t>
                        </m:r>
                      </m:num>
                      <m:den>
                        <m:r>
                          <a:rPr lang="en-IN" sz="2000" b="1" i="1" smtClean="0">
                            <a:latin typeface="Cambria Math" panose="02040503050406030204" pitchFamily="18" charset="0"/>
                          </a:rPr>
                          <m:t>𝒅𝒕</m:t>
                        </m:r>
                      </m:den>
                    </m:f>
                  </m:oMath>
                </a14:m>
                <a:r>
                  <a:rPr lang="en-US" sz="2000" b="1" dirty="0">
                    <a:latin typeface="Times New Roman" panose="02020603050405020304" pitchFamily="18" charset="0"/>
                    <a:cs typeface="Times New Roman" panose="02020603050405020304" pitchFamily="18" charset="0"/>
                  </a:rPr>
                  <a:t> 		Eq1</a:t>
                </a:r>
              </a:p>
              <a:p>
                <a:pPr marL="342900" indent="-342900">
                  <a:buClr>
                    <a:schemeClr val="accent2"/>
                  </a:buClr>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marL="342900" indent="-342900">
                  <a:buClr>
                    <a:schemeClr val="accent2"/>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where p is the power in watts, w is energy in joules, and t is time in seconds</a:t>
                </a:r>
              </a:p>
              <a:p>
                <a:pPr marL="342900" indent="-342900">
                  <a:buClr>
                    <a:schemeClr val="accent2"/>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Clr>
                    <a:schemeClr val="accent2"/>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power associated with the current through an element is</a:t>
                </a:r>
              </a:p>
              <a:p>
                <a:pPr marL="342900" indent="-342900">
                  <a:buClr>
                    <a:schemeClr val="accent2"/>
                  </a:buClr>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marL="342900" indent="-342900">
                  <a:buClr>
                    <a:schemeClr val="accent2"/>
                  </a:buClr>
                  <a:buFont typeface="Arial" panose="020B0604020202020204" pitchFamily="34" charset="0"/>
                  <a:buChar char="•"/>
                </a:pPr>
                <a14:m>
                  <m:oMath xmlns:m="http://schemas.openxmlformats.org/officeDocument/2006/math">
                    <m:r>
                      <a:rPr lang="en-IN" sz="2000" b="1">
                        <a:latin typeface="Cambria Math" panose="02040503050406030204" pitchFamily="18" charset="0"/>
                      </a:rPr>
                      <m:t>𝐩</m:t>
                    </m:r>
                    <m:r>
                      <a:rPr lang="en-IN" sz="2000" b="1">
                        <a:latin typeface="Cambria Math" panose="02040503050406030204" pitchFamily="18" charset="0"/>
                      </a:rPr>
                      <m:t>=</m:t>
                    </m:r>
                    <m:f>
                      <m:fPr>
                        <m:ctrlPr>
                          <a:rPr lang="en-US" sz="2000" b="1" i="1">
                            <a:latin typeface="Cambria Math" panose="02040503050406030204" pitchFamily="18" charset="0"/>
                          </a:rPr>
                        </m:ctrlPr>
                      </m:fPr>
                      <m:num>
                        <m:r>
                          <a:rPr lang="en-IN" sz="2000" b="1" i="1">
                            <a:latin typeface="Cambria Math" panose="02040503050406030204" pitchFamily="18" charset="0"/>
                          </a:rPr>
                          <m:t>𝒅𝒘</m:t>
                        </m:r>
                      </m:num>
                      <m:den>
                        <m:r>
                          <a:rPr lang="en-IN" sz="2000" b="1" i="1">
                            <a:latin typeface="Cambria Math" panose="02040503050406030204" pitchFamily="18" charset="0"/>
                          </a:rPr>
                          <m:t>𝒅𝒕</m:t>
                        </m:r>
                      </m:den>
                    </m:f>
                    <m:r>
                      <a:rPr lang="en-IN" sz="2000" b="1" i="1" smtClean="0">
                        <a:latin typeface="Cambria Math" panose="02040503050406030204" pitchFamily="18" charset="0"/>
                      </a:rPr>
                      <m:t>= </m:t>
                    </m:r>
                    <m:f>
                      <m:fPr>
                        <m:ctrlPr>
                          <a:rPr lang="en-IN" sz="2000" b="1" i="1" smtClean="0">
                            <a:latin typeface="Cambria Math" panose="02040503050406030204" pitchFamily="18" charset="0"/>
                          </a:rPr>
                        </m:ctrlPr>
                      </m:fPr>
                      <m:num>
                        <m:r>
                          <a:rPr lang="en-IN" sz="2000" b="1" i="1" smtClean="0">
                            <a:latin typeface="Cambria Math" panose="02040503050406030204" pitchFamily="18" charset="0"/>
                          </a:rPr>
                          <m:t>𝒅𝒘</m:t>
                        </m:r>
                      </m:num>
                      <m:den>
                        <m:r>
                          <a:rPr lang="en-IN" sz="2000" b="1" i="1" smtClean="0">
                            <a:latin typeface="Cambria Math" panose="02040503050406030204" pitchFamily="18" charset="0"/>
                          </a:rPr>
                          <m:t>𝒅𝒒</m:t>
                        </m:r>
                      </m:den>
                    </m:f>
                    <m:r>
                      <a:rPr lang="en-IN" sz="2000" b="1" i="1" smtClean="0">
                        <a:latin typeface="Cambria Math" panose="02040503050406030204" pitchFamily="18" charset="0"/>
                      </a:rPr>
                      <m:t> ∗</m:t>
                    </m:r>
                    <m:f>
                      <m:fPr>
                        <m:ctrlPr>
                          <a:rPr lang="en-IN" sz="2000" b="1" i="1" smtClean="0">
                            <a:latin typeface="Cambria Math" panose="02040503050406030204" pitchFamily="18" charset="0"/>
                          </a:rPr>
                        </m:ctrlPr>
                      </m:fPr>
                      <m:num>
                        <m:r>
                          <a:rPr lang="en-IN" sz="2000" b="1" i="1" smtClean="0">
                            <a:latin typeface="Cambria Math" panose="02040503050406030204" pitchFamily="18" charset="0"/>
                          </a:rPr>
                          <m:t>𝒅𝒒</m:t>
                        </m:r>
                      </m:num>
                      <m:den>
                        <m:r>
                          <a:rPr lang="en-IN" sz="2000" b="1" i="1" smtClean="0">
                            <a:latin typeface="Cambria Math" panose="02040503050406030204" pitchFamily="18" charset="0"/>
                          </a:rPr>
                          <m:t>𝒅𝒕</m:t>
                        </m:r>
                      </m:den>
                    </m:f>
                    <m:r>
                      <a:rPr lang="en-IN" sz="2000" b="1" i="1" smtClean="0">
                        <a:latin typeface="Cambria Math" panose="02040503050406030204" pitchFamily="18" charset="0"/>
                      </a:rPr>
                      <m:t>=</m:t>
                    </m:r>
                    <m:r>
                      <a:rPr lang="en-IN" sz="2000" b="1" i="1" smtClean="0">
                        <a:latin typeface="Cambria Math" panose="02040503050406030204" pitchFamily="18" charset="0"/>
                      </a:rPr>
                      <m:t>𝒗</m:t>
                    </m:r>
                    <m:r>
                      <a:rPr lang="en-IN" sz="2000" b="1" i="1" smtClean="0">
                        <a:latin typeface="Cambria Math" panose="02040503050406030204" pitchFamily="18" charset="0"/>
                      </a:rPr>
                      <m:t>.</m:t>
                    </m:r>
                    <m:r>
                      <a:rPr lang="en-IN" sz="2000" b="1" i="1" smtClean="0">
                        <a:latin typeface="Cambria Math" panose="02040503050406030204" pitchFamily="18" charset="0"/>
                      </a:rPr>
                      <m:t>𝒊</m:t>
                    </m:r>
                  </m:oMath>
                </a14:m>
                <a:endParaRPr lang="en-IN" sz="2000" b="1" dirty="0">
                  <a:latin typeface="Times New Roman" panose="02020603050405020304" pitchFamily="18" charset="0"/>
                  <a:cs typeface="Times New Roman" panose="02020603050405020304" pitchFamily="18" charset="0"/>
                </a:endParaRPr>
              </a:p>
              <a:p>
                <a:pPr marL="342900" indent="-342900">
                  <a:buClr>
                    <a:schemeClr val="accent2"/>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From above equation it is clear, that power is simply the product of the voltage across an element times the current through the element. The power has units of </a:t>
                </a:r>
                <a:r>
                  <a:rPr lang="en-US" sz="2000" b="1" dirty="0">
                    <a:latin typeface="Times New Roman" panose="02020603050405020304" pitchFamily="18" charset="0"/>
                    <a:cs typeface="Times New Roman" panose="02020603050405020304" pitchFamily="18" charset="0"/>
                  </a:rPr>
                  <a:t>watts </a:t>
                </a:r>
                <a:r>
                  <a:rPr lang="en-US" sz="2000" dirty="0">
                    <a:latin typeface="Times New Roman" panose="02020603050405020304" pitchFamily="18" charset="0"/>
                    <a:cs typeface="Times New Roman" panose="02020603050405020304" pitchFamily="18" charset="0"/>
                  </a:rPr>
                  <a:t>and is denoted by </a:t>
                </a:r>
                <a:r>
                  <a:rPr lang="en-US" sz="2000" b="1" dirty="0">
                    <a:latin typeface="Times New Roman" panose="02020603050405020304" pitchFamily="18" charset="0"/>
                    <a:cs typeface="Times New Roman" panose="02020603050405020304" pitchFamily="18" charset="0"/>
                  </a:rPr>
                  <a:t>W</a:t>
                </a:r>
                <a:endParaRPr lang="en-IN" sz="2000" b="1" dirty="0">
                  <a:latin typeface="Times New Roman" panose="02020603050405020304" pitchFamily="18" charset="0"/>
                  <a:cs typeface="Times New Roman" panose="02020603050405020304" pitchFamily="18" charset="0"/>
                </a:endParaRPr>
              </a:p>
              <a:p>
                <a:endParaRPr lang="en-IN" sz="2000" dirty="0"/>
              </a:p>
            </p:txBody>
          </p:sp>
        </mc:Choice>
        <mc:Fallback>
          <p:sp>
            <p:nvSpPr>
              <p:cNvPr id="4" name="Rectangle 3"/>
              <p:cNvSpPr>
                <a:spLocks noRot="1" noChangeAspect="1" noMove="1" noResize="1" noEditPoints="1" noAdjustHandles="1" noChangeArrowheads="1" noChangeShapeType="1" noTextEdit="1"/>
              </p:cNvSpPr>
              <p:nvPr/>
            </p:nvSpPr>
            <p:spPr>
              <a:xfrm>
                <a:off x="457200" y="990600"/>
                <a:ext cx="7772400" cy="4722190"/>
              </a:xfrm>
              <a:prstGeom prst="rect">
                <a:avLst/>
              </a:prstGeom>
              <a:blipFill>
                <a:blip r:embed="rId2"/>
                <a:stretch>
                  <a:fillRect l="-784" t="-775" r="-784"/>
                </a:stretch>
              </a:blipFill>
            </p:spPr>
            <p:txBody>
              <a:bodyPr/>
              <a:lstStyle/>
              <a:p>
                <a:r>
                  <a:rPr lang="en-IN">
                    <a:noFill/>
                  </a:rPr>
                  <a:t> </a:t>
                </a:r>
              </a:p>
            </p:txBody>
          </p:sp>
        </mc:Fallback>
      </mc:AlternateContent>
      <p:sp>
        <p:nvSpPr>
          <p:cNvPr id="5" name="Slide Number Placeholder 4"/>
          <p:cNvSpPr>
            <a:spLocks noGrp="1"/>
          </p:cNvSpPr>
          <p:nvPr>
            <p:ph type="sldNum" sz="quarter" idx="12"/>
          </p:nvPr>
        </p:nvSpPr>
        <p:spPr/>
        <p:txBody>
          <a:bodyPr/>
          <a:lstStyle/>
          <a:p>
            <a:fld id="{7C7D6217-2CB0-4899-A90F-D165D154DCA2}" type="slidenum">
              <a:rPr lang="en-IN" smtClean="0"/>
              <a:pPr/>
              <a:t>4</a:t>
            </a:fld>
            <a:endParaRPr lang="en-IN"/>
          </a:p>
        </p:txBody>
      </p:sp>
    </p:spTree>
    <p:extLst>
      <p:ext uri="{BB962C8B-B14F-4D97-AF65-F5344CB8AC3E}">
        <p14:creationId xmlns:p14="http://schemas.microsoft.com/office/powerpoint/2010/main" xmlns="" val="592376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FB977E-4AE1-40D2-BE1D-195F589283D8}"/>
              </a:ext>
            </a:extLst>
          </p:cNvPr>
          <p:cNvSpPr>
            <a:spLocks noGrp="1"/>
          </p:cNvSpPr>
          <p:nvPr>
            <p:ph type="title"/>
          </p:nvPr>
        </p:nvSpPr>
        <p:spPr/>
        <p:txBody>
          <a:bodyPr>
            <a:normAutofit/>
          </a:bodyPr>
          <a:lstStyle/>
          <a:p>
            <a:pPr algn="ctr"/>
            <a:r>
              <a:rPr lang="en-IN" b="1" dirty="0">
                <a:solidFill>
                  <a:srgbClr val="C00000"/>
                </a:solidFill>
                <a:cs typeface="Times New Roman" panose="02020603050405020304" pitchFamily="18" charset="0"/>
              </a:rPr>
              <a:t>Energy</a:t>
            </a:r>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1388B73F-2770-4705-B1F9-779AC3DFF70B}"/>
                  </a:ext>
                </a:extLst>
              </p:cNvPr>
              <p:cNvSpPr>
                <a:spLocks noGrp="1"/>
              </p:cNvSpPr>
              <p:nvPr>
                <p:ph idx="1"/>
              </p:nvPr>
            </p:nvSpPr>
            <p:spPr/>
            <p:txBody>
              <a:bodyPr/>
              <a:lstStyle/>
              <a:p>
                <a:pPr marL="0" indent="0">
                  <a:buNone/>
                </a:pPr>
                <a:r>
                  <a:rPr lang="en-IN" sz="2400" dirty="0">
                    <a:latin typeface="Times New Roman" panose="02020603050405020304" pitchFamily="18" charset="0"/>
                    <a:cs typeface="Times New Roman" panose="02020603050405020304" pitchFamily="18" charset="0"/>
                  </a:rPr>
                  <a:t>Definition: Energy is the capacity of doing work.</a:t>
                </a:r>
              </a:p>
              <a:p>
                <a:r>
                  <a:rPr lang="en-IN" sz="2400" dirty="0">
                    <a:latin typeface="Times New Roman" panose="02020603050405020304" pitchFamily="18" charset="0"/>
                    <a:cs typeface="Times New Roman" panose="02020603050405020304" pitchFamily="18" charset="0"/>
                  </a:rPr>
                  <a:t>Equation of Energy: From eq1 by rewriting it</a:t>
                </a:r>
              </a:p>
              <a:p>
                <a:pPr marL="0" indent="0">
                  <a:buNone/>
                </a:pPr>
                <a14:m>
                  <m:oMath xmlns:m="http://schemas.openxmlformats.org/officeDocument/2006/math">
                    <m:r>
                      <a:rPr lang="en-IN" sz="2400" b="0" i="1" smtClean="0">
                        <a:latin typeface="Cambria Math" panose="02040503050406030204" pitchFamily="18" charset="0"/>
                      </a:rPr>
                      <m:t>𝑑𝑤</m:t>
                    </m:r>
                    <m:r>
                      <a:rPr lang="en-IN" sz="2400" b="0" i="1" smtClean="0">
                        <a:latin typeface="Cambria Math" panose="02040503050406030204" pitchFamily="18" charset="0"/>
                      </a:rPr>
                      <m:t>=</m:t>
                    </m:r>
                    <m:r>
                      <a:rPr lang="en-IN" sz="2400" b="0" i="1" smtClean="0">
                        <a:latin typeface="Cambria Math" panose="02040503050406030204" pitchFamily="18" charset="0"/>
                      </a:rPr>
                      <m:t>𝑝</m:t>
                    </m:r>
                    <m:r>
                      <a:rPr lang="en-IN" sz="2400" b="0" i="1" smtClean="0">
                        <a:latin typeface="Cambria Math" panose="02040503050406030204" pitchFamily="18" charset="0"/>
                      </a:rPr>
                      <m:t> </m:t>
                    </m:r>
                    <m:r>
                      <a:rPr lang="en-IN" sz="2400" b="0" i="1" smtClean="0">
                        <a:latin typeface="Cambria Math" panose="02040503050406030204" pitchFamily="18" charset="0"/>
                      </a:rPr>
                      <m:t>𝑑𝑡</m:t>
                    </m:r>
                    <m:r>
                      <a:rPr lang="en-IN" sz="2400" b="0" i="1" smtClean="0">
                        <a:latin typeface="Cambria Math" panose="02040503050406030204" pitchFamily="18" charset="0"/>
                      </a:rPr>
                      <m:t>   </m:t>
                    </m:r>
                  </m:oMath>
                </a14:m>
                <a:r>
                  <a:rPr lang="en-IN" sz="2400" dirty="0" err="1">
                    <a:latin typeface="Times New Roman" panose="02020603050405020304" pitchFamily="18" charset="0"/>
                    <a:cs typeface="Times New Roman" panose="02020603050405020304" pitchFamily="18" charset="0"/>
                  </a:rPr>
                  <a:t>Eq</a:t>
                </a:r>
                <a:r>
                  <a:rPr lang="en-IN" sz="2400" dirty="0">
                    <a:latin typeface="Times New Roman" panose="02020603050405020304" pitchFamily="18" charset="0"/>
                    <a:cs typeface="Times New Roman" panose="02020603050405020304" pitchFamily="18" charset="0"/>
                  </a:rPr>
                  <a:t> 2</a:t>
                </a: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On integrating </a:t>
                </a:r>
                <a:r>
                  <a:rPr lang="en-IN" sz="2400" dirty="0" err="1">
                    <a:latin typeface="Times New Roman" panose="02020603050405020304" pitchFamily="18" charset="0"/>
                    <a:cs typeface="Times New Roman" panose="02020603050405020304" pitchFamily="18" charset="0"/>
                  </a:rPr>
                  <a:t>Eq</a:t>
                </a:r>
                <a:r>
                  <a:rPr lang="en-IN" sz="2400" dirty="0">
                    <a:latin typeface="Times New Roman" panose="02020603050405020304" pitchFamily="18" charset="0"/>
                    <a:cs typeface="Times New Roman" panose="02020603050405020304" pitchFamily="18" charset="0"/>
                  </a:rPr>
                  <a:t> 2, we have</a:t>
                </a:r>
              </a:p>
              <a:p>
                <a:pPr marL="0" indent="0">
                  <a:buNone/>
                </a:pPr>
                <a14:m>
                  <m:oMathPara xmlns:m="http://schemas.openxmlformats.org/officeDocument/2006/math">
                    <m:oMathParaPr>
                      <m:jc m:val="centerGroup"/>
                    </m:oMathParaPr>
                    <m:oMath xmlns:m="http://schemas.openxmlformats.org/officeDocument/2006/math">
                      <m:r>
                        <a:rPr lang="en-IN" sz="2400" b="0" i="1" smtClean="0">
                          <a:latin typeface="Cambria Math" panose="02040503050406030204" pitchFamily="18" charset="0"/>
                        </a:rPr>
                        <m:t>𝑤</m:t>
                      </m:r>
                      <m:r>
                        <a:rPr lang="en-IN" sz="2400" b="0" i="1" smtClean="0">
                          <a:latin typeface="Cambria Math" panose="02040503050406030204" pitchFamily="18" charset="0"/>
                        </a:rPr>
                        <m:t>= </m:t>
                      </m:r>
                      <m:nary>
                        <m:naryPr>
                          <m:limLoc m:val="undOvr"/>
                          <m:ctrlPr>
                            <a:rPr lang="en-IN" sz="2400" b="0" i="1" smtClean="0">
                              <a:latin typeface="Cambria Math" panose="02040503050406030204" pitchFamily="18" charset="0"/>
                            </a:rPr>
                          </m:ctrlPr>
                        </m:naryPr>
                        <m:sub>
                          <m:r>
                            <m:rPr>
                              <m:brk m:alnAt="24"/>
                            </m:rPr>
                            <a:rPr lang="en-IN" sz="2400" b="0" i="1" smtClean="0">
                              <a:latin typeface="Cambria Math" panose="02040503050406030204" pitchFamily="18" charset="0"/>
                            </a:rPr>
                            <m:t>0</m:t>
                          </m:r>
                        </m:sub>
                        <m:sup>
                          <m:r>
                            <a:rPr lang="en-IN" sz="2400" b="0" i="1" smtClean="0">
                              <a:latin typeface="Cambria Math" panose="02040503050406030204" pitchFamily="18" charset="0"/>
                            </a:rPr>
                            <m:t>𝑡</m:t>
                          </m:r>
                        </m:sup>
                        <m:e>
                          <m:r>
                            <a:rPr lang="en-IN" sz="2400" b="0" i="1" smtClean="0">
                              <a:latin typeface="Cambria Math" panose="02040503050406030204" pitchFamily="18" charset="0"/>
                            </a:rPr>
                            <m:t>𝑝𝑑𝑡</m:t>
                          </m:r>
                        </m:e>
                      </m:nary>
                    </m:oMath>
                  </m:oMathPara>
                </a14:m>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a:buSzPct val="900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SI unit of energy is </a:t>
                </a:r>
                <a:r>
                  <a:rPr lang="en-IN" sz="2400" b="1" dirty="0">
                    <a:latin typeface="Times New Roman" panose="02020603050405020304" pitchFamily="18" charset="0"/>
                    <a:cs typeface="Times New Roman" panose="02020603050405020304" pitchFamily="18" charset="0"/>
                  </a:rPr>
                  <a:t>joule</a:t>
                </a:r>
                <a:r>
                  <a:rPr lang="en-IN" sz="2400" dirty="0">
                    <a:latin typeface="Times New Roman" panose="02020603050405020304" pitchFamily="18" charset="0"/>
                    <a:cs typeface="Times New Roman" panose="02020603050405020304" pitchFamily="18" charset="0"/>
                  </a:rPr>
                  <a:t> and is denoted by </a:t>
                </a:r>
                <a:r>
                  <a:rPr lang="en-IN" sz="2400" b="1" dirty="0">
                    <a:latin typeface="Times New Roman" panose="02020603050405020304" pitchFamily="18" charset="0"/>
                    <a:cs typeface="Times New Roman" panose="02020603050405020304" pitchFamily="18" charset="0"/>
                  </a:rPr>
                  <a:t>‘J’</a:t>
                </a:r>
              </a:p>
              <a:p>
                <a:pPr marL="0" indent="0">
                  <a:buNone/>
                </a:pPr>
                <a:endParaRPr lang="en-IN" dirty="0"/>
              </a:p>
              <a:p>
                <a:pPr marL="0" indent="0">
                  <a:buNone/>
                </a:pPr>
                <a:endParaRPr lang="en-IN" dirty="0"/>
              </a:p>
            </p:txBody>
          </p:sp>
        </mc:Choice>
        <mc:Fallback>
          <p:sp>
            <p:nvSpPr>
              <p:cNvPr id="3" name="Content Placeholder 2">
                <a:extLst>
                  <a:ext uri="{FF2B5EF4-FFF2-40B4-BE49-F238E27FC236}">
                    <a16:creationId xmlns:a16="http://schemas.microsoft.com/office/drawing/2014/main" xmlns="" xmlns:a14="http://schemas.microsoft.com/office/drawing/2010/main" id="{1388B73F-2770-4705-B1F9-779AC3DFF70B}"/>
                  </a:ext>
                </a:extLst>
              </p:cNvPr>
              <p:cNvSpPr>
                <a:spLocks noGrp="1" noRot="1" noChangeAspect="1" noMove="1" noResize="1" noEditPoints="1" noAdjustHandles="1" noChangeArrowheads="1" noChangeShapeType="1" noTextEdit="1"/>
              </p:cNvSpPr>
              <p:nvPr>
                <p:ph idx="1"/>
              </p:nvPr>
            </p:nvSpPr>
            <p:spPr>
              <a:blipFill>
                <a:blip r:embed="rId2" cstate="print"/>
                <a:stretch>
                  <a:fillRect l="-1111" t="-1078"/>
                </a:stretch>
              </a:blipFill>
            </p:spPr>
            <p:txBody>
              <a:bodyPr/>
              <a:lstStyle/>
              <a:p>
                <a:r>
                  <a:rPr lang="en-IN">
                    <a:noFill/>
                  </a:rPr>
                  <a:t> </a:t>
                </a:r>
              </a:p>
            </p:txBody>
          </p:sp>
        </mc:Fallback>
      </mc:AlternateContent>
      <p:sp>
        <p:nvSpPr>
          <p:cNvPr id="5" name="Slide Number Placeholder 4"/>
          <p:cNvSpPr>
            <a:spLocks noGrp="1"/>
          </p:cNvSpPr>
          <p:nvPr>
            <p:ph type="sldNum" sz="quarter" idx="12"/>
          </p:nvPr>
        </p:nvSpPr>
        <p:spPr/>
        <p:txBody>
          <a:bodyPr/>
          <a:lstStyle/>
          <a:p>
            <a:fld id="{7C7D6217-2CB0-4899-A90F-D165D154DCA2}" type="slidenum">
              <a:rPr lang="en-IN" smtClean="0"/>
              <a:pPr/>
              <a:t>5</a:t>
            </a:fld>
            <a:endParaRPr lang="en-IN"/>
          </a:p>
        </p:txBody>
      </p:sp>
    </p:spTree>
    <p:extLst>
      <p:ext uri="{BB962C8B-B14F-4D97-AF65-F5344CB8AC3E}">
        <p14:creationId xmlns:p14="http://schemas.microsoft.com/office/powerpoint/2010/main" xmlns="" val="3430609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F5EB48-C582-400D-9D9A-0A698ADC2018}"/>
              </a:ext>
            </a:extLst>
          </p:cNvPr>
          <p:cNvSpPr>
            <a:spLocks noGrp="1"/>
          </p:cNvSpPr>
          <p:nvPr>
            <p:ph type="title"/>
          </p:nvPr>
        </p:nvSpPr>
        <p:spPr>
          <a:xfrm>
            <a:off x="457200" y="274638"/>
            <a:ext cx="8382000" cy="931354"/>
          </a:xfrm>
        </p:spPr>
        <p:txBody>
          <a:bodyPr>
            <a:noAutofit/>
          </a:bodyPr>
          <a:lstStyle/>
          <a:p>
            <a:pPr algn="ctr"/>
            <a:r>
              <a:rPr lang="en-IN" sz="4000" b="1" dirty="0">
                <a:solidFill>
                  <a:srgbClr val="C00000"/>
                </a:solidFill>
                <a:cs typeface="Times New Roman" panose="02020603050405020304" pitchFamily="18" charset="0"/>
              </a:rPr>
              <a:t>Power Received and Supplied by an element</a:t>
            </a:r>
          </a:p>
        </p:txBody>
      </p:sp>
      <p:pic>
        <p:nvPicPr>
          <p:cNvPr id="7" name="Content Placeholder 6" descr="Diagram&#10;&#10;Description automatically generated">
            <a:extLst>
              <a:ext uri="{FF2B5EF4-FFF2-40B4-BE49-F238E27FC236}">
                <a16:creationId xmlns:a16="http://schemas.microsoft.com/office/drawing/2014/main" xmlns="" id="{AE3A1146-8DD7-4B96-A004-E416D01CAB2E}"/>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3124200" y="1250150"/>
            <a:ext cx="4869243" cy="1696136"/>
          </a:xfrm>
        </p:spPr>
      </p:pic>
      <p:sp>
        <p:nvSpPr>
          <p:cNvPr id="8" name="TextBox 7">
            <a:extLst>
              <a:ext uri="{FF2B5EF4-FFF2-40B4-BE49-F238E27FC236}">
                <a16:creationId xmlns:a16="http://schemas.microsoft.com/office/drawing/2014/main" xmlns="" id="{FAD8AF7F-931E-4139-9368-6D0B72965FC9}"/>
              </a:ext>
            </a:extLst>
          </p:cNvPr>
          <p:cNvSpPr txBox="1"/>
          <p:nvPr/>
        </p:nvSpPr>
        <p:spPr>
          <a:xfrm>
            <a:off x="4800600" y="4114800"/>
            <a:ext cx="4280044" cy="1200329"/>
          </a:xfrm>
          <a:prstGeom prst="rect">
            <a:avLst/>
          </a:prstGeom>
          <a:noFill/>
        </p:spPr>
        <p:txBody>
          <a:bodyPr wrap="square" rtlCol="0">
            <a:spAutoFit/>
          </a:bodyPr>
          <a:lstStyle/>
          <a:p>
            <a:r>
              <a:rPr lang="en-IN" b="1" dirty="0">
                <a:latin typeface="Times New Roman" pitchFamily="18" charset="0"/>
                <a:cs typeface="Times New Roman" pitchFamily="18" charset="0"/>
              </a:rPr>
              <a:t>Figure 1 (a)</a:t>
            </a:r>
            <a:r>
              <a:rPr lang="en-US" b="1" dirty="0">
                <a:latin typeface="Times New Roman" pitchFamily="18" charset="0"/>
                <a:cs typeface="Times New Roman" pitchFamily="18" charset="0"/>
              </a:rPr>
              <a:t>The element voltage and current adhere to the passive convention. (b) The element voltage and current do not adhere to the passive convention.</a:t>
            </a:r>
            <a:endParaRPr lang="en-IN" b="1" dirty="0">
              <a:latin typeface="Times New Roman" pitchFamily="18" charset="0"/>
              <a:cs typeface="Times New Roman" pitchFamily="18" charset="0"/>
            </a:endParaRPr>
          </a:p>
        </p:txBody>
      </p:sp>
      <p:pic>
        <p:nvPicPr>
          <p:cNvPr id="10" name="Picture 9" descr="Diagram&#10;&#10;b">
            <a:extLst>
              <a:ext uri="{FF2B5EF4-FFF2-40B4-BE49-F238E27FC236}">
                <a16:creationId xmlns:a16="http://schemas.microsoft.com/office/drawing/2014/main" xmlns="" id="{0B14B0A1-EA3B-45F5-B68C-EFC2BAC080E9}"/>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3200400" y="2590800"/>
            <a:ext cx="4869243" cy="1401557"/>
          </a:xfrm>
          <a:prstGeom prst="rect">
            <a:avLst/>
          </a:prstGeom>
        </p:spPr>
      </p:pic>
      <p:sp>
        <p:nvSpPr>
          <p:cNvPr id="11" name="TextBox 10">
            <a:extLst>
              <a:ext uri="{FF2B5EF4-FFF2-40B4-BE49-F238E27FC236}">
                <a16:creationId xmlns:a16="http://schemas.microsoft.com/office/drawing/2014/main" xmlns="" id="{8AA8B7D4-3CE6-49CC-A032-139DF6030256}"/>
              </a:ext>
            </a:extLst>
          </p:cNvPr>
          <p:cNvSpPr txBox="1"/>
          <p:nvPr/>
        </p:nvSpPr>
        <p:spPr>
          <a:xfrm>
            <a:off x="6520304" y="2209800"/>
            <a:ext cx="453970" cy="369332"/>
          </a:xfrm>
          <a:prstGeom prst="rect">
            <a:avLst/>
          </a:prstGeom>
          <a:noFill/>
        </p:spPr>
        <p:txBody>
          <a:bodyPr wrap="none" rtlCol="0">
            <a:spAutoFit/>
          </a:bodyPr>
          <a:lstStyle/>
          <a:p>
            <a:r>
              <a:rPr lang="en-IN" b="1" dirty="0">
                <a:latin typeface="Times New Roman" pitchFamily="18" charset="0"/>
                <a:cs typeface="Times New Roman" pitchFamily="18" charset="0"/>
              </a:rPr>
              <a:t>(a)</a:t>
            </a:r>
          </a:p>
        </p:txBody>
      </p:sp>
      <p:sp>
        <p:nvSpPr>
          <p:cNvPr id="12" name="TextBox 11">
            <a:extLst>
              <a:ext uri="{FF2B5EF4-FFF2-40B4-BE49-F238E27FC236}">
                <a16:creationId xmlns:a16="http://schemas.microsoft.com/office/drawing/2014/main" xmlns="" id="{35F39723-194D-4072-AB85-06AD63D6FC4B}"/>
              </a:ext>
            </a:extLst>
          </p:cNvPr>
          <p:cNvSpPr txBox="1"/>
          <p:nvPr/>
        </p:nvSpPr>
        <p:spPr>
          <a:xfrm>
            <a:off x="6578872" y="3429000"/>
            <a:ext cx="466794" cy="369332"/>
          </a:xfrm>
          <a:prstGeom prst="rect">
            <a:avLst/>
          </a:prstGeom>
          <a:noFill/>
        </p:spPr>
        <p:txBody>
          <a:bodyPr wrap="none" rtlCol="0">
            <a:spAutoFit/>
          </a:bodyPr>
          <a:lstStyle/>
          <a:p>
            <a:r>
              <a:rPr lang="en-IN" b="1" dirty="0">
                <a:latin typeface="Times New Roman" pitchFamily="18" charset="0"/>
                <a:cs typeface="Times New Roman" pitchFamily="18" charset="0"/>
              </a:rPr>
              <a:t>(b)</a:t>
            </a:r>
          </a:p>
        </p:txBody>
      </p:sp>
      <p:sp>
        <p:nvSpPr>
          <p:cNvPr id="3" name="TextBox 2">
            <a:extLst>
              <a:ext uri="{FF2B5EF4-FFF2-40B4-BE49-F238E27FC236}">
                <a16:creationId xmlns:a16="http://schemas.microsoft.com/office/drawing/2014/main" xmlns="" id="{90998A5D-D179-45D0-AE8D-35B88FDE9F31}"/>
              </a:ext>
            </a:extLst>
          </p:cNvPr>
          <p:cNvSpPr txBox="1"/>
          <p:nvPr/>
        </p:nvSpPr>
        <p:spPr>
          <a:xfrm>
            <a:off x="152400" y="1370886"/>
            <a:ext cx="4267200" cy="5078313"/>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Figure 1 shows that there are two different ways to arrange the direction of the current and the polarity of the voltage. </a:t>
            </a:r>
          </a:p>
          <a:p>
            <a:pPr algn="just"/>
            <a:endParaRPr lang="en-US" b="1" dirty="0">
              <a:latin typeface="Times New Roman" panose="02020603050405020304" pitchFamily="18" charset="0"/>
              <a:cs typeface="Times New Roman" panose="02020603050405020304" pitchFamily="18" charset="0"/>
            </a:endParaRPr>
          </a:p>
          <a:p>
            <a:pPr algn="just"/>
            <a:r>
              <a:rPr lang="en-US" sz="2000" b="1" dirty="0">
                <a:solidFill>
                  <a:srgbClr val="C00000"/>
                </a:solidFill>
                <a:latin typeface="Times New Roman" panose="02020603050405020304" pitchFamily="18" charset="0"/>
                <a:cs typeface="Times New Roman" panose="02020603050405020304" pitchFamily="18" charset="0"/>
              </a:rPr>
              <a:t>Power Received</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 Figure 1(a), the current is directed from the + toward the – of the voltage polarity. In this the voltage and current are said to “adhere to the passive convention.” </a:t>
            </a:r>
          </a:p>
          <a:p>
            <a:pPr marL="285750" indent="-285750" algn="just">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 the passive convention, the voltage pushes a positive charge in the direction indicated by the current.</a:t>
            </a:r>
          </a:p>
          <a:p>
            <a:pPr marL="285750" indent="-285750" algn="just">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1" dirty="0">
                <a:solidFill>
                  <a:srgbClr val="C00000"/>
                </a:solidFill>
                <a:latin typeface="Times New Roman" panose="02020603050405020304" pitchFamily="18" charset="0"/>
                <a:cs typeface="Times New Roman" panose="02020603050405020304" pitchFamily="18" charset="0"/>
              </a:rPr>
              <a:t>The Power calculated is known as power received</a:t>
            </a:r>
          </a:p>
        </p:txBody>
      </p:sp>
      <p:sp>
        <p:nvSpPr>
          <p:cNvPr id="13" name="Slide Number Placeholder 12"/>
          <p:cNvSpPr>
            <a:spLocks noGrp="1"/>
          </p:cNvSpPr>
          <p:nvPr>
            <p:ph type="sldNum" sz="quarter" idx="12"/>
          </p:nvPr>
        </p:nvSpPr>
        <p:spPr/>
        <p:txBody>
          <a:bodyPr/>
          <a:lstStyle/>
          <a:p>
            <a:fld id="{7C7D6217-2CB0-4899-A90F-D165D154DCA2}" type="slidenum">
              <a:rPr lang="en-IN" smtClean="0"/>
              <a:pPr/>
              <a:t>6</a:t>
            </a:fld>
            <a:endParaRPr lang="en-IN"/>
          </a:p>
        </p:txBody>
      </p:sp>
    </p:spTree>
    <p:extLst>
      <p:ext uri="{BB962C8B-B14F-4D97-AF65-F5344CB8AC3E}">
        <p14:creationId xmlns:p14="http://schemas.microsoft.com/office/powerpoint/2010/main" xmlns="" val="1626932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395241-B2C3-4A7E-B2D2-AF5D39D33713}"/>
              </a:ext>
            </a:extLst>
          </p:cNvPr>
          <p:cNvSpPr>
            <a:spLocks noGrp="1"/>
          </p:cNvSpPr>
          <p:nvPr>
            <p:ph type="title"/>
          </p:nvPr>
        </p:nvSpPr>
        <p:spPr>
          <a:xfrm>
            <a:off x="457200" y="76200"/>
            <a:ext cx="8229600" cy="1143000"/>
          </a:xfrm>
        </p:spPr>
        <p:txBody>
          <a:bodyPr>
            <a:normAutofit/>
          </a:bodyPr>
          <a:lstStyle/>
          <a:p>
            <a:r>
              <a:rPr lang="en-IN" b="1" dirty="0">
                <a:solidFill>
                  <a:srgbClr val="C00000"/>
                </a:solidFill>
                <a:cs typeface="Times New Roman" panose="02020603050405020304" pitchFamily="18" charset="0"/>
              </a:rPr>
              <a:t>Contd..</a:t>
            </a:r>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a16="http://schemas.microsoft.com/office/drawing/2014/main" id="{6D78B53B-4E71-4B94-8DE7-F2BCBDF06B54}"/>
                  </a:ext>
                </a:extLst>
              </p:cNvPr>
              <p:cNvSpPr>
                <a:spLocks noGrp="1"/>
              </p:cNvSpPr>
              <p:nvPr>
                <p:ph idx="1"/>
              </p:nvPr>
            </p:nvSpPr>
            <p:spPr>
              <a:xfrm>
                <a:off x="914400" y="1417638"/>
                <a:ext cx="7772400" cy="4983162"/>
              </a:xfrm>
            </p:spPr>
            <p:txBody>
              <a:bodyPr>
                <a:normAutofit lnSpcReduction="10000"/>
              </a:bodyPr>
              <a:lstStyle/>
              <a:p>
                <a:pPr marL="0" indent="0">
                  <a:buNone/>
                </a:pPr>
                <a:r>
                  <a:rPr lang="en-US" sz="2000" b="1" dirty="0">
                    <a:latin typeface="Times New Roman" panose="02020603050405020304" pitchFamily="18" charset="0"/>
                    <a:cs typeface="Times New Roman" panose="02020603050405020304" pitchFamily="18" charset="0"/>
                  </a:rPr>
                  <a:t>Power supplied</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contrast, in Figure 1(b), the current is directed from the – toward the + of the voltage polarity.</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this case, the voltage pushes a positive charge in the direction opposite to the direction indicated by the current.</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Accordingly, when the element voltage and current do not adhere to the passive convention, the power calculated by multiplying the element voltage by the element current is the </a:t>
                </a:r>
                <a:r>
                  <a:rPr lang="en-US" sz="2000" b="1" dirty="0">
                    <a:latin typeface="Times New Roman" panose="02020603050405020304" pitchFamily="18" charset="0"/>
                    <a:cs typeface="Times New Roman" panose="02020603050405020304" pitchFamily="18" charset="0"/>
                  </a:rPr>
                  <a:t>power supplied </a:t>
                </a:r>
                <a:r>
                  <a:rPr lang="en-US" sz="2000" dirty="0">
                    <a:latin typeface="Times New Roman" panose="02020603050405020304" pitchFamily="18" charset="0"/>
                    <a:cs typeface="Times New Roman" panose="02020603050405020304" pitchFamily="18" charset="0"/>
                  </a:rPr>
                  <a:t>by the element.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The power received by an element and the power supplied by that same element are related by </a:t>
                </a:r>
              </a:p>
              <a:p>
                <a:pPr marL="594360" lvl="2" indent="0">
                  <a:buNone/>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𝑃𝑜𝑤𝑒𝑟</m:t>
                      </m:r>
                      <m:r>
                        <a:rPr lang="en-IN" b="0" i="1" smtClean="0">
                          <a:latin typeface="Cambria Math" panose="02040503050406030204" pitchFamily="18" charset="0"/>
                        </a:rPr>
                        <m:t> </m:t>
                      </m:r>
                      <m:r>
                        <a:rPr lang="en-IN" b="0" i="1" smtClean="0">
                          <a:latin typeface="Cambria Math" panose="02040503050406030204" pitchFamily="18" charset="0"/>
                        </a:rPr>
                        <m:t>𝑅𝑒𝑐𝑒𝑖𝑣𝑒𝑑</m:t>
                      </m:r>
                      <m:r>
                        <a:rPr lang="en-IN" b="0" i="1" smtClean="0">
                          <a:latin typeface="Cambria Math" panose="02040503050406030204" pitchFamily="18" charset="0"/>
                        </a:rPr>
                        <m:t>=−</m:t>
                      </m:r>
                      <m:r>
                        <a:rPr lang="en-IN" b="0" i="1" smtClean="0">
                          <a:latin typeface="Cambria Math" panose="02040503050406030204" pitchFamily="18" charset="0"/>
                        </a:rPr>
                        <m:t>𝑃𝑜𝑤𝑒𝑟</m:t>
                      </m:r>
                      <m:r>
                        <a:rPr lang="en-IN" b="0" i="1" smtClean="0">
                          <a:latin typeface="Cambria Math" panose="02040503050406030204" pitchFamily="18" charset="0"/>
                        </a:rPr>
                        <m:t> </m:t>
                      </m:r>
                      <m:r>
                        <a:rPr lang="en-IN" b="0" i="1" smtClean="0">
                          <a:latin typeface="Cambria Math" panose="02040503050406030204" pitchFamily="18" charset="0"/>
                        </a:rPr>
                        <m:t>𝑆𝑢𝑝𝑝𝑙𝑖𝑒𝑑</m:t>
                      </m:r>
                    </m:oMath>
                  </m:oMathPara>
                </a14:m>
                <a:endParaRPr lang="en-IN"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xmlns="" xmlns:a14="http://schemas.microsoft.com/office/drawing/2010/main" id="{6D78B53B-4E71-4B94-8DE7-F2BCBDF06B54}"/>
                  </a:ext>
                </a:extLst>
              </p:cNvPr>
              <p:cNvSpPr>
                <a:spLocks noGrp="1" noRot="1" noChangeAspect="1" noMove="1" noResize="1" noEditPoints="1" noAdjustHandles="1" noChangeArrowheads="1" noChangeShapeType="1" noTextEdit="1"/>
              </p:cNvSpPr>
              <p:nvPr>
                <p:ph idx="1"/>
              </p:nvPr>
            </p:nvSpPr>
            <p:spPr>
              <a:xfrm>
                <a:off x="914400" y="1417638"/>
                <a:ext cx="7772400" cy="4983162"/>
              </a:xfrm>
              <a:blipFill>
                <a:blip r:embed="rId2" cstate="print"/>
                <a:stretch>
                  <a:fillRect l="-784" t="-1346" r="-1020"/>
                </a:stretch>
              </a:blipFill>
            </p:spPr>
            <p:txBody>
              <a:bodyPr/>
              <a:lstStyle/>
              <a:p>
                <a:r>
                  <a:rPr lang="en-IN">
                    <a:noFill/>
                  </a:rPr>
                  <a:t> </a:t>
                </a:r>
              </a:p>
            </p:txBody>
          </p:sp>
        </mc:Fallback>
      </mc:AlternateContent>
      <p:sp>
        <p:nvSpPr>
          <p:cNvPr id="5" name="Slide Number Placeholder 4"/>
          <p:cNvSpPr>
            <a:spLocks noGrp="1"/>
          </p:cNvSpPr>
          <p:nvPr>
            <p:ph type="sldNum" sz="quarter" idx="12"/>
          </p:nvPr>
        </p:nvSpPr>
        <p:spPr/>
        <p:txBody>
          <a:bodyPr/>
          <a:lstStyle/>
          <a:p>
            <a:fld id="{7C7D6217-2CB0-4899-A90F-D165D154DCA2}" type="slidenum">
              <a:rPr lang="en-IN" smtClean="0"/>
              <a:pPr/>
              <a:t>7</a:t>
            </a:fld>
            <a:endParaRPr lang="en-IN"/>
          </a:p>
        </p:txBody>
      </p:sp>
    </p:spTree>
    <p:extLst>
      <p:ext uri="{BB962C8B-B14F-4D97-AF65-F5344CB8AC3E}">
        <p14:creationId xmlns:p14="http://schemas.microsoft.com/office/powerpoint/2010/main" xmlns="" val="1700285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84"/>
            <a:ext cx="8229600" cy="1143000"/>
          </a:xfrm>
        </p:spPr>
        <p:txBody>
          <a:bodyPr>
            <a:normAutofit/>
          </a:bodyPr>
          <a:lstStyle/>
          <a:p>
            <a:r>
              <a:rPr lang="en-US" b="1" dirty="0">
                <a:solidFill>
                  <a:srgbClr val="C00000"/>
                </a:solidFill>
                <a:cs typeface="Times New Roman" panose="02020603050405020304" pitchFamily="18" charset="0"/>
              </a:rPr>
              <a:t>SOURCES</a:t>
            </a:r>
            <a:r>
              <a:rPr lang="en-US" sz="3200" b="1" dirty="0">
                <a:latin typeface="Times New Roman" pitchFamily="18" charset="0"/>
                <a:cs typeface="Times New Roman" pitchFamily="18" charset="0"/>
              </a:rPr>
              <a:t> </a:t>
            </a:r>
          </a:p>
        </p:txBody>
      </p:sp>
      <p:sp>
        <p:nvSpPr>
          <p:cNvPr id="3" name="Content Placeholder 2"/>
          <p:cNvSpPr>
            <a:spLocks noGrp="1"/>
          </p:cNvSpPr>
          <p:nvPr>
            <p:ph idx="1"/>
          </p:nvPr>
        </p:nvSpPr>
        <p:spPr>
          <a:xfrm>
            <a:off x="457200" y="908720"/>
            <a:ext cx="8229600" cy="1584176"/>
          </a:xfrm>
        </p:spPr>
        <p:txBody>
          <a:bodyPr>
            <a:noAutofit/>
          </a:bodyPr>
          <a:lstStyle/>
          <a:p>
            <a:pPr algn="just"/>
            <a:r>
              <a:rPr lang="en-US" sz="2000" b="1" dirty="0">
                <a:latin typeface="Times New Roman" pitchFamily="18" charset="0"/>
                <a:cs typeface="Times New Roman" pitchFamily="18" charset="0"/>
              </a:rPr>
              <a:t>Sources</a:t>
            </a:r>
            <a:r>
              <a:rPr lang="en-US" sz="1800" b="1" dirty="0">
                <a:latin typeface="Times New Roman" pitchFamily="18" charset="0"/>
                <a:cs typeface="Times New Roman" pitchFamily="18" charset="0"/>
              </a:rPr>
              <a:t> -devices that are intended to supply energy to a circuit. A source is a voltage or current generator capable of supplying energy to a circuit. An active two-terminal element that supplies energy to a circuit is a source of energy. </a:t>
            </a:r>
          </a:p>
          <a:p>
            <a:pPr algn="just"/>
            <a:r>
              <a:rPr lang="en-US" sz="1800" b="1" dirty="0">
                <a:latin typeface="Times New Roman" pitchFamily="18" charset="0"/>
                <a:cs typeface="Times New Roman" pitchFamily="18" charset="0"/>
              </a:rPr>
              <a:t>Sources are categorized as : voltage sources and current sources. </a:t>
            </a:r>
          </a:p>
        </p:txBody>
      </p:sp>
      <p:pic>
        <p:nvPicPr>
          <p:cNvPr id="2050" name="Picture 2"/>
          <p:cNvPicPr>
            <a:picLocks noChangeAspect="1" noChangeArrowheads="1"/>
          </p:cNvPicPr>
          <p:nvPr/>
        </p:nvPicPr>
        <p:blipFill>
          <a:blip r:embed="rId2" cstate="print"/>
          <a:srcRect t="9454" r="11335"/>
          <a:stretch>
            <a:fillRect/>
          </a:stretch>
        </p:blipFill>
        <p:spPr bwMode="auto">
          <a:xfrm>
            <a:off x="2627784" y="2420888"/>
            <a:ext cx="4104456" cy="2276872"/>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7C7D6217-2CB0-4899-A90F-D165D154DCA2}" type="slidenum">
              <a:rPr lang="en-IN" smtClean="0"/>
              <a:pPr/>
              <a:t>8</a:t>
            </a:fld>
            <a:endParaRPr lang="en-IN"/>
          </a:p>
        </p:txBody>
      </p:sp>
    </p:spTree>
    <p:extLst>
      <p:ext uri="{BB962C8B-B14F-4D97-AF65-F5344CB8AC3E}">
        <p14:creationId xmlns:p14="http://schemas.microsoft.com/office/powerpoint/2010/main" xmlns="" val="3329747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40768"/>
            <a:ext cx="8229600" cy="4525963"/>
          </a:xfrm>
        </p:spPr>
        <p:txBody>
          <a:bodyPr>
            <a:noAutofit/>
          </a:bodyPr>
          <a:lstStyle/>
          <a:p>
            <a:pPr algn="just"/>
            <a:r>
              <a:rPr lang="en-US" sz="2000" b="1" dirty="0">
                <a:latin typeface="Times New Roman" pitchFamily="18" charset="0"/>
                <a:cs typeface="Times New Roman" pitchFamily="18" charset="0"/>
              </a:rPr>
              <a:t>Independent source: a voltage or current generator not dependent on other circuit variables. </a:t>
            </a:r>
          </a:p>
          <a:p>
            <a:pPr algn="just"/>
            <a:r>
              <a:rPr lang="en-US" sz="2000" b="1" dirty="0">
                <a:latin typeface="Times New Roman" pitchFamily="18" charset="0"/>
                <a:cs typeface="Times New Roman" pitchFamily="18" charset="0"/>
              </a:rPr>
              <a:t>Independent voltage source: provides a specified voltage independent of the current through it and is independent of any other circuit variable. </a:t>
            </a:r>
          </a:p>
          <a:p>
            <a:pPr lvl="1" algn="just"/>
            <a:r>
              <a:rPr lang="en-US" sz="1600" b="1" dirty="0">
                <a:solidFill>
                  <a:schemeClr val="tx2"/>
                </a:solidFill>
                <a:latin typeface="Times New Roman" pitchFamily="18" charset="0"/>
                <a:cs typeface="Times New Roman" pitchFamily="18" charset="0"/>
              </a:rPr>
              <a:t>For example, a voltage source specified by v(t) = 9 volts will have a voltage of 9 volts regardless of the circuit in which it is used. In contrast, the current of the voltage source depends on the circuit in which the source is used.</a:t>
            </a:r>
          </a:p>
          <a:p>
            <a:pPr algn="just"/>
            <a:r>
              <a:rPr lang="en-US" sz="2000" b="1" dirty="0">
                <a:latin typeface="Times New Roman" pitchFamily="18" charset="0"/>
                <a:cs typeface="Times New Roman" pitchFamily="18" charset="0"/>
              </a:rPr>
              <a:t>Independent current source: provides a current, independent of the voltage across the source element and is independent of any other circuit variable. </a:t>
            </a:r>
          </a:p>
          <a:p>
            <a:pPr lvl="1" algn="just"/>
            <a:r>
              <a:rPr lang="en-US" sz="1600" b="1" dirty="0">
                <a:solidFill>
                  <a:schemeClr val="tx2"/>
                </a:solidFill>
                <a:latin typeface="Times New Roman" pitchFamily="18" charset="0"/>
                <a:cs typeface="Times New Roman" pitchFamily="18" charset="0"/>
              </a:rPr>
              <a:t>For example, a current source specified by </a:t>
            </a:r>
            <a:r>
              <a:rPr lang="en-US" sz="1600" b="1" dirty="0" err="1">
                <a:solidFill>
                  <a:schemeClr val="tx2"/>
                </a:solidFill>
                <a:latin typeface="Times New Roman" pitchFamily="18" charset="0"/>
                <a:cs typeface="Times New Roman" pitchFamily="18" charset="0"/>
              </a:rPr>
              <a:t>i</a:t>
            </a:r>
            <a:r>
              <a:rPr lang="en-US" sz="1600" b="1" dirty="0">
                <a:solidFill>
                  <a:schemeClr val="tx2"/>
                </a:solidFill>
                <a:latin typeface="Times New Roman" pitchFamily="18" charset="0"/>
                <a:cs typeface="Times New Roman" pitchFamily="18" charset="0"/>
              </a:rPr>
              <a:t>(t) = —0.25 milliamps will have a current of —0.25 milliamps in any circuit in which it is used. The voltage across this current source will depend on the particular circuit. </a:t>
            </a:r>
          </a:p>
          <a:p>
            <a:pPr algn="just"/>
            <a:endParaRPr lang="en-US" sz="2000" b="1" dirty="0">
              <a:latin typeface="Times New Roman" pitchFamily="18" charset="0"/>
              <a:cs typeface="Times New Roman" pitchFamily="18" charset="0"/>
            </a:endParaRPr>
          </a:p>
          <a:p>
            <a:pPr algn="just"/>
            <a:endParaRPr lang="en-IN" sz="2000" b="1" dirty="0">
              <a:latin typeface="Times New Roman" pitchFamily="18" charset="0"/>
              <a:cs typeface="Times New Roman" pitchFamily="18" charset="0"/>
            </a:endParaRPr>
          </a:p>
        </p:txBody>
      </p:sp>
      <p:sp>
        <p:nvSpPr>
          <p:cNvPr id="4" name="Title 1"/>
          <p:cNvSpPr>
            <a:spLocks noGrp="1"/>
          </p:cNvSpPr>
          <p:nvPr>
            <p:ph type="title"/>
          </p:nvPr>
        </p:nvSpPr>
        <p:spPr>
          <a:xfrm>
            <a:off x="457200" y="274638"/>
            <a:ext cx="8229600" cy="1143000"/>
          </a:xfrm>
        </p:spPr>
        <p:txBody>
          <a:bodyPr>
            <a:normAutofit/>
          </a:bodyPr>
          <a:lstStyle/>
          <a:p>
            <a:r>
              <a:rPr lang="en-US" b="1" dirty="0">
                <a:solidFill>
                  <a:srgbClr val="C00000"/>
                </a:solidFill>
                <a:cs typeface="Times New Roman" panose="02020603050405020304" pitchFamily="18" charset="0"/>
              </a:rPr>
              <a:t>INDEPENDENT SOURCES </a:t>
            </a:r>
          </a:p>
        </p:txBody>
      </p:sp>
      <p:sp>
        <p:nvSpPr>
          <p:cNvPr id="5" name="Slide Number Placeholder 4"/>
          <p:cNvSpPr>
            <a:spLocks noGrp="1"/>
          </p:cNvSpPr>
          <p:nvPr>
            <p:ph type="sldNum" sz="quarter" idx="12"/>
          </p:nvPr>
        </p:nvSpPr>
        <p:spPr/>
        <p:txBody>
          <a:bodyPr/>
          <a:lstStyle/>
          <a:p>
            <a:fld id="{7C7D6217-2CB0-4899-A90F-D165D154DCA2}" type="slidenum">
              <a:rPr lang="en-IN" smtClean="0"/>
              <a:pPr/>
              <a:t>9</a:t>
            </a:fld>
            <a:endParaRPr lang="en-IN"/>
          </a:p>
        </p:txBody>
      </p:sp>
    </p:spTree>
    <p:extLst>
      <p:ext uri="{BB962C8B-B14F-4D97-AF65-F5344CB8AC3E}">
        <p14:creationId xmlns:p14="http://schemas.microsoft.com/office/powerpoint/2010/main" xmlns="" val="1969588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80728"/>
            <a:ext cx="8229600" cy="2581747"/>
          </a:xfrm>
        </p:spPr>
        <p:txBody>
          <a:bodyPr>
            <a:noAutofit/>
          </a:bodyPr>
          <a:lstStyle/>
          <a:p>
            <a:pPr algn="just"/>
            <a:r>
              <a:rPr lang="en-US" sz="1800" b="1" dirty="0">
                <a:latin typeface="Times New Roman" pitchFamily="18" charset="0"/>
                <a:cs typeface="Times New Roman" pitchFamily="18" charset="0"/>
              </a:rPr>
              <a:t>Dependent sources model the situation in which the voltage or current of one circuit element is proportional to the voltage or current of the second circuit element. </a:t>
            </a:r>
          </a:p>
          <a:p>
            <a:pPr lvl="1" algn="just"/>
            <a:r>
              <a:rPr lang="en-US" sz="1800" b="1" dirty="0">
                <a:latin typeface="Times New Roman" pitchFamily="18" charset="0"/>
                <a:cs typeface="Times New Roman" pitchFamily="18" charset="0"/>
              </a:rPr>
              <a:t>(In contrast, a resistor is a circuit element in which the voltage of the element is proportional to the current in the same element.) </a:t>
            </a:r>
          </a:p>
          <a:p>
            <a:pPr algn="just"/>
            <a:r>
              <a:rPr lang="en-US" sz="1800" b="1" dirty="0">
                <a:latin typeface="Times New Roman" pitchFamily="18" charset="0"/>
                <a:cs typeface="Times New Roman" pitchFamily="18" charset="0"/>
              </a:rPr>
              <a:t>Dependent sources are used to model electronic devices such as transistors and amplifiers. For example, the output voltage of an amplifier is proportional to the input voltage of that amplifier, so an amplifier can be modeled as a dependent source.</a:t>
            </a:r>
          </a:p>
        </p:txBody>
      </p:sp>
      <p:sp>
        <p:nvSpPr>
          <p:cNvPr id="6" name="Title 1"/>
          <p:cNvSpPr>
            <a:spLocks noGrp="1"/>
          </p:cNvSpPr>
          <p:nvPr>
            <p:ph type="title"/>
          </p:nvPr>
        </p:nvSpPr>
        <p:spPr>
          <a:xfrm>
            <a:off x="457200" y="53752"/>
            <a:ext cx="8229600" cy="1143000"/>
          </a:xfrm>
        </p:spPr>
        <p:txBody>
          <a:bodyPr>
            <a:normAutofit/>
          </a:bodyPr>
          <a:lstStyle/>
          <a:p>
            <a:r>
              <a:rPr lang="en-US" b="1" dirty="0">
                <a:solidFill>
                  <a:srgbClr val="C00000"/>
                </a:solidFill>
                <a:cs typeface="Times New Roman" panose="02020603050405020304" pitchFamily="18" charset="0"/>
              </a:rPr>
              <a:t>DEPENDENT SOURCES </a:t>
            </a:r>
          </a:p>
        </p:txBody>
      </p:sp>
      <p:pic>
        <p:nvPicPr>
          <p:cNvPr id="7" name="Picture 2"/>
          <p:cNvPicPr>
            <a:picLocks noChangeAspect="1" noChangeArrowheads="1"/>
          </p:cNvPicPr>
          <p:nvPr/>
        </p:nvPicPr>
        <p:blipFill>
          <a:blip r:embed="rId2" cstate="print"/>
          <a:srcRect l="9681" t="51797" r="61540" b="10797"/>
          <a:stretch>
            <a:fillRect/>
          </a:stretch>
        </p:blipFill>
        <p:spPr bwMode="auto">
          <a:xfrm>
            <a:off x="5364088" y="3717032"/>
            <a:ext cx="3744416" cy="2736304"/>
          </a:xfrm>
          <a:prstGeom prst="rect">
            <a:avLst/>
          </a:prstGeom>
          <a:noFill/>
          <a:ln w="9525">
            <a:noFill/>
            <a:miter lim="800000"/>
            <a:headEnd/>
            <a:tailEnd/>
          </a:ln>
        </p:spPr>
      </p:pic>
      <p:sp>
        <p:nvSpPr>
          <p:cNvPr id="9" name="TextBox 8"/>
          <p:cNvSpPr txBox="1"/>
          <p:nvPr/>
        </p:nvSpPr>
        <p:spPr>
          <a:xfrm>
            <a:off x="827584" y="4337809"/>
            <a:ext cx="4464496" cy="1323439"/>
          </a:xfrm>
          <a:prstGeom prst="rect">
            <a:avLst/>
          </a:prstGeom>
          <a:noFill/>
        </p:spPr>
        <p:txBody>
          <a:bodyPr wrap="square" rtlCol="0">
            <a:spAutoFit/>
          </a:bodyPr>
          <a:lstStyle/>
          <a:p>
            <a:pPr algn="just"/>
            <a:r>
              <a:rPr lang="en-US" sz="1600" b="1" dirty="0">
                <a:latin typeface="Times New Roman" pitchFamily="18" charset="0"/>
                <a:cs typeface="Times New Roman" pitchFamily="18" charset="0"/>
              </a:rPr>
              <a:t>Fig. (a) shows a circuit that includes a dependent source represented by the diamond symbol. The plus/minus signs identify the dependent source as a voltage source and indicate the reference polarity of the element voltage. </a:t>
            </a:r>
          </a:p>
        </p:txBody>
      </p:sp>
      <p:sp>
        <p:nvSpPr>
          <p:cNvPr id="8" name="Slide Number Placeholder 7"/>
          <p:cNvSpPr>
            <a:spLocks noGrp="1"/>
          </p:cNvSpPr>
          <p:nvPr>
            <p:ph type="sldNum" sz="quarter" idx="12"/>
          </p:nvPr>
        </p:nvSpPr>
        <p:spPr/>
        <p:txBody>
          <a:bodyPr/>
          <a:lstStyle/>
          <a:p>
            <a:fld id="{7C7D6217-2CB0-4899-A90F-D165D154DCA2}" type="slidenum">
              <a:rPr lang="en-IN" smtClean="0"/>
              <a:pPr/>
              <a:t>10</a:t>
            </a:fld>
            <a:endParaRPr lang="en-IN"/>
          </a:p>
        </p:txBody>
      </p:sp>
    </p:spTree>
    <p:extLst>
      <p:ext uri="{BB962C8B-B14F-4D97-AF65-F5344CB8AC3E}">
        <p14:creationId xmlns:p14="http://schemas.microsoft.com/office/powerpoint/2010/main" xmlns="" val="3243915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rotWithShape="1">
          <a:blip r:embed="rId2" cstate="print"/>
          <a:srcRect l="73740" t="55907" r="14861" b="18500"/>
          <a:stretch/>
        </p:blipFill>
        <p:spPr bwMode="auto">
          <a:xfrm>
            <a:off x="6696744" y="736535"/>
            <a:ext cx="1619672" cy="2044393"/>
          </a:xfrm>
          <a:prstGeom prst="rect">
            <a:avLst/>
          </a:prstGeom>
          <a:noFill/>
          <a:ln w="9525">
            <a:noFill/>
            <a:miter lim="800000"/>
            <a:headEnd/>
            <a:tailEnd/>
          </a:ln>
        </p:spPr>
      </p:pic>
      <p:sp>
        <p:nvSpPr>
          <p:cNvPr id="4" name="TextBox 3"/>
          <p:cNvSpPr txBox="1"/>
          <p:nvPr/>
        </p:nvSpPr>
        <p:spPr>
          <a:xfrm>
            <a:off x="35496" y="2564904"/>
            <a:ext cx="4357218" cy="830997"/>
          </a:xfrm>
          <a:prstGeom prst="rect">
            <a:avLst/>
          </a:prstGeom>
          <a:noFill/>
        </p:spPr>
        <p:txBody>
          <a:bodyPr wrap="none" rtlCol="0">
            <a:spAutoFit/>
          </a:bodyPr>
          <a:lstStyle/>
          <a:p>
            <a:pPr marL="342900" indent="-342900">
              <a:buFont typeface="Wingdings" pitchFamily="2" charset="2"/>
              <a:buChar char="v"/>
            </a:pPr>
            <a:r>
              <a:rPr lang="en-US" sz="1600" b="1" dirty="0">
                <a:latin typeface="Times New Roman" pitchFamily="18" charset="0"/>
                <a:cs typeface="Times New Roman" pitchFamily="18" charset="0"/>
              </a:rPr>
              <a:t>Current-Controlled Voltage Source (CCVS)</a:t>
            </a:r>
          </a:p>
          <a:p>
            <a:pPr marL="800100" lvl="1" indent="-342900">
              <a:buFont typeface="Arial" pitchFamily="34" charset="0"/>
              <a:buChar char="•"/>
            </a:pPr>
            <a:r>
              <a:rPr lang="en-US" sz="1600" b="1" dirty="0">
                <a:latin typeface="Times New Roman" pitchFamily="18" charset="0"/>
                <a:cs typeface="Times New Roman" pitchFamily="18" charset="0"/>
              </a:rPr>
              <a:t> r is the gain of the CCVS.</a:t>
            </a:r>
          </a:p>
          <a:p>
            <a:pPr marL="800100" lvl="1" indent="-342900">
              <a:buFont typeface="Arial" pitchFamily="34" charset="0"/>
              <a:buChar char="•"/>
            </a:pPr>
            <a:r>
              <a:rPr lang="en-US" sz="1600" b="1" dirty="0">
                <a:latin typeface="Times New Roman" pitchFamily="18" charset="0"/>
                <a:cs typeface="Times New Roman" pitchFamily="18" charset="0"/>
              </a:rPr>
              <a:t> r has units of volts/ampere. </a:t>
            </a:r>
          </a:p>
        </p:txBody>
      </p:sp>
      <p:pic>
        <p:nvPicPr>
          <p:cNvPr id="5" name="Picture 3"/>
          <p:cNvPicPr>
            <a:picLocks noChangeAspect="1" noChangeArrowheads="1"/>
          </p:cNvPicPr>
          <p:nvPr/>
        </p:nvPicPr>
        <p:blipFill rotWithShape="1">
          <a:blip r:embed="rId2" cstate="print"/>
          <a:srcRect l="73653" t="29329" r="14861" b="47161"/>
          <a:stretch/>
        </p:blipFill>
        <p:spPr bwMode="auto">
          <a:xfrm>
            <a:off x="1739205" y="736535"/>
            <a:ext cx="1619672" cy="1863824"/>
          </a:xfrm>
          <a:prstGeom prst="rect">
            <a:avLst/>
          </a:prstGeom>
          <a:noFill/>
          <a:ln w="9525">
            <a:noFill/>
            <a:miter lim="800000"/>
            <a:headEnd/>
            <a:tailEnd/>
          </a:ln>
        </p:spPr>
      </p:pic>
      <p:sp>
        <p:nvSpPr>
          <p:cNvPr id="6" name="TextBox 5"/>
          <p:cNvSpPr txBox="1"/>
          <p:nvPr/>
        </p:nvSpPr>
        <p:spPr>
          <a:xfrm>
            <a:off x="4572000" y="2564904"/>
            <a:ext cx="4348498" cy="830997"/>
          </a:xfrm>
          <a:prstGeom prst="rect">
            <a:avLst/>
          </a:prstGeom>
          <a:noFill/>
        </p:spPr>
        <p:txBody>
          <a:bodyPr wrap="none" rtlCol="0">
            <a:spAutoFit/>
          </a:bodyPr>
          <a:lstStyle/>
          <a:p>
            <a:pPr marL="342900" indent="-342900">
              <a:buFont typeface="Wingdings" pitchFamily="2" charset="2"/>
              <a:buChar char="v"/>
            </a:pPr>
            <a:r>
              <a:rPr lang="en-US" sz="1600" b="1" dirty="0">
                <a:latin typeface="Times New Roman" pitchFamily="18" charset="0"/>
                <a:cs typeface="Times New Roman" pitchFamily="18" charset="0"/>
              </a:rPr>
              <a:t>Voltage-Controlled Voltage Source (VCVS) </a:t>
            </a:r>
          </a:p>
          <a:p>
            <a:pPr marL="800100" lvl="1" indent="-342900">
              <a:buFont typeface="Arial" pitchFamily="34" charset="0"/>
              <a:buChar char="•"/>
            </a:pPr>
            <a:r>
              <a:rPr lang="en-US" sz="1600" b="1" dirty="0">
                <a:latin typeface="Times New Roman" pitchFamily="18" charset="0"/>
                <a:cs typeface="Times New Roman" pitchFamily="18" charset="0"/>
              </a:rPr>
              <a:t>b is the gain of the VCVS. </a:t>
            </a:r>
          </a:p>
          <a:p>
            <a:pPr marL="800100" lvl="1" indent="-342900">
              <a:buFont typeface="Arial" pitchFamily="34" charset="0"/>
              <a:buChar char="•"/>
            </a:pPr>
            <a:r>
              <a:rPr lang="en-US" sz="1600" b="1" dirty="0">
                <a:latin typeface="Times New Roman" pitchFamily="18" charset="0"/>
                <a:cs typeface="Times New Roman" pitchFamily="18" charset="0"/>
              </a:rPr>
              <a:t>b has units of volts/volt.</a:t>
            </a:r>
          </a:p>
        </p:txBody>
      </p:sp>
      <p:pic>
        <p:nvPicPr>
          <p:cNvPr id="6148" name="Picture 4"/>
          <p:cNvPicPr>
            <a:picLocks noChangeAspect="1" noChangeArrowheads="1"/>
          </p:cNvPicPr>
          <p:nvPr/>
        </p:nvPicPr>
        <p:blipFill rotWithShape="1">
          <a:blip r:embed="rId3" cstate="print"/>
          <a:srcRect l="75710" t="20469" r="14861" b="56890"/>
          <a:stretch/>
        </p:blipFill>
        <p:spPr bwMode="auto">
          <a:xfrm>
            <a:off x="2303240" y="3573016"/>
            <a:ext cx="1440160" cy="1944216"/>
          </a:xfrm>
          <a:prstGeom prst="rect">
            <a:avLst/>
          </a:prstGeom>
          <a:noFill/>
          <a:ln w="9525">
            <a:noFill/>
            <a:miter lim="800000"/>
            <a:headEnd/>
            <a:tailEnd/>
          </a:ln>
        </p:spPr>
      </p:pic>
      <p:pic>
        <p:nvPicPr>
          <p:cNvPr id="8" name="Picture 4"/>
          <p:cNvPicPr>
            <a:picLocks noChangeAspect="1" noChangeArrowheads="1"/>
          </p:cNvPicPr>
          <p:nvPr/>
        </p:nvPicPr>
        <p:blipFill rotWithShape="1">
          <a:blip r:embed="rId3" cstate="print"/>
          <a:srcRect l="75571" t="47917" r="14861" b="29328"/>
          <a:stretch/>
        </p:blipFill>
        <p:spPr bwMode="auto">
          <a:xfrm>
            <a:off x="7092280" y="3527997"/>
            <a:ext cx="1440160" cy="1925611"/>
          </a:xfrm>
          <a:prstGeom prst="rect">
            <a:avLst/>
          </a:prstGeom>
          <a:noFill/>
          <a:ln w="9525">
            <a:noFill/>
            <a:miter lim="800000"/>
            <a:headEnd/>
            <a:tailEnd/>
          </a:ln>
        </p:spPr>
      </p:pic>
      <p:sp>
        <p:nvSpPr>
          <p:cNvPr id="9" name="TextBox 8"/>
          <p:cNvSpPr txBox="1"/>
          <p:nvPr/>
        </p:nvSpPr>
        <p:spPr>
          <a:xfrm>
            <a:off x="107504" y="5602014"/>
            <a:ext cx="4412234" cy="830997"/>
          </a:xfrm>
          <a:prstGeom prst="rect">
            <a:avLst/>
          </a:prstGeom>
          <a:noFill/>
        </p:spPr>
        <p:txBody>
          <a:bodyPr wrap="none" rtlCol="0">
            <a:spAutoFit/>
          </a:bodyPr>
          <a:lstStyle/>
          <a:p>
            <a:pPr marL="342900" indent="-342900">
              <a:buFont typeface="Wingdings" pitchFamily="2" charset="2"/>
              <a:buChar char="v"/>
            </a:pPr>
            <a:r>
              <a:rPr lang="en-US" sz="1600" b="1" dirty="0">
                <a:latin typeface="Times New Roman" pitchFamily="18" charset="0"/>
                <a:cs typeface="Times New Roman" pitchFamily="18" charset="0"/>
              </a:rPr>
              <a:t>Voltage-Controlled Current Source (VCCS) </a:t>
            </a:r>
          </a:p>
          <a:p>
            <a:pPr marL="800100" lvl="1" indent="-342900">
              <a:buFont typeface="Arial" pitchFamily="34" charset="0"/>
              <a:buChar char="•"/>
            </a:pPr>
            <a:r>
              <a:rPr lang="en-US" sz="1600" b="1" dirty="0">
                <a:latin typeface="Times New Roman" pitchFamily="18" charset="0"/>
                <a:cs typeface="Times New Roman" pitchFamily="18" charset="0"/>
              </a:rPr>
              <a:t>g is the gain of the VCCS. </a:t>
            </a:r>
          </a:p>
          <a:p>
            <a:pPr marL="800100" lvl="1" indent="-342900">
              <a:buFont typeface="Arial" pitchFamily="34" charset="0"/>
              <a:buChar char="•"/>
            </a:pPr>
            <a:r>
              <a:rPr lang="en-US" sz="1600" b="1" dirty="0">
                <a:latin typeface="Times New Roman" pitchFamily="18" charset="0"/>
                <a:cs typeface="Times New Roman" pitchFamily="18" charset="0"/>
              </a:rPr>
              <a:t>g has units of amperes/volt.</a:t>
            </a:r>
          </a:p>
        </p:txBody>
      </p:sp>
      <p:sp>
        <p:nvSpPr>
          <p:cNvPr id="10" name="TextBox 9"/>
          <p:cNvSpPr txBox="1"/>
          <p:nvPr/>
        </p:nvSpPr>
        <p:spPr>
          <a:xfrm>
            <a:off x="4644008" y="5589240"/>
            <a:ext cx="4472250" cy="830997"/>
          </a:xfrm>
          <a:prstGeom prst="rect">
            <a:avLst/>
          </a:prstGeom>
          <a:noFill/>
        </p:spPr>
        <p:txBody>
          <a:bodyPr wrap="none" rtlCol="0">
            <a:spAutoFit/>
          </a:bodyPr>
          <a:lstStyle/>
          <a:p>
            <a:pPr marL="342900" indent="-342900">
              <a:buFont typeface="Wingdings" pitchFamily="2" charset="2"/>
              <a:buChar char="v"/>
            </a:pPr>
            <a:r>
              <a:rPr lang="en-US" sz="1600" b="1" dirty="0">
                <a:latin typeface="Times New Roman" pitchFamily="18" charset="0"/>
                <a:cs typeface="Times New Roman" pitchFamily="18" charset="0"/>
              </a:rPr>
              <a:t>Current-Controlled Current Source (CCCS) </a:t>
            </a:r>
          </a:p>
          <a:p>
            <a:pPr marL="800100" lvl="1" indent="-342900">
              <a:buFont typeface="Arial" pitchFamily="34" charset="0"/>
              <a:buChar char="•"/>
            </a:pPr>
            <a:r>
              <a:rPr lang="en-US" sz="1600" b="1" dirty="0">
                <a:latin typeface="Times New Roman" pitchFamily="18" charset="0"/>
                <a:cs typeface="Times New Roman" pitchFamily="18" charset="0"/>
              </a:rPr>
              <a:t>d is the gain of the CCCS. </a:t>
            </a:r>
          </a:p>
          <a:p>
            <a:pPr marL="800100" lvl="1" indent="-342900">
              <a:buFont typeface="Arial" pitchFamily="34" charset="0"/>
              <a:buChar char="•"/>
            </a:pPr>
            <a:r>
              <a:rPr lang="en-US" sz="1600" b="1" dirty="0">
                <a:latin typeface="Times New Roman" pitchFamily="18" charset="0"/>
                <a:cs typeface="Times New Roman" pitchFamily="18" charset="0"/>
              </a:rPr>
              <a:t>d has units of amperes/ampere.</a:t>
            </a:r>
          </a:p>
        </p:txBody>
      </p:sp>
      <p:sp>
        <p:nvSpPr>
          <p:cNvPr id="11" name="Title 1"/>
          <p:cNvSpPr txBox="1">
            <a:spLocks/>
          </p:cNvSpPr>
          <p:nvPr/>
        </p:nvSpPr>
        <p:spPr>
          <a:xfrm>
            <a:off x="133672" y="197768"/>
            <a:ext cx="8686800" cy="710952"/>
          </a:xfrm>
          <a:prstGeom prst="rect">
            <a:avLst/>
          </a:prstGeom>
        </p:spPr>
        <p:txBody>
          <a:bodyP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600" b="1" dirty="0">
                <a:solidFill>
                  <a:srgbClr val="C00000"/>
                </a:solidFill>
                <a:latin typeface="+mj-lt"/>
                <a:ea typeface="+mj-ea"/>
                <a:cs typeface="Times New Roman" panose="02020603050405020304" pitchFamily="18" charset="0"/>
              </a:rPr>
              <a:t>TYPES OF DEPENDENT SOURCES: SYMBOLS</a:t>
            </a:r>
          </a:p>
        </p:txBody>
      </p:sp>
      <p:sp>
        <p:nvSpPr>
          <p:cNvPr id="12" name="Slide Number Placeholder 11"/>
          <p:cNvSpPr>
            <a:spLocks noGrp="1"/>
          </p:cNvSpPr>
          <p:nvPr>
            <p:ph type="sldNum" sz="quarter" idx="12"/>
          </p:nvPr>
        </p:nvSpPr>
        <p:spPr/>
        <p:txBody>
          <a:bodyPr/>
          <a:lstStyle/>
          <a:p>
            <a:fld id="{7C7D6217-2CB0-4899-A90F-D165D154DCA2}" type="slidenum">
              <a:rPr lang="en-IN" smtClean="0"/>
              <a:pPr/>
              <a:t>11</a:t>
            </a:fld>
            <a:endParaRPr lang="en-IN"/>
          </a:p>
        </p:txBody>
      </p:sp>
    </p:spTree>
    <p:extLst>
      <p:ext uri="{BB962C8B-B14F-4D97-AF65-F5344CB8AC3E}">
        <p14:creationId xmlns:p14="http://schemas.microsoft.com/office/powerpoint/2010/main" xmlns="" val="3003614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cs typeface="Times New Roman" panose="02020603050405020304" pitchFamily="18" charset="0"/>
              </a:rPr>
              <a:t>Kirchhoff’s Laws</a:t>
            </a:r>
          </a:p>
        </p:txBody>
      </p:sp>
      <p:sp>
        <p:nvSpPr>
          <p:cNvPr id="3" name="Content Placeholder 2"/>
          <p:cNvSpPr>
            <a:spLocks noGrp="1"/>
          </p:cNvSpPr>
          <p:nvPr>
            <p:ph idx="1"/>
          </p:nvPr>
        </p:nvSpPr>
        <p:spPr/>
        <p:txBody>
          <a:bodyPr>
            <a:noAutofit/>
          </a:bodyPr>
          <a:lstStyle/>
          <a:p>
            <a:pPr algn="just"/>
            <a:r>
              <a:rPr lang="en-US" sz="2000" b="1" dirty="0">
                <a:latin typeface="Times New Roman" pitchFamily="18" charset="0"/>
                <a:cs typeface="Times New Roman" pitchFamily="18" charset="0"/>
              </a:rPr>
              <a:t>In 1847, Gustav </a:t>
            </a:r>
            <a:r>
              <a:rPr lang="en-US" sz="2000" b="1" dirty="0">
                <a:solidFill>
                  <a:srgbClr val="C00000"/>
                </a:solidFill>
                <a:latin typeface="Times New Roman" pitchFamily="18" charset="0"/>
                <a:cs typeface="Times New Roman" pitchFamily="18" charset="0"/>
              </a:rPr>
              <a:t>Robert Kirchhoff</a:t>
            </a:r>
            <a:r>
              <a:rPr lang="en-US" sz="2000" b="1" dirty="0">
                <a:latin typeface="Times New Roman" pitchFamily="18" charset="0"/>
                <a:cs typeface="Times New Roman" pitchFamily="18" charset="0"/>
              </a:rPr>
              <a:t>, a professor at the University of Berlin, </a:t>
            </a:r>
            <a:r>
              <a:rPr lang="en-US" sz="2000" b="1" dirty="0">
                <a:solidFill>
                  <a:srgbClr val="C00000"/>
                </a:solidFill>
                <a:latin typeface="Times New Roman" pitchFamily="18" charset="0"/>
                <a:cs typeface="Times New Roman" pitchFamily="18" charset="0"/>
              </a:rPr>
              <a:t>formulated two important laws</a:t>
            </a:r>
            <a:r>
              <a:rPr lang="en-US" sz="2000" b="1" dirty="0">
                <a:latin typeface="Times New Roman" pitchFamily="18" charset="0"/>
                <a:cs typeface="Times New Roman" pitchFamily="18" charset="0"/>
              </a:rPr>
              <a:t> that provide the foundation for analysis of electric circuits. </a:t>
            </a:r>
            <a:r>
              <a:rPr lang="en-US" sz="2000" b="1" dirty="0">
                <a:solidFill>
                  <a:srgbClr val="C00000"/>
                </a:solidFill>
                <a:latin typeface="Times New Roman" pitchFamily="18" charset="0"/>
                <a:cs typeface="Times New Roman" pitchFamily="18" charset="0"/>
              </a:rPr>
              <a:t>These laws are referred to as Kirchhoff’s current law (KCL) and Kirchhoff’s voltage law (KVL). </a:t>
            </a:r>
          </a:p>
          <a:p>
            <a:pPr algn="just"/>
            <a:r>
              <a:rPr lang="en-US" sz="2000" b="1" dirty="0">
                <a:latin typeface="Times New Roman" pitchFamily="18" charset="0"/>
                <a:cs typeface="Times New Roman" pitchFamily="18" charset="0"/>
              </a:rPr>
              <a:t>Kirchhoff’s laws are a consequence of </a:t>
            </a:r>
            <a:r>
              <a:rPr lang="en-US" sz="2000" b="1" dirty="0">
                <a:solidFill>
                  <a:srgbClr val="C00000"/>
                </a:solidFill>
                <a:latin typeface="Times New Roman" pitchFamily="18" charset="0"/>
                <a:cs typeface="Times New Roman" pitchFamily="18" charset="0"/>
              </a:rPr>
              <a:t>conservation of charge and conservation of energy</a:t>
            </a:r>
          </a:p>
          <a:p>
            <a:pPr algn="just"/>
            <a:r>
              <a:rPr lang="en-US" sz="2000" b="1" dirty="0">
                <a:latin typeface="Times New Roman" pitchFamily="18" charset="0"/>
                <a:cs typeface="Times New Roman" pitchFamily="18" charset="0"/>
              </a:rPr>
              <a:t>Kirchhoff’s current law states that the algebraic sum (</a:t>
            </a:r>
            <a:r>
              <a:rPr lang="en-US" sz="2000" b="1" dirty="0" err="1">
                <a:latin typeface="Times New Roman" pitchFamily="18" charset="0"/>
                <a:cs typeface="Times New Roman" pitchFamily="18" charset="0"/>
              </a:rPr>
              <a:t>i.e</a:t>
            </a:r>
            <a:r>
              <a:rPr lang="en-US" sz="2000" b="1" dirty="0">
                <a:latin typeface="Times New Roman" pitchFamily="18" charset="0"/>
                <a:cs typeface="Times New Roman" pitchFamily="18" charset="0"/>
              </a:rPr>
              <a:t> taking reference directions into account) of the currents entering any node is identically zero for all instants of time.</a:t>
            </a:r>
          </a:p>
          <a:p>
            <a:pPr algn="just"/>
            <a:endParaRPr lang="en-US" sz="2800" b="1" dirty="0">
              <a:latin typeface="Times New Roman" pitchFamily="18" charset="0"/>
              <a:cs typeface="Times New Roman" pitchFamily="18" charset="0"/>
            </a:endParaRPr>
          </a:p>
          <a:p>
            <a:pPr lvl="1" algn="just"/>
            <a:r>
              <a:rPr lang="en-US" sz="2000" b="1" dirty="0">
                <a:solidFill>
                  <a:srgbClr val="C00000"/>
                </a:solidFill>
                <a:latin typeface="Times New Roman" pitchFamily="18" charset="0"/>
                <a:cs typeface="Times New Roman" pitchFamily="18" charset="0"/>
              </a:rPr>
              <a:t>Kirchhoff’s current law (KCL): The algebraic sum of the currents into a node at any instant is zero. </a:t>
            </a:r>
          </a:p>
          <a:p>
            <a:pPr algn="just"/>
            <a:endParaRPr lang="en-US" sz="20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7C7D6217-2CB0-4899-A90F-D165D154DCA2}" type="slidenum">
              <a:rPr lang="en-IN" smtClean="0"/>
              <a:pPr/>
              <a:t>12</a:t>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5733256"/>
            <a:ext cx="8229600" cy="648072"/>
          </a:xfrm>
        </p:spPr>
        <p:txBody>
          <a:bodyPr>
            <a:noAutofit/>
          </a:bodyPr>
          <a:lstStyle/>
          <a:p>
            <a:pPr algn="just">
              <a:buNone/>
            </a:pPr>
            <a:r>
              <a:rPr lang="en-US" sz="1600" b="1" dirty="0">
                <a:latin typeface="Times New Roman" pitchFamily="18" charset="0"/>
                <a:cs typeface="Times New Roman" pitchFamily="18" charset="0"/>
              </a:rPr>
              <a:t>FIGURE  (a) An electric circuit. (b) The same circuit, redrawn using straight lines and 				horizontal and vertical elements.</a:t>
            </a:r>
          </a:p>
        </p:txBody>
      </p:sp>
      <p:pic>
        <p:nvPicPr>
          <p:cNvPr id="1027" name="Picture 3"/>
          <p:cNvPicPr>
            <a:picLocks noChangeAspect="1" noChangeArrowheads="1"/>
          </p:cNvPicPr>
          <p:nvPr/>
        </p:nvPicPr>
        <p:blipFill>
          <a:blip r:embed="rId2" cstate="print"/>
          <a:srcRect l="2138"/>
          <a:stretch>
            <a:fillRect/>
          </a:stretch>
        </p:blipFill>
        <p:spPr bwMode="auto">
          <a:xfrm>
            <a:off x="0" y="2492896"/>
            <a:ext cx="4855173" cy="3090292"/>
          </a:xfrm>
          <a:prstGeom prst="rect">
            <a:avLst/>
          </a:prstGeom>
          <a:noFill/>
          <a:ln w="9525">
            <a:noFill/>
            <a:miter lim="800000"/>
            <a:headEnd/>
            <a:tailEnd/>
          </a:ln>
        </p:spPr>
      </p:pic>
      <p:sp>
        <p:nvSpPr>
          <p:cNvPr id="7" name="TextBox 6"/>
          <p:cNvSpPr txBox="1"/>
          <p:nvPr/>
        </p:nvSpPr>
        <p:spPr>
          <a:xfrm>
            <a:off x="179512" y="1052736"/>
            <a:ext cx="8568952" cy="1477328"/>
          </a:xfrm>
          <a:prstGeom prst="rect">
            <a:avLst/>
          </a:prstGeom>
          <a:noFill/>
        </p:spPr>
        <p:txBody>
          <a:bodyPr wrap="square" rtlCol="0">
            <a:spAutoFit/>
          </a:bodyPr>
          <a:lstStyle/>
          <a:p>
            <a:pPr algn="just"/>
            <a:r>
              <a:rPr lang="en-US" b="1" dirty="0">
                <a:latin typeface="Times New Roman" pitchFamily="18" charset="0"/>
                <a:cs typeface="Times New Roman" pitchFamily="18" charset="0"/>
              </a:rPr>
              <a:t>Figure (a) shows an electric circuit that consists of six elements connected together at four nodes.</a:t>
            </a:r>
          </a:p>
          <a:p>
            <a:pPr algn="just"/>
            <a:r>
              <a:rPr lang="en-US" b="1" dirty="0">
                <a:latin typeface="Times New Roman" pitchFamily="18" charset="0"/>
                <a:cs typeface="Times New Roman" pitchFamily="18" charset="0"/>
              </a:rPr>
              <a:t>It is common practice to draw electric circuits using straight lines and to position the elements horizontally or vertically as shown in Figure (b). </a:t>
            </a:r>
          </a:p>
          <a:p>
            <a:pPr algn="just"/>
            <a:endParaRPr lang="en-US" b="1" dirty="0"/>
          </a:p>
        </p:txBody>
      </p:sp>
      <p:pic>
        <p:nvPicPr>
          <p:cNvPr id="8" name="Picture 4"/>
          <p:cNvPicPr>
            <a:picLocks noChangeAspect="1" noChangeArrowheads="1"/>
          </p:cNvPicPr>
          <p:nvPr/>
        </p:nvPicPr>
        <p:blipFill>
          <a:blip r:embed="rId3" cstate="print"/>
          <a:srcRect b="49695"/>
          <a:stretch>
            <a:fillRect/>
          </a:stretch>
        </p:blipFill>
        <p:spPr bwMode="auto">
          <a:xfrm>
            <a:off x="4752528" y="2780929"/>
            <a:ext cx="4355976" cy="2344892"/>
          </a:xfrm>
          <a:prstGeom prst="rect">
            <a:avLst/>
          </a:prstGeom>
          <a:noFill/>
          <a:ln w="9525">
            <a:noFill/>
            <a:miter lim="800000"/>
            <a:headEnd/>
            <a:tailEnd/>
          </a:ln>
        </p:spPr>
      </p:pic>
      <p:sp>
        <p:nvSpPr>
          <p:cNvPr id="10" name="Title 1"/>
          <p:cNvSpPr txBox="1">
            <a:spLocks/>
          </p:cNvSpPr>
          <p:nvPr/>
        </p:nvSpPr>
        <p:spPr>
          <a:xfrm>
            <a:off x="609600" y="44624"/>
            <a:ext cx="8229600" cy="1143000"/>
          </a:xfrm>
          <a:prstGeom prst="rect">
            <a:avLst/>
          </a:prstGeom>
        </p:spPr>
        <p:txBody>
          <a:bodyPr vert="horz" lIns="91440" tIns="45720" rIns="91440" bIns="45720" rtlCol="0" anchor="ctr">
            <a:normAutofit/>
          </a:bodyPr>
          <a:lstStyle/>
          <a:p>
            <a:pPr marL="0" marR="0" lvl="0" indent="0" algn="ctr" fontAlgn="auto">
              <a:lnSpc>
                <a:spcPct val="100000"/>
              </a:lnSpc>
              <a:spcBef>
                <a:spcPct val="0"/>
              </a:spcBef>
              <a:spcAft>
                <a:spcPts val="0"/>
              </a:spcAft>
              <a:buClrTx/>
              <a:buSzTx/>
              <a:tabLst/>
              <a:defRPr/>
            </a:pPr>
            <a:r>
              <a:rPr lang="en-US" sz="4400" b="1" dirty="0">
                <a:solidFill>
                  <a:srgbClr val="C00000"/>
                </a:solidFill>
                <a:latin typeface="+mj-lt"/>
                <a:ea typeface="+mj-ea"/>
                <a:cs typeface="Times New Roman" panose="02020603050405020304" pitchFamily="18" charset="0"/>
              </a:rPr>
              <a:t>Kirchhoff’s Laws…</a:t>
            </a:r>
          </a:p>
        </p:txBody>
      </p:sp>
      <p:sp>
        <p:nvSpPr>
          <p:cNvPr id="9" name="Slide Number Placeholder 8"/>
          <p:cNvSpPr>
            <a:spLocks noGrp="1"/>
          </p:cNvSpPr>
          <p:nvPr>
            <p:ph type="sldNum" sz="quarter" idx="12"/>
          </p:nvPr>
        </p:nvSpPr>
        <p:spPr/>
        <p:txBody>
          <a:bodyPr/>
          <a:lstStyle/>
          <a:p>
            <a:fld id="{7C7D6217-2CB0-4899-A90F-D165D154DCA2}" type="slidenum">
              <a:rPr lang="en-IN" smtClean="0"/>
              <a:pPr/>
              <a:t>13</a:t>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2" cstate="print"/>
          <a:srcRect t="53388"/>
          <a:stretch>
            <a:fillRect/>
          </a:stretch>
        </p:blipFill>
        <p:spPr bwMode="auto">
          <a:xfrm>
            <a:off x="3419872" y="3861048"/>
            <a:ext cx="5052715" cy="2520280"/>
          </a:xfrm>
          <a:prstGeom prst="rect">
            <a:avLst/>
          </a:prstGeom>
          <a:noFill/>
          <a:ln w="9525">
            <a:noFill/>
            <a:miter lim="800000"/>
            <a:headEnd/>
            <a:tailEnd/>
          </a:ln>
        </p:spPr>
      </p:pic>
      <p:sp>
        <p:nvSpPr>
          <p:cNvPr id="3" name="Content Placeholder 2"/>
          <p:cNvSpPr>
            <a:spLocks noGrp="1"/>
          </p:cNvSpPr>
          <p:nvPr>
            <p:ph idx="1"/>
          </p:nvPr>
        </p:nvSpPr>
        <p:spPr>
          <a:xfrm>
            <a:off x="395536" y="1254770"/>
            <a:ext cx="8229600" cy="2232248"/>
          </a:xfrm>
        </p:spPr>
        <p:txBody>
          <a:bodyPr>
            <a:noAutofit/>
          </a:bodyPr>
          <a:lstStyle/>
          <a:p>
            <a:pPr algn="just"/>
            <a:r>
              <a:rPr lang="en-US" sz="1800" b="1" dirty="0">
                <a:latin typeface="Times New Roman" pitchFamily="18" charset="0"/>
                <a:cs typeface="Times New Roman" pitchFamily="18" charset="0"/>
              </a:rPr>
              <a:t>Consider the same circuit after labeling the nodes and elements. </a:t>
            </a:r>
          </a:p>
          <a:p>
            <a:pPr algn="just"/>
            <a:r>
              <a:rPr lang="en-US" sz="1800" b="1" dirty="0">
                <a:latin typeface="Times New Roman" pitchFamily="18" charset="0"/>
                <a:cs typeface="Times New Roman" pitchFamily="18" charset="0"/>
              </a:rPr>
              <a:t>Four elements of this circuit 1, 2, 3, and 4 are connected to node a. </a:t>
            </a:r>
          </a:p>
          <a:p>
            <a:pPr algn="just"/>
            <a:r>
              <a:rPr lang="en-US" sz="1800" b="1" dirty="0">
                <a:latin typeface="Times New Roman" pitchFamily="18" charset="0"/>
                <a:cs typeface="Times New Roman" pitchFamily="18" charset="0"/>
              </a:rPr>
              <a:t>By Kirchhoff’s current law, the algebraic sum of the element currents </a:t>
            </a:r>
            <a:r>
              <a:rPr lang="en-US" sz="1800" b="1" i="1" dirty="0">
                <a:latin typeface="Times New Roman" pitchFamily="18" charset="0"/>
                <a:cs typeface="Times New Roman" pitchFamily="18" charset="0"/>
              </a:rPr>
              <a:t>i</a:t>
            </a:r>
            <a:r>
              <a:rPr lang="en-US" sz="1800" b="1" i="1" baseline="-25000" dirty="0">
                <a:latin typeface="Times New Roman" pitchFamily="18" charset="0"/>
                <a:cs typeface="Times New Roman" pitchFamily="18" charset="0"/>
              </a:rPr>
              <a:t>1</a:t>
            </a:r>
            <a:r>
              <a:rPr lang="en-US" sz="1800" b="1" i="1" dirty="0">
                <a:latin typeface="Times New Roman" pitchFamily="18" charset="0"/>
                <a:cs typeface="Times New Roman" pitchFamily="18" charset="0"/>
              </a:rPr>
              <a:t>, i</a:t>
            </a:r>
            <a:r>
              <a:rPr lang="en-US" sz="1800" b="1" i="1" baseline="-25000" dirty="0">
                <a:latin typeface="Times New Roman" pitchFamily="18" charset="0"/>
                <a:cs typeface="Times New Roman" pitchFamily="18" charset="0"/>
              </a:rPr>
              <a:t>2</a:t>
            </a:r>
            <a:r>
              <a:rPr lang="en-US" sz="1800" b="1" i="1" dirty="0">
                <a:latin typeface="Times New Roman" pitchFamily="18" charset="0"/>
                <a:cs typeface="Times New Roman" pitchFamily="18" charset="0"/>
              </a:rPr>
              <a:t>, i</a:t>
            </a:r>
            <a:r>
              <a:rPr lang="en-US" sz="1800" b="1" i="1" baseline="-25000" dirty="0">
                <a:latin typeface="Times New Roman" pitchFamily="18" charset="0"/>
                <a:cs typeface="Times New Roman" pitchFamily="18" charset="0"/>
              </a:rPr>
              <a:t>3</a:t>
            </a:r>
            <a:r>
              <a:rPr lang="en-US" sz="1800" b="1" i="1" dirty="0">
                <a:latin typeface="Times New Roman" pitchFamily="18" charset="0"/>
                <a:cs typeface="Times New Roman" pitchFamily="18" charset="0"/>
              </a:rPr>
              <a:t>, </a:t>
            </a:r>
            <a:r>
              <a:rPr lang="en-US" sz="1800" b="1" dirty="0">
                <a:latin typeface="Times New Roman" pitchFamily="18" charset="0"/>
                <a:cs typeface="Times New Roman" pitchFamily="18" charset="0"/>
              </a:rPr>
              <a:t>and </a:t>
            </a:r>
            <a:r>
              <a:rPr lang="en-US" sz="1800" b="1" i="1" dirty="0">
                <a:latin typeface="Times New Roman" pitchFamily="18" charset="0"/>
                <a:cs typeface="Times New Roman" pitchFamily="18" charset="0"/>
              </a:rPr>
              <a:t>i</a:t>
            </a:r>
            <a:r>
              <a:rPr lang="en-US" sz="1800" b="1" i="1" baseline="-25000" dirty="0">
                <a:latin typeface="Times New Roman" pitchFamily="18" charset="0"/>
                <a:cs typeface="Times New Roman" pitchFamily="18" charset="0"/>
              </a:rPr>
              <a:t>4</a:t>
            </a:r>
            <a:r>
              <a:rPr lang="en-US" sz="1800" b="1" dirty="0">
                <a:latin typeface="Times New Roman" pitchFamily="18" charset="0"/>
                <a:cs typeface="Times New Roman" pitchFamily="18" charset="0"/>
              </a:rPr>
              <a:t> must be zero. </a:t>
            </a:r>
          </a:p>
          <a:p>
            <a:pPr algn="just"/>
            <a:r>
              <a:rPr lang="en-US" sz="1800" b="1" dirty="0">
                <a:latin typeface="Times New Roman" pitchFamily="18" charset="0"/>
                <a:cs typeface="Times New Roman" pitchFamily="18" charset="0"/>
              </a:rPr>
              <a:t>Currents i</a:t>
            </a:r>
            <a:r>
              <a:rPr lang="en-US" sz="1800" b="1" baseline="-25000" dirty="0">
                <a:latin typeface="Times New Roman" pitchFamily="18" charset="0"/>
                <a:cs typeface="Times New Roman" pitchFamily="18" charset="0"/>
              </a:rPr>
              <a:t>2</a:t>
            </a:r>
            <a:r>
              <a:rPr lang="en-US" sz="1800" b="1" dirty="0">
                <a:latin typeface="Times New Roman" pitchFamily="18" charset="0"/>
                <a:cs typeface="Times New Roman" pitchFamily="18" charset="0"/>
              </a:rPr>
              <a:t> and i</a:t>
            </a:r>
            <a:r>
              <a:rPr lang="en-US" sz="1800" b="1" baseline="-25000" dirty="0">
                <a:latin typeface="Times New Roman" pitchFamily="18" charset="0"/>
                <a:cs typeface="Times New Roman" pitchFamily="18" charset="0"/>
              </a:rPr>
              <a:t>3</a:t>
            </a:r>
            <a:r>
              <a:rPr lang="en-US" sz="1800" b="1" dirty="0">
                <a:latin typeface="Times New Roman" pitchFamily="18" charset="0"/>
                <a:cs typeface="Times New Roman" pitchFamily="18" charset="0"/>
              </a:rPr>
              <a:t> are directed away from node a, so we will use a plus sign for i</a:t>
            </a:r>
            <a:r>
              <a:rPr lang="en-US" sz="1800" b="1" baseline="-25000" dirty="0">
                <a:latin typeface="Times New Roman" pitchFamily="18" charset="0"/>
                <a:cs typeface="Times New Roman" pitchFamily="18" charset="0"/>
              </a:rPr>
              <a:t>2</a:t>
            </a:r>
            <a:r>
              <a:rPr lang="en-US" sz="1800" b="1" dirty="0">
                <a:latin typeface="Times New Roman" pitchFamily="18" charset="0"/>
                <a:cs typeface="Times New Roman" pitchFamily="18" charset="0"/>
              </a:rPr>
              <a:t> and i</a:t>
            </a:r>
            <a:r>
              <a:rPr lang="en-US" sz="1800" b="1" baseline="-25000" dirty="0">
                <a:latin typeface="Times New Roman" pitchFamily="18" charset="0"/>
                <a:cs typeface="Times New Roman" pitchFamily="18" charset="0"/>
              </a:rPr>
              <a:t>3</a:t>
            </a:r>
            <a:r>
              <a:rPr lang="en-US" sz="1800" b="1" dirty="0">
                <a:latin typeface="Times New Roman" pitchFamily="18" charset="0"/>
                <a:cs typeface="Times New Roman" pitchFamily="18" charset="0"/>
              </a:rPr>
              <a:t>. In contrast, currents i</a:t>
            </a:r>
            <a:r>
              <a:rPr lang="en-US" sz="1800" b="1" baseline="-25000" dirty="0">
                <a:latin typeface="Times New Roman" pitchFamily="18" charset="0"/>
                <a:cs typeface="Times New Roman" pitchFamily="18" charset="0"/>
              </a:rPr>
              <a:t>1</a:t>
            </a:r>
            <a:r>
              <a:rPr lang="en-US" sz="1800" b="1" dirty="0">
                <a:latin typeface="Times New Roman" pitchFamily="18" charset="0"/>
                <a:cs typeface="Times New Roman" pitchFamily="18" charset="0"/>
              </a:rPr>
              <a:t> and i</a:t>
            </a:r>
            <a:r>
              <a:rPr lang="en-US" sz="1800" b="1" baseline="-25000" dirty="0">
                <a:latin typeface="Times New Roman" pitchFamily="18" charset="0"/>
                <a:cs typeface="Times New Roman" pitchFamily="18" charset="0"/>
              </a:rPr>
              <a:t>4</a:t>
            </a:r>
            <a:r>
              <a:rPr lang="en-US" sz="1800" b="1" dirty="0">
                <a:latin typeface="Times New Roman" pitchFamily="18" charset="0"/>
                <a:cs typeface="Times New Roman" pitchFamily="18" charset="0"/>
              </a:rPr>
              <a:t> are directed toward node a, so we will use a minus sign for i</a:t>
            </a:r>
            <a:r>
              <a:rPr lang="en-US" sz="1800" b="1" baseline="-25000" dirty="0">
                <a:latin typeface="Times New Roman" pitchFamily="18" charset="0"/>
                <a:cs typeface="Times New Roman" pitchFamily="18" charset="0"/>
              </a:rPr>
              <a:t>1</a:t>
            </a:r>
            <a:r>
              <a:rPr lang="en-US" sz="1800" b="1" dirty="0">
                <a:latin typeface="Times New Roman" pitchFamily="18" charset="0"/>
                <a:cs typeface="Times New Roman" pitchFamily="18" charset="0"/>
              </a:rPr>
              <a:t> and i</a:t>
            </a:r>
            <a:r>
              <a:rPr lang="en-US" sz="1800" b="1" baseline="-25000" dirty="0">
                <a:latin typeface="Times New Roman" pitchFamily="18" charset="0"/>
                <a:cs typeface="Times New Roman" pitchFamily="18" charset="0"/>
              </a:rPr>
              <a:t>4</a:t>
            </a:r>
            <a:r>
              <a:rPr lang="en-US" sz="1800" b="1" dirty="0">
                <a:latin typeface="Times New Roman" pitchFamily="18" charset="0"/>
                <a:cs typeface="Times New Roman" pitchFamily="18" charset="0"/>
              </a:rPr>
              <a:t>. </a:t>
            </a:r>
          </a:p>
          <a:p>
            <a:pPr algn="just"/>
            <a:r>
              <a:rPr lang="en-US" sz="1800" b="1" dirty="0">
                <a:latin typeface="Times New Roman" pitchFamily="18" charset="0"/>
                <a:cs typeface="Times New Roman" pitchFamily="18" charset="0"/>
              </a:rPr>
              <a:t>The KCL equation for node a </a:t>
            </a:r>
          </a:p>
          <a:p>
            <a:pPr lvl="2" algn="just">
              <a:buNone/>
            </a:pPr>
            <a:r>
              <a:rPr lang="en-IN" sz="2000" b="1" i="1" dirty="0">
                <a:latin typeface="Times New Roman" pitchFamily="18" charset="0"/>
                <a:cs typeface="Times New Roman" pitchFamily="18" charset="0"/>
              </a:rPr>
              <a:t>-i</a:t>
            </a:r>
            <a:r>
              <a:rPr lang="en-IN" sz="2000" b="1" baseline="-25000" dirty="0">
                <a:latin typeface="Times New Roman" pitchFamily="18" charset="0"/>
                <a:cs typeface="Times New Roman" pitchFamily="18" charset="0"/>
              </a:rPr>
              <a:t>1</a:t>
            </a:r>
            <a:r>
              <a:rPr lang="en-IN" sz="2000" b="1" i="1" dirty="0">
                <a:latin typeface="Times New Roman" pitchFamily="18" charset="0"/>
                <a:cs typeface="Times New Roman" pitchFamily="18" charset="0"/>
              </a:rPr>
              <a:t>+i</a:t>
            </a:r>
            <a:r>
              <a:rPr lang="en-IN" sz="2000" b="1" baseline="-25000" dirty="0">
                <a:latin typeface="Times New Roman" pitchFamily="18" charset="0"/>
                <a:cs typeface="Times New Roman" pitchFamily="18" charset="0"/>
              </a:rPr>
              <a:t>2</a:t>
            </a:r>
            <a:r>
              <a:rPr lang="en-IN" sz="2000" b="1" i="1" dirty="0">
                <a:latin typeface="Times New Roman" pitchFamily="18" charset="0"/>
                <a:cs typeface="Times New Roman" pitchFamily="18" charset="0"/>
              </a:rPr>
              <a:t>+i</a:t>
            </a:r>
            <a:r>
              <a:rPr lang="en-IN" sz="2000" b="1" baseline="-25000" dirty="0">
                <a:latin typeface="Times New Roman" pitchFamily="18" charset="0"/>
                <a:cs typeface="Times New Roman" pitchFamily="18" charset="0"/>
              </a:rPr>
              <a:t>3</a:t>
            </a:r>
            <a:r>
              <a:rPr lang="en-IN" sz="2000" b="1" i="1" dirty="0">
                <a:latin typeface="Times New Roman" pitchFamily="18" charset="0"/>
                <a:cs typeface="Times New Roman" pitchFamily="18" charset="0"/>
              </a:rPr>
              <a:t>-i</a:t>
            </a:r>
            <a:r>
              <a:rPr lang="en-IN" sz="2000" b="1" baseline="-25000" dirty="0">
                <a:latin typeface="Times New Roman" pitchFamily="18" charset="0"/>
                <a:cs typeface="Times New Roman" pitchFamily="18" charset="0"/>
              </a:rPr>
              <a:t>4 </a:t>
            </a:r>
            <a:r>
              <a:rPr lang="en-IN" sz="2000" b="1" i="1" dirty="0">
                <a:latin typeface="Times New Roman" pitchFamily="18" charset="0"/>
                <a:cs typeface="Times New Roman" pitchFamily="18" charset="0"/>
              </a:rPr>
              <a:t>= </a:t>
            </a:r>
            <a:r>
              <a:rPr lang="en-IN" sz="2000" b="1" dirty="0">
                <a:latin typeface="Times New Roman" pitchFamily="18" charset="0"/>
                <a:cs typeface="Times New Roman" pitchFamily="18" charset="0"/>
              </a:rPr>
              <a:t>0</a:t>
            </a:r>
            <a:r>
              <a:rPr lang="en-IN" sz="2000" b="1" i="1" dirty="0">
                <a:latin typeface="Times New Roman" pitchFamily="18" charset="0"/>
                <a:cs typeface="Times New Roman" pitchFamily="18" charset="0"/>
              </a:rPr>
              <a:t> </a:t>
            </a:r>
          </a:p>
        </p:txBody>
      </p:sp>
      <p:sp>
        <p:nvSpPr>
          <p:cNvPr id="5" name="Title 1"/>
          <p:cNvSpPr>
            <a:spLocks noGrp="1"/>
          </p:cNvSpPr>
          <p:nvPr>
            <p:ph type="title"/>
          </p:nvPr>
        </p:nvSpPr>
        <p:spPr>
          <a:xfrm>
            <a:off x="457200" y="44624"/>
            <a:ext cx="8229600" cy="1143000"/>
          </a:xfrm>
        </p:spPr>
        <p:txBody>
          <a:bodyPr>
            <a:normAutofit/>
          </a:bodyPr>
          <a:lstStyle/>
          <a:p>
            <a:pPr>
              <a:defRPr/>
            </a:pPr>
            <a:r>
              <a:rPr lang="en-US" b="1" dirty="0">
                <a:solidFill>
                  <a:srgbClr val="C00000"/>
                </a:solidFill>
                <a:cs typeface="Times New Roman" panose="02020603050405020304" pitchFamily="18" charset="0"/>
              </a:rPr>
              <a:t>Kirchhoff’s Current Law (KCL)</a:t>
            </a:r>
          </a:p>
        </p:txBody>
      </p:sp>
      <p:sp>
        <p:nvSpPr>
          <p:cNvPr id="6" name="Rectangle 5"/>
          <p:cNvSpPr/>
          <p:nvPr/>
        </p:nvSpPr>
        <p:spPr>
          <a:xfrm>
            <a:off x="3635896" y="6300028"/>
            <a:ext cx="5400600" cy="369332"/>
          </a:xfrm>
          <a:prstGeom prst="rect">
            <a:avLst/>
          </a:prstGeom>
        </p:spPr>
        <p:txBody>
          <a:bodyPr wrap="square">
            <a:spAutoFit/>
          </a:bodyPr>
          <a:lstStyle/>
          <a:p>
            <a:r>
              <a:rPr lang="en-US" b="1" dirty="0">
                <a:latin typeface="Times New Roman" pitchFamily="18" charset="0"/>
                <a:cs typeface="Times New Roman" pitchFamily="18" charset="0"/>
              </a:rPr>
              <a:t> The circuit after labeling the nodes and elements.</a:t>
            </a:r>
            <a:endParaRPr lang="en-IN" b="1" dirty="0"/>
          </a:p>
        </p:txBody>
      </p:sp>
      <p:sp>
        <p:nvSpPr>
          <p:cNvPr id="7" name="Slide Number Placeholder 6"/>
          <p:cNvSpPr>
            <a:spLocks noGrp="1"/>
          </p:cNvSpPr>
          <p:nvPr>
            <p:ph type="sldNum" sz="quarter" idx="12"/>
          </p:nvPr>
        </p:nvSpPr>
        <p:spPr/>
        <p:txBody>
          <a:bodyPr/>
          <a:lstStyle/>
          <a:p>
            <a:fld id="{7C7D6217-2CB0-4899-A90F-D165D154DCA2}" type="slidenum">
              <a:rPr lang="en-IN" smtClean="0"/>
              <a:pPr/>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1800" b="1" dirty="0">
                <a:latin typeface="Times New Roman" pitchFamily="18" charset="0"/>
                <a:cs typeface="Times New Roman" pitchFamily="18" charset="0"/>
              </a:rPr>
              <a:t>An alternate way is to set the sum of all the currents directed away from the node equal to the sum of all the currents directed toward that node. </a:t>
            </a:r>
          </a:p>
          <a:p>
            <a:pPr>
              <a:buNone/>
            </a:pPr>
            <a:r>
              <a:rPr lang="en-IN" sz="1800" b="1" dirty="0">
                <a:latin typeface="Times New Roman" pitchFamily="18" charset="0"/>
                <a:cs typeface="Times New Roman" pitchFamily="18" charset="0"/>
              </a:rPr>
              <a:t>			</a:t>
            </a:r>
            <a:r>
              <a:rPr lang="en-IN" sz="2000" b="1" i="1" dirty="0">
                <a:latin typeface="Times New Roman" pitchFamily="18" charset="0"/>
                <a:cs typeface="Times New Roman" pitchFamily="18" charset="0"/>
              </a:rPr>
              <a:t>i</a:t>
            </a:r>
            <a:r>
              <a:rPr lang="en-IN" sz="2000" b="1" i="1" baseline="-25000" dirty="0">
                <a:latin typeface="Times New Roman" pitchFamily="18" charset="0"/>
                <a:cs typeface="Times New Roman" pitchFamily="18" charset="0"/>
              </a:rPr>
              <a:t>2</a:t>
            </a:r>
            <a:r>
              <a:rPr lang="en-IN" sz="2000" b="1" i="1" dirty="0">
                <a:latin typeface="Times New Roman" pitchFamily="18" charset="0"/>
                <a:cs typeface="Times New Roman" pitchFamily="18" charset="0"/>
              </a:rPr>
              <a:t>+i</a:t>
            </a:r>
            <a:r>
              <a:rPr lang="en-IN" sz="2000" b="1" i="1" baseline="-25000" dirty="0">
                <a:latin typeface="Times New Roman" pitchFamily="18" charset="0"/>
                <a:cs typeface="Times New Roman" pitchFamily="18" charset="0"/>
              </a:rPr>
              <a:t>3</a:t>
            </a:r>
            <a:r>
              <a:rPr lang="en-IN" sz="2000" b="1" i="1" dirty="0">
                <a:latin typeface="Times New Roman" pitchFamily="18" charset="0"/>
                <a:cs typeface="Times New Roman" pitchFamily="18" charset="0"/>
              </a:rPr>
              <a:t>= i</a:t>
            </a:r>
            <a:r>
              <a:rPr lang="en-IN" sz="2000" b="1" i="1" baseline="-25000" dirty="0">
                <a:latin typeface="Times New Roman" pitchFamily="18" charset="0"/>
                <a:cs typeface="Times New Roman" pitchFamily="18" charset="0"/>
              </a:rPr>
              <a:t>1</a:t>
            </a:r>
            <a:r>
              <a:rPr lang="en-IN" sz="2000" b="1" i="1" dirty="0">
                <a:latin typeface="Times New Roman" pitchFamily="18" charset="0"/>
                <a:cs typeface="Times New Roman" pitchFamily="18" charset="0"/>
              </a:rPr>
              <a:t>+i</a:t>
            </a:r>
            <a:r>
              <a:rPr lang="en-IN" sz="2000" b="1" i="1" baseline="-25000" dirty="0">
                <a:latin typeface="Times New Roman" pitchFamily="18" charset="0"/>
                <a:cs typeface="Times New Roman" pitchFamily="18" charset="0"/>
              </a:rPr>
              <a:t>4</a:t>
            </a:r>
          </a:p>
          <a:p>
            <a:pPr>
              <a:buNone/>
            </a:pPr>
            <a:endParaRPr lang="en-IN" sz="1800" b="1" i="1" baseline="-25000" dirty="0">
              <a:latin typeface="Times New Roman" pitchFamily="18" charset="0"/>
              <a:cs typeface="Times New Roman" pitchFamily="18" charset="0"/>
            </a:endParaRPr>
          </a:p>
          <a:p>
            <a:r>
              <a:rPr lang="en-US" sz="1800" b="1" dirty="0">
                <a:latin typeface="Times New Roman" pitchFamily="18" charset="0"/>
                <a:cs typeface="Times New Roman" pitchFamily="18" charset="0"/>
              </a:rPr>
              <a:t>Similarly, the Kirchhoff’s current law equation for node b </a:t>
            </a:r>
          </a:p>
          <a:p>
            <a:pPr>
              <a:buNone/>
            </a:pPr>
            <a:r>
              <a:rPr lang="en-IN" sz="1800" b="1" dirty="0">
                <a:latin typeface="Times New Roman" pitchFamily="18" charset="0"/>
                <a:cs typeface="Times New Roman" pitchFamily="18" charset="0"/>
              </a:rPr>
              <a:t>			</a:t>
            </a:r>
            <a:r>
              <a:rPr lang="en-IN" sz="2000" b="1" i="1" dirty="0">
                <a:latin typeface="Times New Roman" pitchFamily="18" charset="0"/>
                <a:cs typeface="Times New Roman" pitchFamily="18" charset="0"/>
              </a:rPr>
              <a:t>i</a:t>
            </a:r>
            <a:r>
              <a:rPr lang="en-IN" sz="2000" b="1" i="1" baseline="-25000" dirty="0">
                <a:latin typeface="Times New Roman" pitchFamily="18" charset="0"/>
                <a:cs typeface="Times New Roman" pitchFamily="18" charset="0"/>
              </a:rPr>
              <a:t>1</a:t>
            </a:r>
            <a:r>
              <a:rPr lang="en-IN" sz="2000" b="1" i="1" dirty="0">
                <a:latin typeface="Times New Roman" pitchFamily="18" charset="0"/>
                <a:cs typeface="Times New Roman" pitchFamily="18" charset="0"/>
              </a:rPr>
              <a:t> = i</a:t>
            </a:r>
            <a:r>
              <a:rPr lang="en-IN" sz="2000" b="1" i="1" baseline="-25000" dirty="0">
                <a:latin typeface="Times New Roman" pitchFamily="18" charset="0"/>
                <a:cs typeface="Times New Roman" pitchFamily="18" charset="0"/>
              </a:rPr>
              <a:t>2</a:t>
            </a:r>
            <a:r>
              <a:rPr lang="en-IN" sz="2000" b="1" i="1" dirty="0">
                <a:latin typeface="Times New Roman" pitchFamily="18" charset="0"/>
                <a:cs typeface="Times New Roman" pitchFamily="18" charset="0"/>
              </a:rPr>
              <a:t>+i</a:t>
            </a:r>
            <a:r>
              <a:rPr lang="en-IN" sz="2000" b="1" i="1" baseline="-25000" dirty="0">
                <a:latin typeface="Times New Roman" pitchFamily="18" charset="0"/>
                <a:cs typeface="Times New Roman" pitchFamily="18" charset="0"/>
              </a:rPr>
              <a:t>3</a:t>
            </a:r>
            <a:r>
              <a:rPr lang="en-IN" sz="2000" b="1" i="1" dirty="0">
                <a:latin typeface="Times New Roman" pitchFamily="18" charset="0"/>
                <a:cs typeface="Times New Roman" pitchFamily="18" charset="0"/>
              </a:rPr>
              <a:t>+i</a:t>
            </a:r>
            <a:r>
              <a:rPr lang="en-IN" sz="2000" b="1" i="1" baseline="-25000" dirty="0">
                <a:latin typeface="Times New Roman" pitchFamily="18" charset="0"/>
                <a:cs typeface="Times New Roman" pitchFamily="18" charset="0"/>
              </a:rPr>
              <a:t>6</a:t>
            </a:r>
            <a:endParaRPr lang="en-US" sz="2000" b="1" i="1" dirty="0">
              <a:latin typeface="Times New Roman" pitchFamily="18" charset="0"/>
              <a:cs typeface="Times New Roman" pitchFamily="18" charset="0"/>
            </a:endParaRPr>
          </a:p>
          <a:p>
            <a:endParaRPr lang="en-US" sz="1800" b="1" dirty="0">
              <a:latin typeface="Times New Roman" pitchFamily="18" charset="0"/>
              <a:cs typeface="Times New Roman" pitchFamily="18" charset="0"/>
            </a:endParaRPr>
          </a:p>
        </p:txBody>
      </p:sp>
      <p:sp>
        <p:nvSpPr>
          <p:cNvPr id="4" name="Title 1"/>
          <p:cNvSpPr>
            <a:spLocks noGrp="1"/>
          </p:cNvSpPr>
          <p:nvPr>
            <p:ph type="title"/>
          </p:nvPr>
        </p:nvSpPr>
        <p:spPr>
          <a:xfrm>
            <a:off x="457200" y="274638"/>
            <a:ext cx="8229600" cy="850106"/>
          </a:xfrm>
        </p:spPr>
        <p:txBody>
          <a:bodyPr>
            <a:normAutofit/>
          </a:bodyPr>
          <a:lstStyle/>
          <a:p>
            <a:r>
              <a:rPr lang="en-US" b="1" dirty="0">
                <a:solidFill>
                  <a:srgbClr val="C00000"/>
                </a:solidFill>
                <a:cs typeface="Times New Roman" panose="02020603050405020304" pitchFamily="18" charset="0"/>
              </a:rPr>
              <a:t>Kirchhoff’s Current Law (KCL)</a:t>
            </a:r>
          </a:p>
        </p:txBody>
      </p:sp>
      <p:pic>
        <p:nvPicPr>
          <p:cNvPr id="5" name="Picture 4"/>
          <p:cNvPicPr>
            <a:picLocks noChangeAspect="1" noChangeArrowheads="1"/>
          </p:cNvPicPr>
          <p:nvPr/>
        </p:nvPicPr>
        <p:blipFill>
          <a:blip r:embed="rId2" cstate="print"/>
          <a:srcRect t="53388"/>
          <a:stretch>
            <a:fillRect/>
          </a:stretch>
        </p:blipFill>
        <p:spPr bwMode="auto">
          <a:xfrm>
            <a:off x="3922886" y="3861048"/>
            <a:ext cx="5052715" cy="2520280"/>
          </a:xfrm>
          <a:prstGeom prst="rect">
            <a:avLst/>
          </a:prstGeom>
          <a:noFill/>
          <a:ln w="9525">
            <a:noFill/>
            <a:miter lim="800000"/>
            <a:headEnd/>
            <a:tailEnd/>
          </a:ln>
        </p:spPr>
      </p:pic>
      <p:sp>
        <p:nvSpPr>
          <p:cNvPr id="6" name="Slide Number Placeholder 5"/>
          <p:cNvSpPr>
            <a:spLocks noGrp="1"/>
          </p:cNvSpPr>
          <p:nvPr>
            <p:ph type="sldNum" sz="quarter" idx="12"/>
          </p:nvPr>
        </p:nvSpPr>
        <p:spPr/>
        <p:txBody>
          <a:bodyPr/>
          <a:lstStyle/>
          <a:p>
            <a:fld id="{7C7D6217-2CB0-4899-A90F-D165D154DCA2}" type="slidenum">
              <a:rPr lang="en-IN" smtClean="0"/>
              <a:pPr/>
              <a:t>15</a:t>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57200" y="44624"/>
            <a:ext cx="8229600" cy="1143000"/>
          </a:xfrm>
        </p:spPr>
        <p:txBody>
          <a:bodyPr>
            <a:normAutofit/>
          </a:bodyPr>
          <a:lstStyle/>
          <a:p>
            <a:r>
              <a:rPr lang="en-US" b="1" dirty="0">
                <a:solidFill>
                  <a:srgbClr val="C00000"/>
                </a:solidFill>
                <a:cs typeface="Times New Roman" panose="02020603050405020304" pitchFamily="18" charset="0"/>
              </a:rPr>
              <a:t>Kirchhoff’s Voltage Law (KVL)</a:t>
            </a:r>
          </a:p>
        </p:txBody>
      </p:sp>
      <p:sp>
        <p:nvSpPr>
          <p:cNvPr id="3" name="Content Placeholder 2"/>
          <p:cNvSpPr>
            <a:spLocks noGrp="1"/>
          </p:cNvSpPr>
          <p:nvPr>
            <p:ph idx="1"/>
          </p:nvPr>
        </p:nvSpPr>
        <p:spPr>
          <a:xfrm>
            <a:off x="323528" y="1052736"/>
            <a:ext cx="8363272" cy="5256584"/>
          </a:xfrm>
        </p:spPr>
        <p:txBody>
          <a:bodyPr>
            <a:normAutofit/>
          </a:bodyPr>
          <a:lstStyle/>
          <a:p>
            <a:pPr algn="just"/>
            <a:r>
              <a:rPr lang="en-US" sz="1800" b="1" dirty="0">
                <a:latin typeface="Times New Roman" pitchFamily="18" charset="0"/>
                <a:cs typeface="Times New Roman" pitchFamily="18" charset="0"/>
              </a:rPr>
              <a:t>Kirchhoff’s voltage law (KVL): The algebraic sum of the voltages around any loop in a circuit is identically zero for all time.</a:t>
            </a:r>
          </a:p>
          <a:p>
            <a:pPr algn="just"/>
            <a:r>
              <a:rPr lang="en-US" sz="1800" b="1" dirty="0">
                <a:latin typeface="Times New Roman" pitchFamily="18" charset="0"/>
                <a:cs typeface="Times New Roman" pitchFamily="18" charset="0"/>
              </a:rPr>
              <a:t>The phrase algebraic sum indicates that we must take polarity into account as we add up the voltages of elements that comprise a loop. </a:t>
            </a:r>
          </a:p>
          <a:p>
            <a:pPr algn="just"/>
            <a:r>
              <a:rPr lang="en-US" sz="1800" b="1" dirty="0">
                <a:latin typeface="Times New Roman" pitchFamily="18" charset="0"/>
                <a:cs typeface="Times New Roman" pitchFamily="18" charset="0"/>
              </a:rPr>
              <a:t>One way to take polarity into account is to move around the loop in the clockwise direction while observing the polarities of the element voltages.</a:t>
            </a:r>
          </a:p>
          <a:p>
            <a:pPr algn="just"/>
            <a:r>
              <a:rPr lang="en-US" sz="1800" b="1" dirty="0">
                <a:latin typeface="Times New Roman" pitchFamily="18" charset="0"/>
                <a:cs typeface="Times New Roman" pitchFamily="18" charset="0"/>
              </a:rPr>
              <a:t>For example, consider the circuit shown in Figure c. </a:t>
            </a:r>
            <a:r>
              <a:rPr lang="en-US" sz="1800" b="1" dirty="0">
                <a:solidFill>
                  <a:srgbClr val="C00000"/>
                </a:solidFill>
                <a:latin typeface="Times New Roman" pitchFamily="18" charset="0"/>
                <a:cs typeface="Times New Roman" pitchFamily="18" charset="0"/>
              </a:rPr>
              <a:t>Elements 3, 4, 5, and 6 comprise a loop of the circuit.</a:t>
            </a:r>
            <a:r>
              <a:rPr lang="en-US" sz="1800" b="1" dirty="0">
                <a:latin typeface="Times New Roman" pitchFamily="18" charset="0"/>
                <a:cs typeface="Times New Roman" pitchFamily="18" charset="0"/>
              </a:rPr>
              <a:t> By Kirchhoff’s voltage law, the algebraic sum of the element voltages v</a:t>
            </a:r>
            <a:r>
              <a:rPr lang="en-US" sz="1800" b="1" baseline="-25000" dirty="0">
                <a:latin typeface="Times New Roman" pitchFamily="18" charset="0"/>
                <a:cs typeface="Times New Roman" pitchFamily="18" charset="0"/>
              </a:rPr>
              <a:t>3</a:t>
            </a:r>
            <a:r>
              <a:rPr lang="en-US" sz="1800" b="1" dirty="0">
                <a:latin typeface="Times New Roman" pitchFamily="18" charset="0"/>
                <a:cs typeface="Times New Roman" pitchFamily="18" charset="0"/>
              </a:rPr>
              <a:t>, v</a:t>
            </a:r>
            <a:r>
              <a:rPr lang="en-US" sz="1800" b="1" baseline="-25000" dirty="0">
                <a:latin typeface="Times New Roman" pitchFamily="18" charset="0"/>
                <a:cs typeface="Times New Roman" pitchFamily="18" charset="0"/>
              </a:rPr>
              <a:t>4</a:t>
            </a:r>
            <a:r>
              <a:rPr lang="en-US" sz="1800" b="1" dirty="0">
                <a:latin typeface="Times New Roman" pitchFamily="18" charset="0"/>
                <a:cs typeface="Times New Roman" pitchFamily="18" charset="0"/>
              </a:rPr>
              <a:t>, v</a:t>
            </a:r>
            <a:r>
              <a:rPr lang="en-US" sz="1800" b="1" baseline="-25000" dirty="0">
                <a:latin typeface="Times New Roman" pitchFamily="18" charset="0"/>
                <a:cs typeface="Times New Roman" pitchFamily="18" charset="0"/>
              </a:rPr>
              <a:t>5</a:t>
            </a:r>
            <a:r>
              <a:rPr lang="en-US" sz="1800" b="1" dirty="0">
                <a:latin typeface="Times New Roman" pitchFamily="18" charset="0"/>
                <a:cs typeface="Times New Roman" pitchFamily="18" charset="0"/>
              </a:rPr>
              <a:t>, and v</a:t>
            </a:r>
            <a:r>
              <a:rPr lang="en-US" sz="1800" b="1" baseline="-25000" dirty="0">
                <a:latin typeface="Times New Roman" pitchFamily="18" charset="0"/>
                <a:cs typeface="Times New Roman" pitchFamily="18" charset="0"/>
              </a:rPr>
              <a:t>6</a:t>
            </a:r>
            <a:r>
              <a:rPr lang="en-US" sz="1800" b="1" dirty="0">
                <a:latin typeface="Times New Roman" pitchFamily="18" charset="0"/>
                <a:cs typeface="Times New Roman" pitchFamily="18" charset="0"/>
              </a:rPr>
              <a:t> must be zero.</a:t>
            </a:r>
          </a:p>
          <a:p>
            <a:pPr algn="just">
              <a:buNone/>
            </a:pPr>
            <a:r>
              <a:rPr lang="en-US" sz="1800" b="1" dirty="0">
                <a:latin typeface="Times New Roman" pitchFamily="18" charset="0"/>
                <a:cs typeface="Times New Roman" pitchFamily="18" charset="0"/>
              </a:rPr>
              <a:t>		v</a:t>
            </a:r>
            <a:r>
              <a:rPr lang="en-US" sz="1800" b="1" baseline="-25000" dirty="0">
                <a:latin typeface="Times New Roman" pitchFamily="18" charset="0"/>
                <a:cs typeface="Times New Roman" pitchFamily="18" charset="0"/>
              </a:rPr>
              <a:t>4</a:t>
            </a:r>
            <a:r>
              <a:rPr lang="en-US" sz="1800" b="1" dirty="0">
                <a:latin typeface="Times New Roman" pitchFamily="18" charset="0"/>
                <a:cs typeface="Times New Roman" pitchFamily="18" charset="0"/>
              </a:rPr>
              <a:t> - v</a:t>
            </a:r>
            <a:r>
              <a:rPr lang="en-US" sz="1800" b="1" baseline="-25000" dirty="0">
                <a:latin typeface="Times New Roman" pitchFamily="18" charset="0"/>
                <a:cs typeface="Times New Roman" pitchFamily="18" charset="0"/>
              </a:rPr>
              <a:t>5</a:t>
            </a:r>
            <a:r>
              <a:rPr lang="en-US" sz="1800" b="1" dirty="0">
                <a:latin typeface="Times New Roman" pitchFamily="18" charset="0"/>
                <a:cs typeface="Times New Roman" pitchFamily="18" charset="0"/>
              </a:rPr>
              <a:t> - v</a:t>
            </a:r>
            <a:r>
              <a:rPr lang="en-US" sz="1800" b="1" baseline="-25000" dirty="0">
                <a:latin typeface="Times New Roman" pitchFamily="18" charset="0"/>
                <a:cs typeface="Times New Roman" pitchFamily="18" charset="0"/>
              </a:rPr>
              <a:t>6 </a:t>
            </a:r>
            <a:r>
              <a:rPr lang="en-US" sz="1800" b="1" dirty="0">
                <a:latin typeface="Times New Roman" pitchFamily="18" charset="0"/>
                <a:cs typeface="Times New Roman" pitchFamily="18" charset="0"/>
              </a:rPr>
              <a:t> - v</a:t>
            </a:r>
            <a:r>
              <a:rPr lang="en-US" sz="1800" b="1" baseline="-25000" dirty="0">
                <a:latin typeface="Times New Roman" pitchFamily="18" charset="0"/>
                <a:cs typeface="Times New Roman" pitchFamily="18" charset="0"/>
              </a:rPr>
              <a:t>3</a:t>
            </a:r>
            <a:r>
              <a:rPr lang="en-US" sz="1800" b="1" dirty="0">
                <a:latin typeface="Times New Roman" pitchFamily="18" charset="0"/>
                <a:cs typeface="Times New Roman" pitchFamily="18" charset="0"/>
              </a:rPr>
              <a:t> = 0</a:t>
            </a:r>
          </a:p>
          <a:p>
            <a:pPr algn="just"/>
            <a:r>
              <a:rPr lang="en-US" sz="1800" b="1" dirty="0">
                <a:latin typeface="Times New Roman" pitchFamily="18" charset="0"/>
                <a:cs typeface="Times New Roman" pitchFamily="18" charset="0"/>
              </a:rPr>
              <a:t>Similarly, the KVL equation for  </a:t>
            </a:r>
          </a:p>
          <a:p>
            <a:pPr algn="just">
              <a:buNone/>
            </a:pPr>
            <a:r>
              <a:rPr lang="en-US" sz="1800" b="1" dirty="0">
                <a:latin typeface="Times New Roman" pitchFamily="18" charset="0"/>
                <a:cs typeface="Times New Roman" pitchFamily="18" charset="0"/>
              </a:rPr>
              <a:t>      the loop  consisting of (1, 4, 5, 6) is </a:t>
            </a:r>
          </a:p>
          <a:p>
            <a:pPr algn="just">
              <a:buNone/>
            </a:pPr>
            <a:r>
              <a:rPr lang="en-US" sz="1800" b="1" dirty="0">
                <a:latin typeface="Times New Roman" pitchFamily="18" charset="0"/>
                <a:cs typeface="Times New Roman" pitchFamily="18" charset="0"/>
              </a:rPr>
              <a:t>		v</a:t>
            </a:r>
            <a:r>
              <a:rPr lang="en-US" sz="1800" b="1" baseline="-25000" dirty="0">
                <a:latin typeface="Times New Roman" pitchFamily="18" charset="0"/>
                <a:cs typeface="Times New Roman" pitchFamily="18" charset="0"/>
              </a:rPr>
              <a:t>4</a:t>
            </a:r>
            <a:r>
              <a:rPr lang="en-US" sz="1800" b="1" dirty="0">
                <a:latin typeface="Times New Roman" pitchFamily="18" charset="0"/>
                <a:cs typeface="Times New Roman" pitchFamily="18" charset="0"/>
              </a:rPr>
              <a:t> - v</a:t>
            </a:r>
            <a:r>
              <a:rPr lang="en-US" sz="1800" b="1" baseline="-25000" dirty="0">
                <a:latin typeface="Times New Roman" pitchFamily="18" charset="0"/>
                <a:cs typeface="Times New Roman" pitchFamily="18" charset="0"/>
              </a:rPr>
              <a:t>5</a:t>
            </a:r>
            <a:r>
              <a:rPr lang="en-US" sz="1800" b="1" dirty="0">
                <a:latin typeface="Times New Roman" pitchFamily="18" charset="0"/>
                <a:cs typeface="Times New Roman" pitchFamily="18" charset="0"/>
              </a:rPr>
              <a:t> - v</a:t>
            </a:r>
            <a:r>
              <a:rPr lang="en-US" sz="1800" b="1" baseline="-25000" dirty="0">
                <a:latin typeface="Times New Roman" pitchFamily="18" charset="0"/>
                <a:cs typeface="Times New Roman" pitchFamily="18" charset="0"/>
              </a:rPr>
              <a:t>6 </a:t>
            </a:r>
            <a:r>
              <a:rPr lang="en-US" sz="1800" b="1" dirty="0">
                <a:latin typeface="Times New Roman" pitchFamily="18" charset="0"/>
                <a:cs typeface="Times New Roman" pitchFamily="18" charset="0"/>
              </a:rPr>
              <a:t> + v</a:t>
            </a:r>
            <a:r>
              <a:rPr lang="en-US" sz="1800" b="1" baseline="-25000" dirty="0">
                <a:latin typeface="Times New Roman" pitchFamily="18" charset="0"/>
                <a:cs typeface="Times New Roman" pitchFamily="18" charset="0"/>
              </a:rPr>
              <a:t>1</a:t>
            </a:r>
            <a:r>
              <a:rPr lang="en-US" sz="1800" b="1" dirty="0">
                <a:latin typeface="Times New Roman" pitchFamily="18" charset="0"/>
                <a:cs typeface="Times New Roman" pitchFamily="18" charset="0"/>
              </a:rPr>
              <a:t> = 0</a:t>
            </a:r>
          </a:p>
          <a:p>
            <a:pPr algn="just">
              <a:buNone/>
            </a:pPr>
            <a:r>
              <a:rPr lang="en-US" sz="1800" b="1" dirty="0">
                <a:latin typeface="Times New Roman" pitchFamily="18" charset="0"/>
                <a:cs typeface="Times New Roman" pitchFamily="18" charset="0"/>
              </a:rPr>
              <a:t>      the loop consisting of (1 and 2) is</a:t>
            </a:r>
          </a:p>
          <a:p>
            <a:pPr algn="just">
              <a:buNone/>
            </a:pPr>
            <a:r>
              <a:rPr lang="en-US" sz="1800" b="1" dirty="0">
                <a:latin typeface="Times New Roman" pitchFamily="18" charset="0"/>
                <a:cs typeface="Times New Roman" pitchFamily="18" charset="0"/>
              </a:rPr>
              <a:t>		- v</a:t>
            </a:r>
            <a:r>
              <a:rPr lang="en-US" sz="1800" b="1" baseline="-25000" dirty="0">
                <a:latin typeface="Times New Roman" pitchFamily="18" charset="0"/>
                <a:cs typeface="Times New Roman" pitchFamily="18" charset="0"/>
              </a:rPr>
              <a:t>2 </a:t>
            </a:r>
            <a:r>
              <a:rPr lang="en-US" sz="1800" b="1" dirty="0">
                <a:latin typeface="Times New Roman" pitchFamily="18" charset="0"/>
                <a:cs typeface="Times New Roman" pitchFamily="18" charset="0"/>
              </a:rPr>
              <a:t> + v</a:t>
            </a:r>
            <a:r>
              <a:rPr lang="en-US" sz="1800" b="1" baseline="-25000" dirty="0">
                <a:latin typeface="Times New Roman" pitchFamily="18" charset="0"/>
                <a:cs typeface="Times New Roman" pitchFamily="18" charset="0"/>
              </a:rPr>
              <a:t>1</a:t>
            </a:r>
            <a:r>
              <a:rPr lang="en-US" sz="1800" b="1" dirty="0">
                <a:latin typeface="Times New Roman" pitchFamily="18" charset="0"/>
                <a:cs typeface="Times New Roman" pitchFamily="18" charset="0"/>
              </a:rPr>
              <a:t> = 0</a:t>
            </a:r>
          </a:p>
          <a:p>
            <a:pPr algn="just">
              <a:buNone/>
            </a:pPr>
            <a:endParaRPr lang="en-US" sz="1800" b="1" dirty="0">
              <a:latin typeface="Times New Roman" pitchFamily="18" charset="0"/>
              <a:cs typeface="Times New Roman" pitchFamily="18" charset="0"/>
            </a:endParaRPr>
          </a:p>
          <a:p>
            <a:pPr algn="just">
              <a:buNone/>
            </a:pPr>
            <a:endParaRPr lang="en-US" sz="1800" b="1" dirty="0">
              <a:latin typeface="Times New Roman" pitchFamily="18" charset="0"/>
              <a:cs typeface="Times New Roman" pitchFamily="18" charset="0"/>
            </a:endParaRPr>
          </a:p>
          <a:p>
            <a:pPr algn="just">
              <a:buNone/>
            </a:pPr>
            <a:endParaRPr lang="en-IN" sz="1800" b="1" baseline="-250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7C7D6217-2CB0-4899-A90F-D165D154DCA2}" type="slidenum">
              <a:rPr lang="en-IN" smtClean="0"/>
              <a:pPr/>
              <a:t>16</a:t>
            </a:fld>
            <a:endParaRPr lang="en-IN"/>
          </a:p>
        </p:txBody>
      </p:sp>
      <p:pic>
        <p:nvPicPr>
          <p:cNvPr id="4" name="Picture 4"/>
          <p:cNvPicPr>
            <a:picLocks noChangeAspect="1" noChangeArrowheads="1"/>
          </p:cNvPicPr>
          <p:nvPr/>
        </p:nvPicPr>
        <p:blipFill>
          <a:blip r:embed="rId2" cstate="print"/>
          <a:srcRect t="53388"/>
          <a:stretch>
            <a:fillRect/>
          </a:stretch>
        </p:blipFill>
        <p:spPr bwMode="auto">
          <a:xfrm>
            <a:off x="4499992" y="4437112"/>
            <a:ext cx="4619625" cy="2304256"/>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84"/>
            <a:ext cx="8507288" cy="1008112"/>
          </a:xfrm>
        </p:spPr>
        <p:txBody>
          <a:bodyPr>
            <a:normAutofit/>
          </a:bodyPr>
          <a:lstStyle/>
          <a:p>
            <a:r>
              <a:rPr lang="en-IN" b="1" dirty="0">
                <a:solidFill>
                  <a:srgbClr val="C00000"/>
                </a:solidFill>
                <a:cs typeface="Times New Roman" panose="02020603050405020304" pitchFamily="18" charset="0"/>
              </a:rPr>
              <a:t>Problems</a:t>
            </a:r>
            <a:endParaRPr lang="en-US" b="1" dirty="0">
              <a:solidFill>
                <a:srgbClr val="C00000"/>
              </a:solidFill>
              <a:cs typeface="Times New Roman" panose="02020603050405020304" pitchFamily="18" charset="0"/>
            </a:endParaRPr>
          </a:p>
        </p:txBody>
      </p:sp>
      <p:sp>
        <p:nvSpPr>
          <p:cNvPr id="3" name="Content Placeholder 2"/>
          <p:cNvSpPr>
            <a:spLocks noGrp="1"/>
          </p:cNvSpPr>
          <p:nvPr>
            <p:ph idx="1"/>
          </p:nvPr>
        </p:nvSpPr>
        <p:spPr>
          <a:xfrm>
            <a:off x="0" y="764704"/>
            <a:ext cx="8686800" cy="1684784"/>
          </a:xfrm>
        </p:spPr>
        <p:txBody>
          <a:bodyPr>
            <a:normAutofit/>
          </a:bodyPr>
          <a:lstStyle/>
          <a:p>
            <a:pPr algn="just">
              <a:buNone/>
            </a:pPr>
            <a:r>
              <a:rPr lang="en-US" sz="1800" b="1" dirty="0">
                <a:latin typeface="Times New Roman" pitchFamily="18" charset="0"/>
                <a:cs typeface="Times New Roman" pitchFamily="18" charset="0"/>
              </a:rPr>
              <a:t>	Problem 1. Consider the circuit shown in Figure. Notice that the passive convention was used to assign reference directions to the resistor voltages and currents. This anticipates using Ohm’s law. Find each current and each voltage when R</a:t>
            </a:r>
            <a:r>
              <a:rPr lang="en-US" sz="1800" b="1" baseline="-25000" dirty="0">
                <a:latin typeface="Times New Roman" pitchFamily="18" charset="0"/>
                <a:cs typeface="Times New Roman" pitchFamily="18" charset="0"/>
              </a:rPr>
              <a:t>1</a:t>
            </a:r>
            <a:r>
              <a:rPr lang="en-US" sz="1800" b="1" dirty="0">
                <a:latin typeface="Times New Roman" pitchFamily="18" charset="0"/>
                <a:cs typeface="Times New Roman" pitchFamily="18" charset="0"/>
              </a:rPr>
              <a:t> = 8 </a:t>
            </a:r>
            <a:r>
              <a:rPr lang="el-GR" sz="1800" b="1" dirty="0">
                <a:latin typeface="Times New Roman" pitchFamily="18" charset="0"/>
                <a:cs typeface="Times New Roman" pitchFamily="18" charset="0"/>
              </a:rPr>
              <a:t>Ω</a:t>
            </a:r>
            <a:r>
              <a:rPr lang="en-US" sz="1800" b="1" dirty="0">
                <a:latin typeface="Times New Roman" pitchFamily="18" charset="0"/>
                <a:cs typeface="Times New Roman" pitchFamily="18" charset="0"/>
              </a:rPr>
              <a:t>, v</a:t>
            </a:r>
            <a:r>
              <a:rPr lang="en-US" sz="1800" b="1" baseline="-25000" dirty="0">
                <a:latin typeface="Times New Roman" pitchFamily="18" charset="0"/>
                <a:cs typeface="Times New Roman" pitchFamily="18" charset="0"/>
              </a:rPr>
              <a:t>2</a:t>
            </a:r>
            <a:r>
              <a:rPr lang="en-US" sz="1800" b="1" dirty="0">
                <a:latin typeface="Times New Roman" pitchFamily="18" charset="0"/>
                <a:cs typeface="Times New Roman" pitchFamily="18" charset="0"/>
              </a:rPr>
              <a:t> = -10 V, i</a:t>
            </a:r>
            <a:r>
              <a:rPr lang="en-US" sz="1800" b="1" baseline="-25000" dirty="0">
                <a:latin typeface="Times New Roman" pitchFamily="18" charset="0"/>
                <a:cs typeface="Times New Roman" pitchFamily="18" charset="0"/>
              </a:rPr>
              <a:t>3</a:t>
            </a:r>
            <a:r>
              <a:rPr lang="en-US" sz="1800" b="1" dirty="0">
                <a:latin typeface="Times New Roman" pitchFamily="18" charset="0"/>
                <a:cs typeface="Times New Roman" pitchFamily="18" charset="0"/>
              </a:rPr>
              <a:t> = 2 A, and R</a:t>
            </a:r>
            <a:r>
              <a:rPr lang="en-US" sz="1800" b="1" baseline="-25000" dirty="0">
                <a:latin typeface="Times New Roman" pitchFamily="18" charset="0"/>
                <a:cs typeface="Times New Roman" pitchFamily="18" charset="0"/>
              </a:rPr>
              <a:t>3</a:t>
            </a:r>
            <a:r>
              <a:rPr lang="en-US" sz="1800" b="1" dirty="0">
                <a:latin typeface="Times New Roman" pitchFamily="18" charset="0"/>
                <a:cs typeface="Times New Roman" pitchFamily="18" charset="0"/>
              </a:rPr>
              <a:t> = 1 </a:t>
            </a:r>
            <a:r>
              <a:rPr lang="el-GR" sz="1800" b="1" dirty="0">
                <a:latin typeface="Times New Roman" pitchFamily="18" charset="0"/>
                <a:cs typeface="Times New Roman" pitchFamily="18" charset="0"/>
              </a:rPr>
              <a:t>Ω</a:t>
            </a:r>
            <a:r>
              <a:rPr lang="en-US" sz="1800" b="1" dirty="0">
                <a:latin typeface="Times New Roman" pitchFamily="18" charset="0"/>
                <a:cs typeface="Times New Roman" pitchFamily="18" charset="0"/>
              </a:rPr>
              <a:t>. Also, determine the resistance R</a:t>
            </a:r>
            <a:r>
              <a:rPr lang="en-US" sz="1800" b="1" baseline="-25000" dirty="0">
                <a:latin typeface="Times New Roman" pitchFamily="18" charset="0"/>
                <a:cs typeface="Times New Roman" pitchFamily="18" charset="0"/>
              </a:rPr>
              <a:t>2</a:t>
            </a:r>
            <a:r>
              <a:rPr lang="en-US" sz="1800" b="1" dirty="0">
                <a:latin typeface="Times New Roman" pitchFamily="18" charset="0"/>
                <a:cs typeface="Times New Roman" pitchFamily="18" charset="0"/>
              </a:rPr>
              <a:t>.</a:t>
            </a:r>
          </a:p>
          <a:p>
            <a:pPr algn="just"/>
            <a:endParaRPr lang="en-US" sz="1800" b="1" dirty="0">
              <a:latin typeface="Times New Roman" pitchFamily="18" charset="0"/>
              <a:cs typeface="Times New Roman" pitchFamily="18" charset="0"/>
            </a:endParaRPr>
          </a:p>
        </p:txBody>
      </p:sp>
      <p:pic>
        <p:nvPicPr>
          <p:cNvPr id="3075" name="Picture 3"/>
          <p:cNvPicPr>
            <a:picLocks noChangeAspect="1" noChangeArrowheads="1"/>
          </p:cNvPicPr>
          <p:nvPr/>
        </p:nvPicPr>
        <p:blipFill>
          <a:blip r:embed="rId2" cstate="print"/>
          <a:srcRect/>
          <a:stretch>
            <a:fillRect/>
          </a:stretch>
        </p:blipFill>
        <p:spPr bwMode="auto">
          <a:xfrm>
            <a:off x="6859261" y="2492896"/>
            <a:ext cx="2249243" cy="3384376"/>
          </a:xfrm>
          <a:prstGeom prst="rect">
            <a:avLst/>
          </a:prstGeom>
          <a:noFill/>
          <a:ln w="9525">
            <a:noFill/>
            <a:miter lim="800000"/>
            <a:headEnd/>
            <a:tailEnd/>
          </a:ln>
        </p:spPr>
      </p:pic>
      <p:sp>
        <p:nvSpPr>
          <p:cNvPr id="8" name="TextBox 7"/>
          <p:cNvSpPr txBox="1"/>
          <p:nvPr/>
        </p:nvSpPr>
        <p:spPr>
          <a:xfrm>
            <a:off x="323528" y="2348880"/>
            <a:ext cx="6552728" cy="3693319"/>
          </a:xfrm>
          <a:prstGeom prst="rect">
            <a:avLst/>
          </a:prstGeom>
          <a:noFill/>
        </p:spPr>
        <p:txBody>
          <a:bodyPr wrap="square" rtlCol="0">
            <a:spAutoFit/>
          </a:bodyPr>
          <a:lstStyle/>
          <a:p>
            <a:pPr algn="just"/>
            <a:r>
              <a:rPr lang="en-US" b="1" dirty="0">
                <a:solidFill>
                  <a:srgbClr val="7030A0"/>
                </a:solidFill>
                <a:latin typeface="Times New Roman" pitchFamily="18" charset="0"/>
                <a:cs typeface="Times New Roman" pitchFamily="18" charset="0"/>
              </a:rPr>
              <a:t>Solution: The sum of the currents entering node a is </a:t>
            </a:r>
          </a:p>
          <a:p>
            <a:pPr algn="just"/>
            <a:r>
              <a:rPr lang="en-US" b="1" dirty="0">
                <a:solidFill>
                  <a:srgbClr val="7030A0"/>
                </a:solidFill>
                <a:latin typeface="Times New Roman" pitchFamily="18" charset="0"/>
                <a:cs typeface="Times New Roman" pitchFamily="18" charset="0"/>
              </a:rPr>
              <a:t>		</a:t>
            </a:r>
            <a:r>
              <a:rPr lang="en-US" b="1" i="1" dirty="0">
                <a:latin typeface="Times New Roman" pitchFamily="18" charset="0"/>
                <a:cs typeface="Times New Roman" pitchFamily="18" charset="0"/>
              </a:rPr>
              <a:t>i</a:t>
            </a:r>
            <a:r>
              <a:rPr lang="en-US" b="1" baseline="-25000" dirty="0">
                <a:latin typeface="Times New Roman" pitchFamily="18" charset="0"/>
                <a:cs typeface="Times New Roman" pitchFamily="18" charset="0"/>
              </a:rPr>
              <a:t>1</a:t>
            </a:r>
            <a:r>
              <a:rPr lang="en-US" b="1" i="1" dirty="0">
                <a:latin typeface="Times New Roman" pitchFamily="18" charset="0"/>
                <a:cs typeface="Times New Roman" pitchFamily="18" charset="0"/>
              </a:rPr>
              <a:t>- i</a:t>
            </a:r>
            <a:r>
              <a:rPr lang="en-US" b="1" baseline="-25000" dirty="0">
                <a:latin typeface="Times New Roman" pitchFamily="18" charset="0"/>
                <a:cs typeface="Times New Roman" pitchFamily="18" charset="0"/>
              </a:rPr>
              <a:t>2</a:t>
            </a:r>
            <a:r>
              <a:rPr lang="en-US" b="1" i="1" dirty="0">
                <a:latin typeface="Times New Roman" pitchFamily="18" charset="0"/>
                <a:cs typeface="Times New Roman" pitchFamily="18" charset="0"/>
              </a:rPr>
              <a:t>- i</a:t>
            </a:r>
            <a:r>
              <a:rPr lang="en-US" b="1" baseline="-25000" dirty="0">
                <a:latin typeface="Times New Roman" pitchFamily="18" charset="0"/>
                <a:cs typeface="Times New Roman" pitchFamily="18" charset="0"/>
              </a:rPr>
              <a:t>3</a:t>
            </a:r>
            <a:r>
              <a:rPr lang="en-US" b="1" dirty="0">
                <a:latin typeface="Times New Roman" pitchFamily="18" charset="0"/>
                <a:cs typeface="Times New Roman" pitchFamily="18" charset="0"/>
              </a:rPr>
              <a:t> =0</a:t>
            </a:r>
          </a:p>
          <a:p>
            <a:pPr algn="just"/>
            <a:r>
              <a:rPr lang="en-US" b="1" dirty="0">
                <a:solidFill>
                  <a:srgbClr val="7030A0"/>
                </a:solidFill>
                <a:latin typeface="Times New Roman" pitchFamily="18" charset="0"/>
                <a:cs typeface="Times New Roman" pitchFamily="18" charset="0"/>
              </a:rPr>
              <a:t>Using Ohm’s law for R</a:t>
            </a:r>
            <a:r>
              <a:rPr lang="en-US" b="1" baseline="-25000" dirty="0">
                <a:solidFill>
                  <a:srgbClr val="7030A0"/>
                </a:solidFill>
                <a:latin typeface="Times New Roman" pitchFamily="18" charset="0"/>
                <a:cs typeface="Times New Roman" pitchFamily="18" charset="0"/>
              </a:rPr>
              <a:t>3</a:t>
            </a:r>
            <a:r>
              <a:rPr lang="en-US" b="1" dirty="0">
                <a:solidFill>
                  <a:srgbClr val="7030A0"/>
                </a:solidFill>
                <a:latin typeface="Times New Roman" pitchFamily="18" charset="0"/>
                <a:cs typeface="Times New Roman" pitchFamily="18" charset="0"/>
              </a:rPr>
              <a:t>, we find that </a:t>
            </a:r>
            <a:r>
              <a:rPr lang="en-US" b="1" dirty="0">
                <a:latin typeface="Times New Roman" pitchFamily="18" charset="0"/>
                <a:cs typeface="Times New Roman" pitchFamily="18" charset="0"/>
              </a:rPr>
              <a:t>v</a:t>
            </a:r>
            <a:r>
              <a:rPr lang="en-US" b="1" baseline="-25000" dirty="0">
                <a:latin typeface="Times New Roman" pitchFamily="18" charset="0"/>
                <a:cs typeface="Times New Roman" pitchFamily="18" charset="0"/>
              </a:rPr>
              <a:t>3</a:t>
            </a:r>
            <a:r>
              <a:rPr lang="en-US" b="1" dirty="0">
                <a:latin typeface="Times New Roman" pitchFamily="18" charset="0"/>
                <a:cs typeface="Times New Roman" pitchFamily="18" charset="0"/>
              </a:rPr>
              <a:t> = R</a:t>
            </a:r>
            <a:r>
              <a:rPr lang="en-US" b="1" baseline="-25000" dirty="0">
                <a:latin typeface="Times New Roman" pitchFamily="18" charset="0"/>
                <a:cs typeface="Times New Roman" pitchFamily="18" charset="0"/>
              </a:rPr>
              <a:t>3</a:t>
            </a:r>
            <a:r>
              <a:rPr lang="en-US" b="1" dirty="0">
                <a:latin typeface="Times New Roman" pitchFamily="18" charset="0"/>
                <a:cs typeface="Times New Roman" pitchFamily="18" charset="0"/>
              </a:rPr>
              <a:t>i</a:t>
            </a:r>
            <a:r>
              <a:rPr lang="en-US" b="1" baseline="-25000" dirty="0">
                <a:latin typeface="Times New Roman" pitchFamily="18" charset="0"/>
                <a:cs typeface="Times New Roman" pitchFamily="18" charset="0"/>
              </a:rPr>
              <a:t>3</a:t>
            </a:r>
            <a:r>
              <a:rPr lang="en-US" b="1" dirty="0">
                <a:latin typeface="Times New Roman" pitchFamily="18" charset="0"/>
                <a:cs typeface="Times New Roman" pitchFamily="18" charset="0"/>
              </a:rPr>
              <a:t> = 1(2) = 2 V </a:t>
            </a:r>
          </a:p>
          <a:p>
            <a:pPr algn="just"/>
            <a:r>
              <a:rPr lang="en-US" b="1" dirty="0">
                <a:solidFill>
                  <a:srgbClr val="7030A0"/>
                </a:solidFill>
                <a:latin typeface="Times New Roman" pitchFamily="18" charset="0"/>
                <a:cs typeface="Times New Roman" pitchFamily="18" charset="0"/>
              </a:rPr>
              <a:t>Kirchhoff’s voltage law for the bottom loop incorporating v</a:t>
            </a:r>
            <a:r>
              <a:rPr lang="en-US" b="1" baseline="-25000" dirty="0">
                <a:solidFill>
                  <a:srgbClr val="7030A0"/>
                </a:solidFill>
                <a:latin typeface="Times New Roman" pitchFamily="18" charset="0"/>
                <a:cs typeface="Times New Roman" pitchFamily="18" charset="0"/>
              </a:rPr>
              <a:t>1</a:t>
            </a:r>
            <a:r>
              <a:rPr lang="en-US" b="1" dirty="0">
                <a:solidFill>
                  <a:srgbClr val="7030A0"/>
                </a:solidFill>
                <a:latin typeface="Times New Roman" pitchFamily="18" charset="0"/>
                <a:cs typeface="Times New Roman" pitchFamily="18" charset="0"/>
              </a:rPr>
              <a:t>, v</a:t>
            </a:r>
            <a:r>
              <a:rPr lang="en-US" b="1" baseline="-25000" dirty="0">
                <a:solidFill>
                  <a:srgbClr val="7030A0"/>
                </a:solidFill>
                <a:latin typeface="Times New Roman" pitchFamily="18" charset="0"/>
                <a:cs typeface="Times New Roman" pitchFamily="18" charset="0"/>
              </a:rPr>
              <a:t>3</a:t>
            </a:r>
            <a:r>
              <a:rPr lang="en-US" b="1" dirty="0">
                <a:solidFill>
                  <a:srgbClr val="7030A0"/>
                </a:solidFill>
                <a:latin typeface="Times New Roman" pitchFamily="18" charset="0"/>
                <a:cs typeface="Times New Roman" pitchFamily="18" charset="0"/>
              </a:rPr>
              <a:t>, and the 10-V source is </a:t>
            </a:r>
          </a:p>
          <a:p>
            <a:pPr algn="just"/>
            <a:r>
              <a:rPr lang="en-US" b="1" dirty="0">
                <a:solidFill>
                  <a:srgbClr val="7030A0"/>
                </a:solidFill>
                <a:latin typeface="Times New Roman" pitchFamily="18" charset="0"/>
                <a:cs typeface="Times New Roman" pitchFamily="18" charset="0"/>
              </a:rPr>
              <a:t>		</a:t>
            </a:r>
            <a:r>
              <a:rPr lang="en-US" b="1" dirty="0">
                <a:latin typeface="Times New Roman" pitchFamily="18" charset="0"/>
                <a:cs typeface="Times New Roman" pitchFamily="18" charset="0"/>
              </a:rPr>
              <a:t>-10 + v</a:t>
            </a:r>
            <a:r>
              <a:rPr lang="en-US" b="1" baseline="-25000" dirty="0">
                <a:latin typeface="Times New Roman" pitchFamily="18" charset="0"/>
                <a:cs typeface="Times New Roman" pitchFamily="18" charset="0"/>
              </a:rPr>
              <a:t>1</a:t>
            </a:r>
            <a:r>
              <a:rPr lang="en-US" b="1" dirty="0">
                <a:latin typeface="Times New Roman" pitchFamily="18" charset="0"/>
                <a:cs typeface="Times New Roman" pitchFamily="18" charset="0"/>
              </a:rPr>
              <a:t> + v</a:t>
            </a:r>
            <a:r>
              <a:rPr lang="en-US" b="1" baseline="-25000" dirty="0">
                <a:latin typeface="Times New Roman" pitchFamily="18" charset="0"/>
                <a:cs typeface="Times New Roman" pitchFamily="18" charset="0"/>
              </a:rPr>
              <a:t>3</a:t>
            </a:r>
            <a:r>
              <a:rPr lang="en-US" b="1" dirty="0">
                <a:latin typeface="Times New Roman" pitchFamily="18" charset="0"/>
                <a:cs typeface="Times New Roman" pitchFamily="18" charset="0"/>
              </a:rPr>
              <a:t> = 0 </a:t>
            </a:r>
          </a:p>
          <a:p>
            <a:pPr algn="just"/>
            <a:r>
              <a:rPr lang="en-US" b="1" dirty="0">
                <a:solidFill>
                  <a:srgbClr val="7030A0"/>
                </a:solidFill>
                <a:latin typeface="Times New Roman" pitchFamily="18" charset="0"/>
                <a:cs typeface="Times New Roman" pitchFamily="18" charset="0"/>
              </a:rPr>
              <a:t>Therefore; 	</a:t>
            </a:r>
            <a:r>
              <a:rPr lang="en-US" b="1" dirty="0">
                <a:latin typeface="Times New Roman" pitchFamily="18" charset="0"/>
                <a:cs typeface="Times New Roman" pitchFamily="18" charset="0"/>
              </a:rPr>
              <a:t>v</a:t>
            </a:r>
            <a:r>
              <a:rPr lang="en-US" b="1" baseline="-25000" dirty="0">
                <a:latin typeface="Times New Roman" pitchFamily="18" charset="0"/>
                <a:cs typeface="Times New Roman" pitchFamily="18" charset="0"/>
              </a:rPr>
              <a:t>1</a:t>
            </a:r>
            <a:r>
              <a:rPr lang="en-US" b="1" dirty="0">
                <a:latin typeface="Times New Roman" pitchFamily="18" charset="0"/>
                <a:cs typeface="Times New Roman" pitchFamily="18" charset="0"/>
              </a:rPr>
              <a:t> = 10 - v</a:t>
            </a:r>
            <a:r>
              <a:rPr lang="en-US" b="1" baseline="-25000" dirty="0">
                <a:latin typeface="Times New Roman" pitchFamily="18" charset="0"/>
                <a:cs typeface="Times New Roman" pitchFamily="18" charset="0"/>
              </a:rPr>
              <a:t>3</a:t>
            </a:r>
            <a:r>
              <a:rPr lang="en-US" b="1" dirty="0">
                <a:latin typeface="Times New Roman" pitchFamily="18" charset="0"/>
                <a:cs typeface="Times New Roman" pitchFamily="18" charset="0"/>
              </a:rPr>
              <a:t> = 8 V </a:t>
            </a:r>
          </a:p>
          <a:p>
            <a:pPr algn="just"/>
            <a:r>
              <a:rPr lang="en-US" b="1" dirty="0">
                <a:solidFill>
                  <a:srgbClr val="7030A0"/>
                </a:solidFill>
                <a:latin typeface="Times New Roman" pitchFamily="18" charset="0"/>
                <a:cs typeface="Times New Roman" pitchFamily="18" charset="0"/>
              </a:rPr>
              <a:t>Ohm’s law for the resistor R</a:t>
            </a:r>
            <a:r>
              <a:rPr lang="en-US" b="1" baseline="-25000" dirty="0">
                <a:solidFill>
                  <a:srgbClr val="7030A0"/>
                </a:solidFill>
                <a:latin typeface="Times New Roman" pitchFamily="18" charset="0"/>
                <a:cs typeface="Times New Roman" pitchFamily="18" charset="0"/>
              </a:rPr>
              <a:t>1</a:t>
            </a:r>
            <a:r>
              <a:rPr lang="en-US" b="1" dirty="0">
                <a:solidFill>
                  <a:srgbClr val="7030A0"/>
                </a:solidFill>
                <a:latin typeface="Times New Roman" pitchFamily="18" charset="0"/>
                <a:cs typeface="Times New Roman" pitchFamily="18" charset="0"/>
              </a:rPr>
              <a:t> is v</a:t>
            </a:r>
            <a:r>
              <a:rPr lang="en-US" b="1" baseline="-25000" dirty="0">
                <a:solidFill>
                  <a:srgbClr val="7030A0"/>
                </a:solidFill>
                <a:latin typeface="Times New Roman" pitchFamily="18" charset="0"/>
                <a:cs typeface="Times New Roman" pitchFamily="18" charset="0"/>
              </a:rPr>
              <a:t>1</a:t>
            </a:r>
            <a:r>
              <a:rPr lang="en-US" b="1" dirty="0">
                <a:solidFill>
                  <a:srgbClr val="7030A0"/>
                </a:solidFill>
                <a:latin typeface="Times New Roman" pitchFamily="18" charset="0"/>
                <a:cs typeface="Times New Roman" pitchFamily="18" charset="0"/>
              </a:rPr>
              <a:t> = R</a:t>
            </a:r>
            <a:r>
              <a:rPr lang="en-US" b="1" baseline="-25000" dirty="0">
                <a:solidFill>
                  <a:srgbClr val="7030A0"/>
                </a:solidFill>
                <a:latin typeface="Times New Roman" pitchFamily="18" charset="0"/>
                <a:cs typeface="Times New Roman" pitchFamily="18" charset="0"/>
              </a:rPr>
              <a:t>1</a:t>
            </a:r>
            <a:r>
              <a:rPr lang="en-US" b="1" dirty="0">
                <a:solidFill>
                  <a:srgbClr val="7030A0"/>
                </a:solidFill>
                <a:latin typeface="Times New Roman" pitchFamily="18" charset="0"/>
                <a:cs typeface="Times New Roman" pitchFamily="18" charset="0"/>
              </a:rPr>
              <a:t>i</a:t>
            </a:r>
            <a:r>
              <a:rPr lang="en-US" b="1" baseline="-25000" dirty="0">
                <a:solidFill>
                  <a:srgbClr val="7030A0"/>
                </a:solidFill>
                <a:latin typeface="Times New Roman" pitchFamily="18" charset="0"/>
                <a:cs typeface="Times New Roman" pitchFamily="18" charset="0"/>
              </a:rPr>
              <a:t>1</a:t>
            </a:r>
            <a:r>
              <a:rPr lang="en-US" b="1" dirty="0">
                <a:solidFill>
                  <a:srgbClr val="7030A0"/>
                </a:solidFill>
                <a:latin typeface="Times New Roman" pitchFamily="18" charset="0"/>
                <a:cs typeface="Times New Roman" pitchFamily="18" charset="0"/>
              </a:rPr>
              <a:t> </a:t>
            </a:r>
          </a:p>
          <a:p>
            <a:pPr algn="just"/>
            <a:r>
              <a:rPr lang="en-US" b="1" dirty="0">
                <a:solidFill>
                  <a:srgbClr val="7030A0"/>
                </a:solidFill>
                <a:latin typeface="Times New Roman" pitchFamily="18" charset="0"/>
                <a:cs typeface="Times New Roman" pitchFamily="18" charset="0"/>
              </a:rPr>
              <a:t>or 		</a:t>
            </a:r>
            <a:r>
              <a:rPr lang="en-US" b="1" dirty="0">
                <a:latin typeface="Times New Roman" pitchFamily="18" charset="0"/>
                <a:cs typeface="Times New Roman" pitchFamily="18" charset="0"/>
              </a:rPr>
              <a:t>i</a:t>
            </a:r>
            <a:r>
              <a:rPr lang="en-US" b="1" baseline="-25000" dirty="0">
                <a:latin typeface="Times New Roman" pitchFamily="18" charset="0"/>
                <a:cs typeface="Times New Roman" pitchFamily="18" charset="0"/>
              </a:rPr>
              <a:t>1</a:t>
            </a:r>
            <a:r>
              <a:rPr lang="en-US" b="1" dirty="0">
                <a:latin typeface="Times New Roman" pitchFamily="18" charset="0"/>
                <a:cs typeface="Times New Roman" pitchFamily="18" charset="0"/>
              </a:rPr>
              <a:t> = v</a:t>
            </a:r>
            <a:r>
              <a:rPr lang="en-US" b="1" baseline="-25000" dirty="0">
                <a:latin typeface="Times New Roman" pitchFamily="18" charset="0"/>
                <a:cs typeface="Times New Roman" pitchFamily="18" charset="0"/>
              </a:rPr>
              <a:t>1</a:t>
            </a:r>
            <a:r>
              <a:rPr lang="en-US" b="1" dirty="0">
                <a:latin typeface="Times New Roman" pitchFamily="18" charset="0"/>
                <a:cs typeface="Times New Roman" pitchFamily="18" charset="0"/>
              </a:rPr>
              <a:t>/R</a:t>
            </a:r>
            <a:r>
              <a:rPr lang="en-US" b="1" baseline="-25000" dirty="0">
                <a:latin typeface="Times New Roman" pitchFamily="18" charset="0"/>
                <a:cs typeface="Times New Roman" pitchFamily="18" charset="0"/>
              </a:rPr>
              <a:t>1</a:t>
            </a:r>
            <a:r>
              <a:rPr lang="en-US" b="1" dirty="0">
                <a:latin typeface="Times New Roman" pitchFamily="18" charset="0"/>
                <a:cs typeface="Times New Roman" pitchFamily="18" charset="0"/>
              </a:rPr>
              <a:t> = 8/8 = 1 A </a:t>
            </a:r>
          </a:p>
          <a:p>
            <a:pPr algn="just"/>
            <a:r>
              <a:rPr lang="en-US" b="1" dirty="0">
                <a:solidFill>
                  <a:srgbClr val="7030A0"/>
                </a:solidFill>
                <a:latin typeface="Times New Roman" pitchFamily="18" charset="0"/>
                <a:cs typeface="Times New Roman" pitchFamily="18" charset="0"/>
              </a:rPr>
              <a:t>Next, apply Kirchhoff’s current law at node a to get</a:t>
            </a:r>
          </a:p>
          <a:p>
            <a:pPr algn="just"/>
            <a:r>
              <a:rPr lang="en-US" b="1" dirty="0">
                <a:solidFill>
                  <a:srgbClr val="7030A0"/>
                </a:solidFill>
                <a:latin typeface="Times New Roman" pitchFamily="18" charset="0"/>
                <a:cs typeface="Times New Roman" pitchFamily="18" charset="0"/>
              </a:rPr>
              <a:t>		</a:t>
            </a:r>
            <a:r>
              <a:rPr lang="en-US" b="1" dirty="0">
                <a:latin typeface="Times New Roman" pitchFamily="18" charset="0"/>
                <a:cs typeface="Times New Roman" pitchFamily="18" charset="0"/>
              </a:rPr>
              <a:t> i</a:t>
            </a:r>
            <a:r>
              <a:rPr lang="en-US" b="1" baseline="-25000" dirty="0">
                <a:latin typeface="Times New Roman" pitchFamily="18" charset="0"/>
                <a:cs typeface="Times New Roman" pitchFamily="18" charset="0"/>
              </a:rPr>
              <a:t>2</a:t>
            </a:r>
            <a:r>
              <a:rPr lang="en-US" b="1" dirty="0">
                <a:latin typeface="Times New Roman" pitchFamily="18" charset="0"/>
                <a:cs typeface="Times New Roman" pitchFamily="18" charset="0"/>
              </a:rPr>
              <a:t> = i</a:t>
            </a:r>
            <a:r>
              <a:rPr lang="en-US" b="1" baseline="-25000" dirty="0">
                <a:latin typeface="Times New Roman" pitchFamily="18" charset="0"/>
                <a:cs typeface="Times New Roman" pitchFamily="18" charset="0"/>
              </a:rPr>
              <a:t>1</a:t>
            </a:r>
            <a:r>
              <a:rPr lang="en-US" b="1" dirty="0">
                <a:latin typeface="Times New Roman" pitchFamily="18" charset="0"/>
                <a:cs typeface="Times New Roman" pitchFamily="18" charset="0"/>
              </a:rPr>
              <a:t> - i</a:t>
            </a:r>
            <a:r>
              <a:rPr lang="en-US" b="1" baseline="-25000" dirty="0">
                <a:latin typeface="Times New Roman" pitchFamily="18" charset="0"/>
                <a:cs typeface="Times New Roman" pitchFamily="18" charset="0"/>
              </a:rPr>
              <a:t>3</a:t>
            </a:r>
            <a:r>
              <a:rPr lang="en-US" b="1" dirty="0">
                <a:latin typeface="Times New Roman" pitchFamily="18" charset="0"/>
                <a:cs typeface="Times New Roman" pitchFamily="18" charset="0"/>
              </a:rPr>
              <a:t> = 1-2 = -1 A </a:t>
            </a:r>
          </a:p>
          <a:p>
            <a:pPr algn="just"/>
            <a:r>
              <a:rPr lang="en-US" b="1" dirty="0">
                <a:solidFill>
                  <a:srgbClr val="7030A0"/>
                </a:solidFill>
                <a:latin typeface="Times New Roman" pitchFamily="18" charset="0"/>
                <a:cs typeface="Times New Roman" pitchFamily="18" charset="0"/>
              </a:rPr>
              <a:t>We can now find the resistance R</a:t>
            </a:r>
            <a:r>
              <a:rPr lang="en-US" b="1" baseline="-25000" dirty="0">
                <a:solidFill>
                  <a:srgbClr val="7030A0"/>
                </a:solidFill>
                <a:latin typeface="Times New Roman" pitchFamily="18" charset="0"/>
                <a:cs typeface="Times New Roman" pitchFamily="18" charset="0"/>
              </a:rPr>
              <a:t>2</a:t>
            </a:r>
            <a:r>
              <a:rPr lang="en-US" b="1" dirty="0">
                <a:solidFill>
                  <a:srgbClr val="7030A0"/>
                </a:solidFill>
                <a:latin typeface="Times New Roman" pitchFamily="18" charset="0"/>
                <a:cs typeface="Times New Roman" pitchFamily="18" charset="0"/>
              </a:rPr>
              <a:t> from v</a:t>
            </a:r>
            <a:r>
              <a:rPr lang="en-US" b="1" baseline="-25000" dirty="0">
                <a:solidFill>
                  <a:srgbClr val="7030A0"/>
                </a:solidFill>
                <a:latin typeface="Times New Roman" pitchFamily="18" charset="0"/>
                <a:cs typeface="Times New Roman" pitchFamily="18" charset="0"/>
              </a:rPr>
              <a:t>2</a:t>
            </a:r>
            <a:r>
              <a:rPr lang="en-US" b="1" dirty="0">
                <a:solidFill>
                  <a:srgbClr val="7030A0"/>
                </a:solidFill>
                <a:latin typeface="Times New Roman" pitchFamily="18" charset="0"/>
                <a:cs typeface="Times New Roman" pitchFamily="18" charset="0"/>
              </a:rPr>
              <a:t> = R</a:t>
            </a:r>
            <a:r>
              <a:rPr lang="en-US" b="1" baseline="-25000" dirty="0">
                <a:solidFill>
                  <a:srgbClr val="7030A0"/>
                </a:solidFill>
                <a:latin typeface="Times New Roman" pitchFamily="18" charset="0"/>
                <a:cs typeface="Times New Roman" pitchFamily="18" charset="0"/>
              </a:rPr>
              <a:t>2</a:t>
            </a:r>
            <a:r>
              <a:rPr lang="en-US" b="1" dirty="0">
                <a:solidFill>
                  <a:srgbClr val="7030A0"/>
                </a:solidFill>
                <a:latin typeface="Times New Roman" pitchFamily="18" charset="0"/>
                <a:cs typeface="Times New Roman" pitchFamily="18" charset="0"/>
              </a:rPr>
              <a:t>i</a:t>
            </a:r>
            <a:r>
              <a:rPr lang="en-US" b="1" baseline="-25000" dirty="0">
                <a:solidFill>
                  <a:srgbClr val="7030A0"/>
                </a:solidFill>
                <a:latin typeface="Times New Roman" pitchFamily="18" charset="0"/>
                <a:cs typeface="Times New Roman" pitchFamily="18" charset="0"/>
              </a:rPr>
              <a:t>2</a:t>
            </a:r>
            <a:r>
              <a:rPr lang="en-US" b="1" dirty="0">
                <a:solidFill>
                  <a:srgbClr val="7030A0"/>
                </a:solidFill>
                <a:latin typeface="Times New Roman" pitchFamily="18" charset="0"/>
                <a:cs typeface="Times New Roman" pitchFamily="18" charset="0"/>
              </a:rPr>
              <a:t> or </a:t>
            </a:r>
          </a:p>
          <a:p>
            <a:pPr algn="just"/>
            <a:r>
              <a:rPr lang="en-US" b="1" dirty="0">
                <a:solidFill>
                  <a:srgbClr val="7030A0"/>
                </a:solidFill>
                <a:latin typeface="Times New Roman" pitchFamily="18" charset="0"/>
                <a:cs typeface="Times New Roman" pitchFamily="18" charset="0"/>
              </a:rPr>
              <a:t>		</a:t>
            </a:r>
            <a:r>
              <a:rPr lang="en-US" b="1" dirty="0">
                <a:latin typeface="Times New Roman" pitchFamily="18" charset="0"/>
                <a:cs typeface="Times New Roman" pitchFamily="18" charset="0"/>
              </a:rPr>
              <a:t>R</a:t>
            </a:r>
            <a:r>
              <a:rPr lang="en-US" b="1" baseline="-25000" dirty="0">
                <a:latin typeface="Times New Roman" pitchFamily="18" charset="0"/>
                <a:cs typeface="Times New Roman" pitchFamily="18" charset="0"/>
              </a:rPr>
              <a:t>2</a:t>
            </a:r>
            <a:r>
              <a:rPr lang="en-US" b="1" dirty="0">
                <a:latin typeface="Times New Roman" pitchFamily="18" charset="0"/>
                <a:cs typeface="Times New Roman" pitchFamily="18" charset="0"/>
              </a:rPr>
              <a:t> = v</a:t>
            </a:r>
            <a:r>
              <a:rPr lang="en-US" b="1" baseline="-25000" dirty="0">
                <a:latin typeface="Times New Roman" pitchFamily="18" charset="0"/>
                <a:cs typeface="Times New Roman" pitchFamily="18" charset="0"/>
              </a:rPr>
              <a:t>2</a:t>
            </a:r>
            <a:r>
              <a:rPr lang="en-US" b="1" dirty="0">
                <a:latin typeface="Times New Roman" pitchFamily="18" charset="0"/>
                <a:cs typeface="Times New Roman" pitchFamily="18" charset="0"/>
              </a:rPr>
              <a:t>/i</a:t>
            </a:r>
            <a:r>
              <a:rPr lang="en-US" b="1" baseline="-25000" dirty="0">
                <a:latin typeface="Times New Roman" pitchFamily="18" charset="0"/>
                <a:cs typeface="Times New Roman" pitchFamily="18" charset="0"/>
              </a:rPr>
              <a:t>2</a:t>
            </a:r>
            <a:r>
              <a:rPr lang="en-US" b="1" dirty="0">
                <a:latin typeface="Times New Roman" pitchFamily="18" charset="0"/>
                <a:cs typeface="Times New Roman" pitchFamily="18" charset="0"/>
              </a:rPr>
              <a:t> = -10/-1 = 10</a:t>
            </a:r>
            <a:r>
              <a:rPr lang="el-GR" b="1" dirty="0">
                <a:latin typeface="Times New Roman" pitchFamily="18" charset="0"/>
                <a:cs typeface="Times New Roman" pitchFamily="18" charset="0"/>
              </a:rPr>
              <a:t>Ω</a:t>
            </a:r>
            <a:endParaRPr lang="en-US" b="1"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7C7D6217-2CB0-4899-A90F-D165D154DCA2}" type="slidenum">
              <a:rPr lang="en-IN" smtClean="0"/>
              <a:pPr/>
              <a:t>17</a:t>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620688"/>
            <a:ext cx="8229600" cy="748679"/>
          </a:xfrm>
        </p:spPr>
        <p:txBody>
          <a:bodyPr>
            <a:normAutofit/>
          </a:bodyPr>
          <a:lstStyle/>
          <a:p>
            <a:pPr algn="just">
              <a:buNone/>
            </a:pPr>
            <a:r>
              <a:rPr lang="en-US" sz="2000" b="1" dirty="0">
                <a:latin typeface="Times New Roman" pitchFamily="18" charset="0"/>
                <a:cs typeface="Times New Roman" pitchFamily="18" charset="0"/>
              </a:rPr>
              <a:t>	Problem 2. Determine the value of the current, in amps, measured by the ammeter in Figure a.</a:t>
            </a:r>
          </a:p>
        </p:txBody>
      </p:sp>
      <p:pic>
        <p:nvPicPr>
          <p:cNvPr id="4098" name="Picture 2"/>
          <p:cNvPicPr>
            <a:picLocks noChangeAspect="1" noChangeArrowheads="1"/>
          </p:cNvPicPr>
          <p:nvPr/>
        </p:nvPicPr>
        <p:blipFill>
          <a:blip r:embed="rId2" cstate="print"/>
          <a:srcRect/>
          <a:stretch>
            <a:fillRect/>
          </a:stretch>
        </p:blipFill>
        <p:spPr bwMode="auto">
          <a:xfrm>
            <a:off x="1763688" y="1556792"/>
            <a:ext cx="5966320" cy="2434785"/>
          </a:xfrm>
          <a:prstGeom prst="rect">
            <a:avLst/>
          </a:prstGeom>
          <a:noFill/>
          <a:ln w="9525">
            <a:noFill/>
            <a:miter lim="800000"/>
            <a:headEnd/>
            <a:tailEnd/>
          </a:ln>
        </p:spPr>
      </p:pic>
      <p:sp>
        <p:nvSpPr>
          <p:cNvPr id="7" name="Title 1"/>
          <p:cNvSpPr>
            <a:spLocks noGrp="1"/>
          </p:cNvSpPr>
          <p:nvPr>
            <p:ph type="title"/>
          </p:nvPr>
        </p:nvSpPr>
        <p:spPr>
          <a:xfrm>
            <a:off x="457200" y="-27384"/>
            <a:ext cx="8229600" cy="648072"/>
          </a:xfrm>
        </p:spPr>
        <p:txBody>
          <a:bodyPr>
            <a:normAutofit fontScale="90000"/>
          </a:bodyPr>
          <a:lstStyle/>
          <a:p>
            <a:r>
              <a:rPr lang="en-IN" sz="4900" b="1" dirty="0">
                <a:solidFill>
                  <a:srgbClr val="C00000"/>
                </a:solidFill>
                <a:cs typeface="Times New Roman" panose="02020603050405020304" pitchFamily="18" charset="0"/>
              </a:rPr>
              <a:t>Problems</a:t>
            </a:r>
            <a:endParaRPr lang="en-US" sz="4000" b="1" dirty="0">
              <a:solidFill>
                <a:srgbClr val="C00000"/>
              </a:solidFill>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7C7D6217-2CB0-4899-A90F-D165D154DCA2}" type="slidenum">
              <a:rPr lang="en-IN" smtClean="0"/>
              <a:pPr/>
              <a:t>18</a:t>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1828800"/>
          </a:xfrm>
        </p:spPr>
        <p:txBody>
          <a:bodyPr>
            <a:noAutofit/>
          </a:bodyPr>
          <a:lstStyle/>
          <a:p>
            <a:pPr algn="just">
              <a:buNone/>
            </a:pPr>
            <a:r>
              <a:rPr lang="en-IN" sz="2000" b="1" dirty="0">
                <a:latin typeface="Times New Roman" pitchFamily="18" charset="0"/>
                <a:cs typeface="Times New Roman" pitchFamily="18" charset="0"/>
              </a:rPr>
              <a:t>Solution: </a:t>
            </a:r>
          </a:p>
          <a:p>
            <a:pPr algn="just">
              <a:buNone/>
            </a:pPr>
            <a:r>
              <a:rPr lang="en-US" sz="2000" b="1" dirty="0">
                <a:latin typeface="Times New Roman" pitchFamily="18" charset="0"/>
                <a:cs typeface="Times New Roman" pitchFamily="18" charset="0"/>
              </a:rPr>
              <a:t>     An ideal ammeter is equivalent to a short circuit. The current measured by the ammeter is the current in the short circuit. </a:t>
            </a:r>
          </a:p>
          <a:p>
            <a:pPr algn="just">
              <a:buNone/>
            </a:pPr>
            <a:r>
              <a:rPr lang="en-US" sz="2000" b="1" dirty="0">
                <a:latin typeface="Times New Roman" pitchFamily="18" charset="0"/>
                <a:cs typeface="Times New Roman" pitchFamily="18" charset="0"/>
              </a:rPr>
              <a:t>     Figure b shows the circuit after replacing the ammeter by the equivalent     short circuit. </a:t>
            </a:r>
          </a:p>
        </p:txBody>
      </p:sp>
      <p:sp>
        <p:nvSpPr>
          <p:cNvPr id="4" name="Title 1"/>
          <p:cNvSpPr>
            <a:spLocks noGrp="1"/>
          </p:cNvSpPr>
          <p:nvPr>
            <p:ph type="title"/>
          </p:nvPr>
        </p:nvSpPr>
        <p:spPr>
          <a:xfrm>
            <a:off x="457200" y="-27384"/>
            <a:ext cx="8229600" cy="1143000"/>
          </a:xfrm>
        </p:spPr>
        <p:txBody>
          <a:bodyPr>
            <a:normAutofit/>
          </a:bodyPr>
          <a:lstStyle/>
          <a:p>
            <a:r>
              <a:rPr lang="en-IN" b="1" dirty="0">
                <a:solidFill>
                  <a:srgbClr val="C00000"/>
                </a:solidFill>
                <a:cs typeface="Times New Roman" panose="02020603050405020304" pitchFamily="18" charset="0"/>
              </a:rPr>
              <a:t>Problems…</a:t>
            </a:r>
            <a:endParaRPr lang="en-US" b="1" dirty="0">
              <a:solidFill>
                <a:srgbClr val="C00000"/>
              </a:solidFill>
              <a:cs typeface="Times New Roman" panose="02020603050405020304" pitchFamily="18" charset="0"/>
            </a:endParaRPr>
          </a:p>
        </p:txBody>
      </p:sp>
      <p:pic>
        <p:nvPicPr>
          <p:cNvPr id="5" name="Picture 4"/>
          <p:cNvPicPr>
            <a:picLocks noChangeAspect="1" noChangeArrowheads="1"/>
          </p:cNvPicPr>
          <p:nvPr/>
        </p:nvPicPr>
        <p:blipFill>
          <a:blip r:embed="rId2" cstate="print"/>
          <a:srcRect/>
          <a:stretch>
            <a:fillRect/>
          </a:stretch>
        </p:blipFill>
        <p:spPr bwMode="auto">
          <a:xfrm>
            <a:off x="2020144" y="3717032"/>
            <a:ext cx="4320480" cy="2160240"/>
          </a:xfrm>
          <a:prstGeom prst="rect">
            <a:avLst/>
          </a:prstGeom>
          <a:noFill/>
          <a:ln w="9525">
            <a:noFill/>
            <a:miter lim="800000"/>
            <a:headEnd/>
            <a:tailEnd/>
          </a:ln>
        </p:spPr>
      </p:pic>
      <p:sp>
        <p:nvSpPr>
          <p:cNvPr id="6" name="Slide Number Placeholder 5"/>
          <p:cNvSpPr>
            <a:spLocks noGrp="1"/>
          </p:cNvSpPr>
          <p:nvPr>
            <p:ph type="sldNum" sz="quarter" idx="12"/>
          </p:nvPr>
        </p:nvSpPr>
        <p:spPr/>
        <p:txBody>
          <a:bodyPr/>
          <a:lstStyle/>
          <a:p>
            <a:fld id="{7C7D6217-2CB0-4899-A90F-D165D154DCA2}" type="slidenum">
              <a:rPr lang="en-IN" smtClean="0"/>
              <a:pPr/>
              <a:t>19</a:t>
            </a:fld>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2696"/>
            <a:ext cx="8229600" cy="5832648"/>
          </a:xfrm>
        </p:spPr>
        <p:txBody>
          <a:bodyPr>
            <a:noAutofit/>
          </a:bodyPr>
          <a:lstStyle/>
          <a:p>
            <a:pPr algn="just">
              <a:buNone/>
            </a:pPr>
            <a:r>
              <a:rPr lang="en-US" sz="1800" b="1" dirty="0">
                <a:latin typeface="Times New Roman" pitchFamily="18" charset="0"/>
                <a:cs typeface="Times New Roman" pitchFamily="18" charset="0"/>
              </a:rPr>
              <a:t>     Solution …</a:t>
            </a:r>
          </a:p>
          <a:p>
            <a:pPr algn="just">
              <a:buNone/>
            </a:pPr>
            <a:r>
              <a:rPr lang="en-US" sz="1800" b="1" dirty="0">
                <a:latin typeface="Times New Roman" pitchFamily="18" charset="0"/>
                <a:cs typeface="Times New Roman" pitchFamily="18" charset="0"/>
              </a:rPr>
              <a:t>	The circuit has been redrawn in Figure to label the nodes of the circuit. This circuit consists of a voltage source, a dependent current source, two resistors, and two short circuits. One of the short circuits is the controlling element of the CCCS, and the other short circuit is a model of the ammeter.</a:t>
            </a:r>
          </a:p>
          <a:p>
            <a:pPr algn="just">
              <a:buNone/>
            </a:pPr>
            <a:endParaRPr lang="en-US" sz="1800" b="1" dirty="0">
              <a:latin typeface="Times New Roman" pitchFamily="18" charset="0"/>
              <a:cs typeface="Times New Roman" pitchFamily="18" charset="0"/>
            </a:endParaRPr>
          </a:p>
          <a:p>
            <a:pPr algn="just">
              <a:buNone/>
            </a:pPr>
            <a:endParaRPr lang="en-US" sz="1800" b="1" dirty="0">
              <a:latin typeface="Times New Roman" pitchFamily="18" charset="0"/>
              <a:cs typeface="Times New Roman" pitchFamily="18" charset="0"/>
            </a:endParaRPr>
          </a:p>
          <a:p>
            <a:pPr algn="just">
              <a:buNone/>
            </a:pPr>
            <a:endParaRPr lang="en-US" sz="1800" b="1" dirty="0">
              <a:latin typeface="Times New Roman" pitchFamily="18" charset="0"/>
              <a:cs typeface="Times New Roman" pitchFamily="18" charset="0"/>
            </a:endParaRPr>
          </a:p>
          <a:p>
            <a:pPr algn="just">
              <a:buNone/>
            </a:pPr>
            <a:endParaRPr lang="en-US" sz="1800" b="1" dirty="0">
              <a:latin typeface="Times New Roman" pitchFamily="18" charset="0"/>
              <a:cs typeface="Times New Roman" pitchFamily="18" charset="0"/>
            </a:endParaRPr>
          </a:p>
          <a:p>
            <a:pPr algn="just">
              <a:buNone/>
            </a:pPr>
            <a:endParaRPr lang="en-US" sz="1800" b="1" dirty="0">
              <a:latin typeface="Times New Roman" pitchFamily="18" charset="0"/>
              <a:cs typeface="Times New Roman" pitchFamily="18" charset="0"/>
            </a:endParaRPr>
          </a:p>
          <a:p>
            <a:pPr algn="just">
              <a:buNone/>
            </a:pPr>
            <a:endParaRPr lang="en-US" sz="1800" b="1" dirty="0">
              <a:latin typeface="Times New Roman" pitchFamily="18" charset="0"/>
              <a:cs typeface="Times New Roman" pitchFamily="18" charset="0"/>
            </a:endParaRPr>
          </a:p>
          <a:p>
            <a:pPr algn="just">
              <a:buNone/>
            </a:pPr>
            <a:endParaRPr lang="en-US" sz="1800" b="1" dirty="0">
              <a:latin typeface="Times New Roman" pitchFamily="18" charset="0"/>
              <a:cs typeface="Times New Roman" pitchFamily="18" charset="0"/>
            </a:endParaRPr>
          </a:p>
          <a:p>
            <a:pPr algn="just">
              <a:buNone/>
            </a:pPr>
            <a:endParaRPr lang="en-US" sz="1800" b="1" dirty="0">
              <a:latin typeface="Times New Roman" pitchFamily="18" charset="0"/>
              <a:cs typeface="Times New Roman" pitchFamily="18" charset="0"/>
            </a:endParaRPr>
          </a:p>
          <a:p>
            <a:pPr algn="just">
              <a:buNone/>
            </a:pPr>
            <a:r>
              <a:rPr lang="en-US" sz="1800" b="1" dirty="0">
                <a:latin typeface="Times New Roman" pitchFamily="18" charset="0"/>
                <a:cs typeface="Times New Roman" pitchFamily="18" charset="0"/>
              </a:rPr>
              <a:t>     Applying KCL twice, once at node d and again at node a, shows that the current in the voltage source and the current in the 4</a:t>
            </a:r>
            <a:r>
              <a:rPr lang="el-GR" sz="1800" b="1" dirty="0">
                <a:latin typeface="Times New Roman" pitchFamily="18" charset="0"/>
                <a:cs typeface="Times New Roman" pitchFamily="18" charset="0"/>
              </a:rPr>
              <a:t>Ω</a:t>
            </a:r>
            <a:r>
              <a:rPr lang="en-US" sz="1800" b="1" dirty="0">
                <a:latin typeface="Times New Roman" pitchFamily="18" charset="0"/>
                <a:cs typeface="Times New Roman" pitchFamily="18" charset="0"/>
              </a:rPr>
              <a:t> resistor are both equal to </a:t>
            </a:r>
            <a:r>
              <a:rPr lang="en-US" sz="1800" b="1" dirty="0" err="1">
                <a:latin typeface="Times New Roman" pitchFamily="18" charset="0"/>
                <a:cs typeface="Times New Roman" pitchFamily="18" charset="0"/>
              </a:rPr>
              <a:t>i</a:t>
            </a:r>
            <a:r>
              <a:rPr lang="en-US" sz="1800" b="1" baseline="-25000" dirty="0" err="1">
                <a:latin typeface="Times New Roman" pitchFamily="18" charset="0"/>
                <a:cs typeface="Times New Roman" pitchFamily="18" charset="0"/>
              </a:rPr>
              <a:t>a</a:t>
            </a:r>
            <a:r>
              <a:rPr lang="en-US" sz="1800" b="1" dirty="0">
                <a:latin typeface="Times New Roman" pitchFamily="18" charset="0"/>
                <a:cs typeface="Times New Roman" pitchFamily="18" charset="0"/>
              </a:rPr>
              <a:t>. </a:t>
            </a:r>
          </a:p>
          <a:p>
            <a:pPr algn="just">
              <a:buNone/>
            </a:pPr>
            <a:r>
              <a:rPr lang="en-US" sz="1800" b="1" dirty="0">
                <a:latin typeface="Times New Roman" pitchFamily="18" charset="0"/>
                <a:cs typeface="Times New Roman" pitchFamily="18" charset="0"/>
              </a:rPr>
              <a:t>     Applying KCL again, at node c, shows that the current in the 2</a:t>
            </a:r>
            <a:r>
              <a:rPr lang="el-GR" sz="1800" b="1" dirty="0">
                <a:latin typeface="Times New Roman" pitchFamily="18" charset="0"/>
                <a:cs typeface="Times New Roman" pitchFamily="18" charset="0"/>
              </a:rPr>
              <a:t>Ω</a:t>
            </a:r>
            <a:r>
              <a:rPr lang="en-US" sz="1800" b="1" dirty="0">
                <a:latin typeface="Times New Roman" pitchFamily="18" charset="0"/>
                <a:cs typeface="Times New Roman" pitchFamily="18" charset="0"/>
              </a:rPr>
              <a:t> resistor is equal to </a:t>
            </a:r>
            <a:r>
              <a:rPr lang="en-US" sz="1800" b="1" dirty="0" err="1">
                <a:latin typeface="Times New Roman" pitchFamily="18" charset="0"/>
                <a:cs typeface="Times New Roman" pitchFamily="18" charset="0"/>
              </a:rPr>
              <a:t>i</a:t>
            </a:r>
            <a:r>
              <a:rPr lang="en-US" sz="1800" b="1" baseline="-25000" dirty="0" err="1">
                <a:latin typeface="Times New Roman" pitchFamily="18" charset="0"/>
                <a:cs typeface="Times New Roman" pitchFamily="18" charset="0"/>
              </a:rPr>
              <a:t>m</a:t>
            </a:r>
            <a:r>
              <a:rPr lang="en-US" sz="1800" b="1" dirty="0">
                <a:latin typeface="Times New Roman" pitchFamily="18" charset="0"/>
                <a:cs typeface="Times New Roman" pitchFamily="18" charset="0"/>
              </a:rPr>
              <a:t>. </a:t>
            </a:r>
          </a:p>
        </p:txBody>
      </p:sp>
      <p:pic>
        <p:nvPicPr>
          <p:cNvPr id="5" name="Picture 4"/>
          <p:cNvPicPr>
            <a:picLocks noChangeAspect="1" noChangeArrowheads="1"/>
          </p:cNvPicPr>
          <p:nvPr/>
        </p:nvPicPr>
        <p:blipFill>
          <a:blip r:embed="rId2" cstate="print"/>
          <a:srcRect/>
          <a:stretch>
            <a:fillRect/>
          </a:stretch>
        </p:blipFill>
        <p:spPr bwMode="auto">
          <a:xfrm>
            <a:off x="1979712" y="2276872"/>
            <a:ext cx="5208011" cy="2391722"/>
          </a:xfrm>
          <a:prstGeom prst="rect">
            <a:avLst/>
          </a:prstGeom>
          <a:noFill/>
          <a:ln w="9525">
            <a:noFill/>
            <a:miter lim="800000"/>
            <a:headEnd/>
            <a:tailEnd/>
          </a:ln>
        </p:spPr>
      </p:pic>
      <p:sp>
        <p:nvSpPr>
          <p:cNvPr id="7" name="Title 1"/>
          <p:cNvSpPr>
            <a:spLocks noGrp="1"/>
          </p:cNvSpPr>
          <p:nvPr>
            <p:ph type="title"/>
          </p:nvPr>
        </p:nvSpPr>
        <p:spPr>
          <a:xfrm>
            <a:off x="395536" y="-223516"/>
            <a:ext cx="8229600" cy="1204244"/>
          </a:xfrm>
        </p:spPr>
        <p:txBody>
          <a:bodyPr>
            <a:normAutofit/>
          </a:bodyPr>
          <a:lstStyle/>
          <a:p>
            <a:r>
              <a:rPr lang="en-IN" b="1" dirty="0">
                <a:solidFill>
                  <a:srgbClr val="C00000"/>
                </a:solidFill>
                <a:cs typeface="Times New Roman" panose="02020603050405020304" pitchFamily="18" charset="0"/>
              </a:rPr>
              <a:t>Problems…</a:t>
            </a:r>
            <a:endParaRPr lang="en-US" b="1" dirty="0">
              <a:solidFill>
                <a:srgbClr val="C00000"/>
              </a:solidFill>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7C7D6217-2CB0-4899-A90F-D165D154DCA2}" type="slidenum">
              <a:rPr lang="en-IN" smtClean="0"/>
              <a:pPr/>
              <a:t>20</a:t>
            </a:fld>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919261"/>
            <a:ext cx="8424936" cy="4525963"/>
          </a:xfrm>
        </p:spPr>
        <p:txBody>
          <a:bodyPr>
            <a:normAutofit/>
          </a:bodyPr>
          <a:lstStyle/>
          <a:p>
            <a:pPr>
              <a:buNone/>
            </a:pPr>
            <a:r>
              <a:rPr lang="en-US" sz="2000" b="1" dirty="0">
                <a:latin typeface="Times New Roman" pitchFamily="18" charset="0"/>
                <a:cs typeface="Times New Roman" pitchFamily="18" charset="0"/>
              </a:rPr>
              <a:t>Solution … </a:t>
            </a:r>
          </a:p>
          <a:p>
            <a:pPr>
              <a:buNone/>
            </a:pPr>
            <a:r>
              <a:rPr lang="en-US" sz="2000" b="1" dirty="0">
                <a:latin typeface="Times New Roman" pitchFamily="18" charset="0"/>
                <a:cs typeface="Times New Roman" pitchFamily="18" charset="0"/>
              </a:rPr>
              <a:t>	Next, Ohm’s law tells us that the voltage across the 4</a:t>
            </a:r>
            <a:r>
              <a:rPr lang="el-GR" sz="2000" b="1" dirty="0">
                <a:latin typeface="Times New Roman" pitchFamily="18" charset="0"/>
                <a:cs typeface="Times New Roman" pitchFamily="18" charset="0"/>
              </a:rPr>
              <a:t>Ω</a:t>
            </a:r>
            <a:r>
              <a:rPr lang="en-US" sz="2000" b="1" dirty="0">
                <a:latin typeface="Times New Roman" pitchFamily="18" charset="0"/>
                <a:cs typeface="Times New Roman" pitchFamily="18" charset="0"/>
              </a:rPr>
              <a:t> resistor is equal to 4i</a:t>
            </a:r>
            <a:r>
              <a:rPr lang="en-US" sz="2000" b="1" baseline="-25000" dirty="0">
                <a:latin typeface="Times New Roman" pitchFamily="18" charset="0"/>
                <a:cs typeface="Times New Roman" pitchFamily="18" charset="0"/>
              </a:rPr>
              <a:t>a</a:t>
            </a:r>
            <a:r>
              <a:rPr lang="en-US" sz="2000" b="1" dirty="0">
                <a:latin typeface="Times New Roman" pitchFamily="18" charset="0"/>
                <a:cs typeface="Times New Roman" pitchFamily="18" charset="0"/>
              </a:rPr>
              <a:t> and that the voltage across the 2</a:t>
            </a:r>
            <a:r>
              <a:rPr lang="el-GR" sz="2000" b="1" dirty="0">
                <a:latin typeface="Times New Roman" pitchFamily="18" charset="0"/>
                <a:cs typeface="Times New Roman" pitchFamily="18" charset="0"/>
              </a:rPr>
              <a:t>Ω</a:t>
            </a:r>
            <a:r>
              <a:rPr lang="en-US" sz="2000" b="1" dirty="0">
                <a:latin typeface="Times New Roman" pitchFamily="18" charset="0"/>
                <a:cs typeface="Times New Roman" pitchFamily="18" charset="0"/>
              </a:rPr>
              <a:t> resistor is equal to 2i</a:t>
            </a:r>
            <a:r>
              <a:rPr lang="en-US" sz="2000" b="1" baseline="-25000" dirty="0">
                <a:latin typeface="Times New Roman" pitchFamily="18" charset="0"/>
                <a:cs typeface="Times New Roman" pitchFamily="18" charset="0"/>
              </a:rPr>
              <a:t>m</a:t>
            </a:r>
            <a:r>
              <a:rPr lang="en-US" sz="2000" b="1" dirty="0">
                <a:latin typeface="Times New Roman" pitchFamily="18" charset="0"/>
                <a:cs typeface="Times New Roman" pitchFamily="18" charset="0"/>
              </a:rPr>
              <a:t>.</a:t>
            </a:r>
          </a:p>
          <a:p>
            <a:pPr>
              <a:buNone/>
            </a:pPr>
            <a:r>
              <a:rPr lang="en-US" sz="2000" b="1" dirty="0">
                <a:latin typeface="Times New Roman" pitchFamily="18" charset="0"/>
                <a:cs typeface="Times New Roman" pitchFamily="18" charset="0"/>
              </a:rPr>
              <a:t>      Applying </a:t>
            </a:r>
            <a:r>
              <a:rPr lang="en-US" sz="2000" b="1" dirty="0">
                <a:solidFill>
                  <a:srgbClr val="C00000"/>
                </a:solidFill>
                <a:latin typeface="Times New Roman" pitchFamily="18" charset="0"/>
                <a:cs typeface="Times New Roman" pitchFamily="18" charset="0"/>
              </a:rPr>
              <a:t>KCL at node b </a:t>
            </a:r>
            <a:r>
              <a:rPr lang="en-US" sz="2000" b="1" dirty="0">
                <a:latin typeface="Times New Roman" pitchFamily="18" charset="0"/>
                <a:cs typeface="Times New Roman" pitchFamily="18" charset="0"/>
              </a:rPr>
              <a:t>gives</a:t>
            </a:r>
          </a:p>
          <a:p>
            <a:pPr>
              <a:buNone/>
            </a:pPr>
            <a:r>
              <a:rPr lang="en-US" sz="2000" b="1" dirty="0">
                <a:latin typeface="Times New Roman" pitchFamily="18" charset="0"/>
                <a:cs typeface="Times New Roman" pitchFamily="18" charset="0"/>
              </a:rPr>
              <a:t>     				 - </a:t>
            </a:r>
            <a:r>
              <a:rPr lang="en-US" sz="2000" b="1" dirty="0" err="1">
                <a:latin typeface="Times New Roman" pitchFamily="18" charset="0"/>
                <a:cs typeface="Times New Roman" pitchFamily="18" charset="0"/>
              </a:rPr>
              <a:t>i</a:t>
            </a:r>
            <a:r>
              <a:rPr lang="en-US" sz="2000" b="1" baseline="-25000" dirty="0" err="1">
                <a:latin typeface="Times New Roman" pitchFamily="18" charset="0"/>
                <a:cs typeface="Times New Roman" pitchFamily="18" charset="0"/>
              </a:rPr>
              <a:t>a</a:t>
            </a:r>
            <a:r>
              <a:rPr lang="en-US" sz="2000" b="1" dirty="0">
                <a:latin typeface="Times New Roman" pitchFamily="18" charset="0"/>
                <a:cs typeface="Times New Roman" pitchFamily="18" charset="0"/>
              </a:rPr>
              <a:t> -3i</a:t>
            </a:r>
            <a:r>
              <a:rPr lang="en-US" sz="2000" b="1" baseline="-25000" dirty="0">
                <a:latin typeface="Times New Roman" pitchFamily="18" charset="0"/>
                <a:cs typeface="Times New Roman" pitchFamily="18" charset="0"/>
              </a:rPr>
              <a:t>a</a:t>
            </a:r>
            <a:r>
              <a:rPr lang="en-US" sz="2000" b="1" dirty="0">
                <a:latin typeface="Times New Roman" pitchFamily="18" charset="0"/>
                <a:cs typeface="Times New Roman" pitchFamily="18" charset="0"/>
              </a:rPr>
              <a:t> - </a:t>
            </a:r>
            <a:r>
              <a:rPr lang="en-US" sz="2000" b="1" dirty="0" err="1">
                <a:latin typeface="Times New Roman" pitchFamily="18" charset="0"/>
                <a:cs typeface="Times New Roman" pitchFamily="18" charset="0"/>
              </a:rPr>
              <a:t>i</a:t>
            </a:r>
            <a:r>
              <a:rPr lang="en-US" sz="2000" b="1" baseline="-25000" dirty="0" err="1">
                <a:latin typeface="Times New Roman" pitchFamily="18" charset="0"/>
                <a:cs typeface="Times New Roman" pitchFamily="18" charset="0"/>
              </a:rPr>
              <a:t>m</a:t>
            </a:r>
            <a:r>
              <a:rPr lang="en-US" sz="2000" b="1" dirty="0">
                <a:latin typeface="Times New Roman" pitchFamily="18" charset="0"/>
                <a:cs typeface="Times New Roman" pitchFamily="18" charset="0"/>
              </a:rPr>
              <a:t> = 0</a:t>
            </a:r>
          </a:p>
          <a:p>
            <a:pPr>
              <a:buNone/>
            </a:pPr>
            <a:r>
              <a:rPr lang="en-US" sz="2000" b="1" dirty="0">
                <a:latin typeface="Times New Roman" pitchFamily="18" charset="0"/>
                <a:cs typeface="Times New Roman" pitchFamily="18" charset="0"/>
              </a:rPr>
              <a:t>      </a:t>
            </a:r>
          </a:p>
          <a:p>
            <a:pPr>
              <a:buNone/>
            </a:pPr>
            <a:r>
              <a:rPr lang="en-US" sz="2000" b="1" dirty="0">
                <a:latin typeface="Times New Roman" pitchFamily="18" charset="0"/>
                <a:cs typeface="Times New Roman" pitchFamily="18" charset="0"/>
              </a:rPr>
              <a:t>Applying </a:t>
            </a:r>
            <a:r>
              <a:rPr lang="en-US" sz="2000" b="1" dirty="0">
                <a:solidFill>
                  <a:srgbClr val="C00000"/>
                </a:solidFill>
                <a:latin typeface="Times New Roman" pitchFamily="18" charset="0"/>
                <a:cs typeface="Times New Roman" pitchFamily="18" charset="0"/>
              </a:rPr>
              <a:t>KVL to closed path a-b-c-e-d-a </a:t>
            </a:r>
            <a:r>
              <a:rPr lang="en-US" sz="2000" b="1" dirty="0">
                <a:latin typeface="Times New Roman" pitchFamily="18" charset="0"/>
                <a:cs typeface="Times New Roman" pitchFamily="18" charset="0"/>
              </a:rPr>
              <a:t>gives </a:t>
            </a:r>
          </a:p>
          <a:p>
            <a:pPr>
              <a:buNone/>
            </a:pPr>
            <a:r>
              <a:rPr lang="en-US" sz="2000" b="1" dirty="0">
                <a:latin typeface="Times New Roman" pitchFamily="18" charset="0"/>
                <a:cs typeface="Times New Roman" pitchFamily="18" charset="0"/>
              </a:rPr>
              <a:t>      		0 = - 4i</a:t>
            </a:r>
            <a:r>
              <a:rPr lang="en-US" sz="2000" b="1" baseline="-25000" dirty="0">
                <a:latin typeface="Times New Roman" pitchFamily="18" charset="0"/>
                <a:cs typeface="Times New Roman" pitchFamily="18" charset="0"/>
              </a:rPr>
              <a:t>a</a:t>
            </a:r>
            <a:r>
              <a:rPr lang="en-US" sz="2000" b="1" dirty="0">
                <a:latin typeface="Times New Roman" pitchFamily="18" charset="0"/>
                <a:cs typeface="Times New Roman" pitchFamily="18" charset="0"/>
              </a:rPr>
              <a:t> + 2i</a:t>
            </a:r>
            <a:r>
              <a:rPr lang="en-US" sz="2000" b="1" baseline="-25000" dirty="0">
                <a:latin typeface="Times New Roman" pitchFamily="18" charset="0"/>
                <a:cs typeface="Times New Roman" pitchFamily="18" charset="0"/>
              </a:rPr>
              <a:t>m</a:t>
            </a:r>
            <a:r>
              <a:rPr lang="en-US" sz="2000" b="1" dirty="0">
                <a:latin typeface="Times New Roman" pitchFamily="18" charset="0"/>
                <a:cs typeface="Times New Roman" pitchFamily="18" charset="0"/>
              </a:rPr>
              <a:t> -12 = -4(- </a:t>
            </a:r>
            <a:r>
              <a:rPr lang="en-US" sz="2000" b="1" dirty="0" err="1">
                <a:latin typeface="Times New Roman" pitchFamily="18" charset="0"/>
                <a:cs typeface="Times New Roman" pitchFamily="18" charset="0"/>
              </a:rPr>
              <a:t>i</a:t>
            </a:r>
            <a:r>
              <a:rPr lang="en-US" sz="2000" b="1" baseline="-25000" dirty="0" err="1">
                <a:latin typeface="Times New Roman" pitchFamily="18" charset="0"/>
                <a:cs typeface="Times New Roman" pitchFamily="18" charset="0"/>
              </a:rPr>
              <a:t>m</a:t>
            </a:r>
            <a:r>
              <a:rPr lang="en-US" sz="2000" b="1" dirty="0">
                <a:latin typeface="Times New Roman" pitchFamily="18" charset="0"/>
                <a:cs typeface="Times New Roman" pitchFamily="18" charset="0"/>
              </a:rPr>
              <a:t> /4) + 2i</a:t>
            </a:r>
            <a:r>
              <a:rPr lang="en-US" sz="2000" b="1" baseline="-25000" dirty="0">
                <a:latin typeface="Times New Roman" pitchFamily="18" charset="0"/>
                <a:cs typeface="Times New Roman" pitchFamily="18" charset="0"/>
              </a:rPr>
              <a:t>m</a:t>
            </a:r>
            <a:r>
              <a:rPr lang="en-US" sz="2000" b="1" dirty="0">
                <a:latin typeface="Times New Roman" pitchFamily="18" charset="0"/>
                <a:cs typeface="Times New Roman" pitchFamily="18" charset="0"/>
              </a:rPr>
              <a:t> - 12 = 3i</a:t>
            </a:r>
            <a:r>
              <a:rPr lang="en-US" sz="2000" b="1" baseline="-25000" dirty="0">
                <a:latin typeface="Times New Roman" pitchFamily="18" charset="0"/>
                <a:cs typeface="Times New Roman" pitchFamily="18" charset="0"/>
              </a:rPr>
              <a:t>m</a:t>
            </a:r>
            <a:r>
              <a:rPr lang="en-US" sz="2000" b="1" dirty="0">
                <a:latin typeface="Times New Roman" pitchFamily="18" charset="0"/>
                <a:cs typeface="Times New Roman" pitchFamily="18" charset="0"/>
              </a:rPr>
              <a:t> - 12 </a:t>
            </a:r>
          </a:p>
          <a:p>
            <a:pPr>
              <a:buNone/>
            </a:pPr>
            <a:r>
              <a:rPr lang="en-US" sz="2000" b="1" dirty="0">
                <a:latin typeface="Times New Roman" pitchFamily="18" charset="0"/>
                <a:cs typeface="Times New Roman" pitchFamily="18" charset="0"/>
              </a:rPr>
              <a:t> </a:t>
            </a:r>
          </a:p>
          <a:p>
            <a:pPr>
              <a:buNone/>
            </a:pPr>
            <a:r>
              <a:rPr lang="en-US" sz="2000" b="1" dirty="0">
                <a:latin typeface="Times New Roman" pitchFamily="18" charset="0"/>
                <a:cs typeface="Times New Roman" pitchFamily="18" charset="0"/>
              </a:rPr>
              <a:t>Finally, solving this equation gives </a:t>
            </a:r>
            <a:r>
              <a:rPr lang="en-US" sz="2000" b="1" dirty="0" err="1">
                <a:solidFill>
                  <a:srgbClr val="C00000"/>
                </a:solidFill>
                <a:latin typeface="Times New Roman" pitchFamily="18" charset="0"/>
                <a:cs typeface="Times New Roman" pitchFamily="18" charset="0"/>
              </a:rPr>
              <a:t>i</a:t>
            </a:r>
            <a:r>
              <a:rPr lang="en-US" sz="2000" b="1" baseline="-25000" dirty="0" err="1">
                <a:solidFill>
                  <a:srgbClr val="C00000"/>
                </a:solidFill>
                <a:latin typeface="Times New Roman" pitchFamily="18" charset="0"/>
                <a:cs typeface="Times New Roman" pitchFamily="18" charset="0"/>
              </a:rPr>
              <a:t>m</a:t>
            </a:r>
            <a:r>
              <a:rPr lang="en-US" sz="2000" b="1" dirty="0">
                <a:solidFill>
                  <a:srgbClr val="C00000"/>
                </a:solidFill>
                <a:latin typeface="Times New Roman" pitchFamily="18" charset="0"/>
                <a:cs typeface="Times New Roman" pitchFamily="18" charset="0"/>
              </a:rPr>
              <a:t> = 4 A </a:t>
            </a:r>
          </a:p>
        </p:txBody>
      </p:sp>
      <p:sp>
        <p:nvSpPr>
          <p:cNvPr id="4" name="Title 1"/>
          <p:cNvSpPr>
            <a:spLocks noGrp="1"/>
          </p:cNvSpPr>
          <p:nvPr>
            <p:ph type="title"/>
          </p:nvPr>
        </p:nvSpPr>
        <p:spPr>
          <a:xfrm>
            <a:off x="457200" y="-387424"/>
            <a:ext cx="8229600" cy="1368152"/>
          </a:xfrm>
        </p:spPr>
        <p:txBody>
          <a:bodyPr>
            <a:normAutofit/>
          </a:bodyPr>
          <a:lstStyle/>
          <a:p>
            <a:r>
              <a:rPr lang="en-IN" b="1" dirty="0">
                <a:solidFill>
                  <a:srgbClr val="C00000"/>
                </a:solidFill>
                <a:cs typeface="Times New Roman" panose="02020603050405020304" pitchFamily="18" charset="0"/>
              </a:rPr>
              <a:t>Problems…</a:t>
            </a:r>
            <a:endParaRPr lang="en-US" b="1" dirty="0">
              <a:latin typeface="Times New Roman" pitchFamily="18" charset="0"/>
              <a:cs typeface="Times New Roman" pitchFamily="18" charset="0"/>
            </a:endParaRPr>
          </a:p>
        </p:txBody>
      </p:sp>
      <p:pic>
        <p:nvPicPr>
          <p:cNvPr id="5" name="Picture 4"/>
          <p:cNvPicPr>
            <a:picLocks noChangeAspect="1" noChangeArrowheads="1"/>
          </p:cNvPicPr>
          <p:nvPr/>
        </p:nvPicPr>
        <p:blipFill>
          <a:blip r:embed="rId2" cstate="print"/>
          <a:srcRect/>
          <a:stretch>
            <a:fillRect/>
          </a:stretch>
        </p:blipFill>
        <p:spPr bwMode="auto">
          <a:xfrm>
            <a:off x="4427984" y="4708522"/>
            <a:ext cx="4680520" cy="2149478"/>
          </a:xfrm>
          <a:prstGeom prst="rect">
            <a:avLst/>
          </a:prstGeom>
          <a:noFill/>
          <a:ln w="9525">
            <a:noFill/>
            <a:miter lim="800000"/>
            <a:headEnd/>
            <a:tailEnd/>
          </a:ln>
        </p:spPr>
      </p:pic>
      <p:sp>
        <p:nvSpPr>
          <p:cNvPr id="6" name="Slide Number Placeholder 5"/>
          <p:cNvSpPr>
            <a:spLocks noGrp="1"/>
          </p:cNvSpPr>
          <p:nvPr>
            <p:ph type="sldNum" sz="quarter" idx="12"/>
          </p:nvPr>
        </p:nvSpPr>
        <p:spPr/>
        <p:txBody>
          <a:bodyPr/>
          <a:lstStyle/>
          <a:p>
            <a:fld id="{7C7D6217-2CB0-4899-A90F-D165D154DCA2}" type="slidenum">
              <a:rPr lang="en-IN" smtClean="0"/>
              <a:pPr/>
              <a:t>21</a:t>
            </a:fld>
            <a:endParaRPr lang="en-I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052736"/>
            <a:ext cx="8496944" cy="748680"/>
          </a:xfrm>
        </p:spPr>
        <p:txBody>
          <a:bodyPr>
            <a:normAutofit/>
          </a:bodyPr>
          <a:lstStyle/>
          <a:p>
            <a:pPr algn="just">
              <a:buNone/>
            </a:pPr>
            <a:r>
              <a:rPr lang="en-US" sz="2000" b="1" dirty="0">
                <a:latin typeface="Times New Roman" pitchFamily="18" charset="0"/>
                <a:cs typeface="Times New Roman" pitchFamily="18" charset="0"/>
              </a:rPr>
              <a:t>	Problem 3. Determine the value of the voltage, in volts, measured by the voltmeter in Figure a.</a:t>
            </a:r>
          </a:p>
          <a:p>
            <a:pPr algn="just"/>
            <a:endParaRPr lang="en-IN" sz="2000" b="1" dirty="0">
              <a:latin typeface="Times New Roman" pitchFamily="18" charset="0"/>
              <a:cs typeface="Times New Roman" pitchFamily="18" charset="0"/>
            </a:endParaRPr>
          </a:p>
          <a:p>
            <a:pPr algn="just">
              <a:buNone/>
            </a:pPr>
            <a:endParaRPr lang="en-US" sz="2000" b="1" dirty="0">
              <a:latin typeface="Times New Roman" pitchFamily="18" charset="0"/>
              <a:cs typeface="Times New Roman" pitchFamily="18" charset="0"/>
            </a:endParaRPr>
          </a:p>
        </p:txBody>
      </p:sp>
      <p:pic>
        <p:nvPicPr>
          <p:cNvPr id="5123" name="Picture 3"/>
          <p:cNvPicPr>
            <a:picLocks noChangeAspect="1" noChangeArrowheads="1"/>
          </p:cNvPicPr>
          <p:nvPr/>
        </p:nvPicPr>
        <p:blipFill>
          <a:blip r:embed="rId2" cstate="print"/>
          <a:srcRect/>
          <a:stretch>
            <a:fillRect/>
          </a:stretch>
        </p:blipFill>
        <p:spPr bwMode="auto">
          <a:xfrm>
            <a:off x="1801170" y="1916832"/>
            <a:ext cx="5667224" cy="2304256"/>
          </a:xfrm>
          <a:prstGeom prst="rect">
            <a:avLst/>
          </a:prstGeom>
          <a:noFill/>
          <a:ln w="9525">
            <a:noFill/>
            <a:miter lim="800000"/>
            <a:headEnd/>
            <a:tailEnd/>
          </a:ln>
        </p:spPr>
      </p:pic>
      <p:sp>
        <p:nvSpPr>
          <p:cNvPr id="8" name="Title 1"/>
          <p:cNvSpPr>
            <a:spLocks noGrp="1"/>
          </p:cNvSpPr>
          <p:nvPr>
            <p:ph type="title"/>
          </p:nvPr>
        </p:nvSpPr>
        <p:spPr>
          <a:xfrm>
            <a:off x="457200" y="-27384"/>
            <a:ext cx="8229600" cy="1224136"/>
          </a:xfrm>
        </p:spPr>
        <p:txBody>
          <a:bodyPr>
            <a:normAutofit/>
          </a:bodyPr>
          <a:lstStyle/>
          <a:p>
            <a:r>
              <a:rPr lang="en-IN" b="1" dirty="0">
                <a:solidFill>
                  <a:srgbClr val="C00000"/>
                </a:solidFill>
                <a:cs typeface="Times New Roman" panose="02020603050405020304" pitchFamily="18" charset="0"/>
              </a:rPr>
              <a:t>Problems…</a:t>
            </a:r>
            <a:endParaRPr lang="en-US"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7C7D6217-2CB0-4899-A90F-D165D154DCA2}" type="slidenum">
              <a:rPr lang="en-IN" smtClean="0"/>
              <a:pPr/>
              <a:t>22</a:t>
            </a:fld>
            <a:endParaRPr lang="en-I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764704"/>
            <a:ext cx="8229600" cy="5616624"/>
          </a:xfrm>
        </p:spPr>
        <p:txBody>
          <a:bodyPr>
            <a:normAutofit/>
          </a:bodyPr>
          <a:lstStyle/>
          <a:p>
            <a:pPr algn="just">
              <a:buNone/>
            </a:pPr>
            <a:r>
              <a:rPr lang="en-US" sz="1800" b="1" dirty="0">
                <a:latin typeface="Times New Roman" pitchFamily="18" charset="0"/>
                <a:cs typeface="Times New Roman" pitchFamily="18" charset="0"/>
              </a:rPr>
              <a:t>Solution:</a:t>
            </a:r>
          </a:p>
          <a:p>
            <a:pPr algn="just">
              <a:buNone/>
            </a:pPr>
            <a:r>
              <a:rPr lang="en-US" sz="1800" b="1" dirty="0">
                <a:latin typeface="Times New Roman" pitchFamily="18" charset="0"/>
                <a:cs typeface="Times New Roman" pitchFamily="18" charset="0"/>
              </a:rPr>
              <a:t>An ideal voltmeter is equivalent to an open circuit.</a:t>
            </a:r>
          </a:p>
          <a:p>
            <a:pPr algn="just">
              <a:buNone/>
            </a:pPr>
            <a:r>
              <a:rPr lang="en-US" sz="1800" b="1" dirty="0">
                <a:latin typeface="Times New Roman" pitchFamily="18" charset="0"/>
                <a:cs typeface="Times New Roman" pitchFamily="18" charset="0"/>
              </a:rPr>
              <a:t>The voltage measured by the voltmeter is the voltage across the open circuit. </a:t>
            </a:r>
          </a:p>
          <a:p>
            <a:pPr algn="just"/>
            <a:r>
              <a:rPr lang="en-US" sz="1800" b="1" dirty="0">
                <a:latin typeface="Times New Roman" pitchFamily="18" charset="0"/>
                <a:cs typeface="Times New Roman" pitchFamily="18" charset="0"/>
              </a:rPr>
              <a:t>Figure shows the circuit after replacing the voltmeter by the equivalent open circuit.</a:t>
            </a:r>
          </a:p>
          <a:p>
            <a:pPr algn="just"/>
            <a:endParaRPr lang="en-US" sz="1800" b="1" dirty="0">
              <a:latin typeface="Times New Roman" pitchFamily="18" charset="0"/>
              <a:cs typeface="Times New Roman" pitchFamily="18" charset="0"/>
            </a:endParaRPr>
          </a:p>
          <a:p>
            <a:pPr algn="just"/>
            <a:endParaRPr lang="en-US" sz="1800" b="1" dirty="0">
              <a:latin typeface="Times New Roman" pitchFamily="18" charset="0"/>
              <a:cs typeface="Times New Roman" pitchFamily="18" charset="0"/>
            </a:endParaRPr>
          </a:p>
          <a:p>
            <a:pPr algn="just"/>
            <a:endParaRPr lang="en-US" sz="1800" b="1" dirty="0">
              <a:latin typeface="Times New Roman" pitchFamily="18" charset="0"/>
              <a:cs typeface="Times New Roman" pitchFamily="18" charset="0"/>
            </a:endParaRPr>
          </a:p>
          <a:p>
            <a:pPr algn="just"/>
            <a:endParaRPr lang="en-US" sz="1800" b="1" dirty="0">
              <a:latin typeface="Times New Roman" pitchFamily="18" charset="0"/>
              <a:cs typeface="Times New Roman" pitchFamily="18" charset="0"/>
            </a:endParaRPr>
          </a:p>
          <a:p>
            <a:pPr algn="just"/>
            <a:endParaRPr lang="en-US" sz="1800" b="1" dirty="0">
              <a:latin typeface="Times New Roman" pitchFamily="18" charset="0"/>
              <a:cs typeface="Times New Roman" pitchFamily="18" charset="0"/>
            </a:endParaRPr>
          </a:p>
          <a:p>
            <a:pPr algn="just"/>
            <a:endParaRPr lang="en-US" sz="1800" b="1" dirty="0">
              <a:latin typeface="Times New Roman" pitchFamily="18" charset="0"/>
              <a:cs typeface="Times New Roman" pitchFamily="18" charset="0"/>
            </a:endParaRPr>
          </a:p>
          <a:p>
            <a:pPr algn="just"/>
            <a:endParaRPr lang="en-US" sz="1800" b="1" dirty="0">
              <a:latin typeface="Times New Roman" pitchFamily="18" charset="0"/>
              <a:cs typeface="Times New Roman" pitchFamily="18" charset="0"/>
            </a:endParaRPr>
          </a:p>
          <a:p>
            <a:pPr algn="just"/>
            <a:endParaRPr lang="en-US" sz="1800" b="1" dirty="0">
              <a:latin typeface="Times New Roman" pitchFamily="18" charset="0"/>
              <a:cs typeface="Times New Roman" pitchFamily="18" charset="0"/>
            </a:endParaRPr>
          </a:p>
          <a:p>
            <a:pPr algn="just"/>
            <a:r>
              <a:rPr lang="en-US" sz="1800" b="1" dirty="0">
                <a:latin typeface="Times New Roman" pitchFamily="18" charset="0"/>
                <a:cs typeface="Times New Roman" pitchFamily="18" charset="0"/>
              </a:rPr>
              <a:t>This circuit consists of a voltage source, a dependent voltage source, two resistors, a short circuit, and an open circuit. </a:t>
            </a:r>
          </a:p>
          <a:p>
            <a:pPr algn="just"/>
            <a:r>
              <a:rPr lang="en-US" sz="1800" b="1" dirty="0">
                <a:solidFill>
                  <a:srgbClr val="C00000"/>
                </a:solidFill>
                <a:latin typeface="Times New Roman" pitchFamily="18" charset="0"/>
                <a:cs typeface="Times New Roman" pitchFamily="18" charset="0"/>
              </a:rPr>
              <a:t>The short circuit is the controlling element of the CCVS, and the open circuit is a model of the voltmeter.</a:t>
            </a:r>
          </a:p>
        </p:txBody>
      </p:sp>
      <p:pic>
        <p:nvPicPr>
          <p:cNvPr id="4" name="Picture 4"/>
          <p:cNvPicPr>
            <a:picLocks noChangeAspect="1" noChangeArrowheads="1"/>
          </p:cNvPicPr>
          <p:nvPr/>
        </p:nvPicPr>
        <p:blipFill>
          <a:blip r:embed="rId2" cstate="print"/>
          <a:srcRect/>
          <a:stretch>
            <a:fillRect/>
          </a:stretch>
        </p:blipFill>
        <p:spPr bwMode="auto">
          <a:xfrm>
            <a:off x="2771800" y="2276872"/>
            <a:ext cx="3960440" cy="2408376"/>
          </a:xfrm>
          <a:prstGeom prst="rect">
            <a:avLst/>
          </a:prstGeom>
          <a:noFill/>
          <a:ln w="9525">
            <a:noFill/>
            <a:miter lim="800000"/>
            <a:headEnd/>
            <a:tailEnd/>
          </a:ln>
        </p:spPr>
      </p:pic>
      <p:sp>
        <p:nvSpPr>
          <p:cNvPr id="5" name="Title 1"/>
          <p:cNvSpPr>
            <a:spLocks noGrp="1"/>
          </p:cNvSpPr>
          <p:nvPr>
            <p:ph type="title"/>
          </p:nvPr>
        </p:nvSpPr>
        <p:spPr>
          <a:xfrm>
            <a:off x="457200" y="-27384"/>
            <a:ext cx="8229600" cy="792088"/>
          </a:xfrm>
        </p:spPr>
        <p:txBody>
          <a:bodyPr>
            <a:normAutofit/>
          </a:bodyPr>
          <a:lstStyle/>
          <a:p>
            <a:r>
              <a:rPr lang="en-IN" b="1" dirty="0">
                <a:solidFill>
                  <a:srgbClr val="C00000"/>
                </a:solidFill>
                <a:cs typeface="Times New Roman" panose="02020603050405020304" pitchFamily="18" charset="0"/>
              </a:rPr>
              <a:t>Problems…</a:t>
            </a:r>
            <a:endParaRPr lang="en-US" b="1" dirty="0">
              <a:solidFill>
                <a:srgbClr val="C00000"/>
              </a:solidFill>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7C7D6217-2CB0-4899-A90F-D165D154DCA2}" type="slidenum">
              <a:rPr lang="en-IN" smtClean="0"/>
              <a:pPr/>
              <a:t>23</a:t>
            </a:fld>
            <a:endParaRPr lang="en-I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2" cstate="print"/>
          <a:srcRect/>
          <a:stretch>
            <a:fillRect/>
          </a:stretch>
        </p:blipFill>
        <p:spPr bwMode="auto">
          <a:xfrm>
            <a:off x="4752335" y="4616871"/>
            <a:ext cx="4212153" cy="2124497"/>
          </a:xfrm>
          <a:prstGeom prst="rect">
            <a:avLst/>
          </a:prstGeom>
          <a:noFill/>
          <a:ln w="9525">
            <a:noFill/>
            <a:miter lim="800000"/>
            <a:headEnd/>
            <a:tailEnd/>
          </a:ln>
        </p:spPr>
      </p:pic>
      <p:sp>
        <p:nvSpPr>
          <p:cNvPr id="3" name="Content Placeholder 2"/>
          <p:cNvSpPr>
            <a:spLocks noGrp="1"/>
          </p:cNvSpPr>
          <p:nvPr>
            <p:ph idx="1"/>
          </p:nvPr>
        </p:nvSpPr>
        <p:spPr>
          <a:xfrm>
            <a:off x="251520" y="764704"/>
            <a:ext cx="8568952" cy="4896544"/>
          </a:xfrm>
        </p:spPr>
        <p:txBody>
          <a:bodyPr>
            <a:noAutofit/>
          </a:bodyPr>
          <a:lstStyle/>
          <a:p>
            <a:pPr algn="just">
              <a:lnSpc>
                <a:spcPct val="150000"/>
              </a:lnSpc>
              <a:buNone/>
            </a:pPr>
            <a:r>
              <a:rPr lang="en-US" sz="1800" b="1" dirty="0">
                <a:latin typeface="Times New Roman" pitchFamily="18" charset="0"/>
                <a:cs typeface="Times New Roman" pitchFamily="18" charset="0"/>
              </a:rPr>
              <a:t>Solution …</a:t>
            </a:r>
          </a:p>
          <a:p>
            <a:pPr algn="just">
              <a:lnSpc>
                <a:spcPct val="150000"/>
              </a:lnSpc>
            </a:pPr>
            <a:r>
              <a:rPr lang="en-US" sz="1800" b="1" dirty="0">
                <a:latin typeface="Times New Roman" pitchFamily="18" charset="0"/>
                <a:cs typeface="Times New Roman" pitchFamily="18" charset="0"/>
              </a:rPr>
              <a:t>The circuit has been redrawn in Figure to label the nodes of the circuit. </a:t>
            </a:r>
          </a:p>
          <a:p>
            <a:pPr algn="just">
              <a:lnSpc>
                <a:spcPct val="150000"/>
              </a:lnSpc>
            </a:pPr>
            <a:r>
              <a:rPr lang="en-US" sz="1800" b="1" dirty="0">
                <a:latin typeface="Times New Roman" pitchFamily="18" charset="0"/>
                <a:cs typeface="Times New Roman" pitchFamily="18" charset="0"/>
              </a:rPr>
              <a:t>Applying KCL at node c, shows that the current in the 5</a:t>
            </a:r>
            <a:r>
              <a:rPr lang="el-GR" sz="1800" b="1" dirty="0">
                <a:latin typeface="Times New Roman" pitchFamily="18" charset="0"/>
                <a:cs typeface="Times New Roman" pitchFamily="18" charset="0"/>
              </a:rPr>
              <a:t>Ω</a:t>
            </a:r>
            <a:r>
              <a:rPr lang="en-US" sz="1800" b="1" dirty="0">
                <a:latin typeface="Times New Roman" pitchFamily="18" charset="0"/>
                <a:cs typeface="Times New Roman" pitchFamily="18" charset="0"/>
              </a:rPr>
              <a:t> resistor is equal to the current in the open circuit, that is, zero. </a:t>
            </a:r>
          </a:p>
          <a:p>
            <a:pPr algn="just">
              <a:lnSpc>
                <a:spcPct val="150000"/>
              </a:lnSpc>
            </a:pPr>
            <a:r>
              <a:rPr lang="en-US" sz="1800" b="1" dirty="0">
                <a:latin typeface="Times New Roman" pitchFamily="18" charset="0"/>
                <a:cs typeface="Times New Roman" pitchFamily="18" charset="0"/>
              </a:rPr>
              <a:t>Ohm’s law tells us that the voltage across the 5</a:t>
            </a:r>
            <a:r>
              <a:rPr lang="el-GR" sz="1800" b="1" dirty="0">
                <a:latin typeface="Times New Roman" pitchFamily="18" charset="0"/>
                <a:cs typeface="Times New Roman" pitchFamily="18" charset="0"/>
              </a:rPr>
              <a:t>Ω</a:t>
            </a:r>
            <a:r>
              <a:rPr lang="en-US" sz="1800" b="1" dirty="0">
                <a:latin typeface="Times New Roman" pitchFamily="18" charset="0"/>
                <a:cs typeface="Times New Roman" pitchFamily="18" charset="0"/>
              </a:rPr>
              <a:t> resistor is also equal to zero. </a:t>
            </a:r>
          </a:p>
          <a:p>
            <a:pPr algn="just">
              <a:lnSpc>
                <a:spcPct val="150000"/>
              </a:lnSpc>
            </a:pPr>
            <a:r>
              <a:rPr lang="en-US" sz="1800" b="1" dirty="0">
                <a:solidFill>
                  <a:srgbClr val="C00000"/>
                </a:solidFill>
                <a:latin typeface="Times New Roman" pitchFamily="18" charset="0"/>
                <a:cs typeface="Times New Roman" pitchFamily="18" charset="0"/>
              </a:rPr>
              <a:t>Next, applying KVL to the closed path b-c-f-e-b gives </a:t>
            </a:r>
            <a:r>
              <a:rPr lang="en-US" sz="1800" b="1" dirty="0" err="1">
                <a:solidFill>
                  <a:srgbClr val="C00000"/>
                </a:solidFill>
                <a:latin typeface="Times New Roman" pitchFamily="18" charset="0"/>
                <a:cs typeface="Times New Roman" pitchFamily="18" charset="0"/>
              </a:rPr>
              <a:t>v</a:t>
            </a:r>
            <a:r>
              <a:rPr lang="en-US" sz="1800" b="1" baseline="-25000" dirty="0" err="1">
                <a:solidFill>
                  <a:srgbClr val="C00000"/>
                </a:solidFill>
                <a:latin typeface="Times New Roman" pitchFamily="18" charset="0"/>
                <a:cs typeface="Times New Roman" pitchFamily="18" charset="0"/>
              </a:rPr>
              <a:t>m</a:t>
            </a:r>
            <a:r>
              <a:rPr lang="en-US" sz="1800" b="1" dirty="0">
                <a:solidFill>
                  <a:srgbClr val="C00000"/>
                </a:solidFill>
                <a:latin typeface="Times New Roman" pitchFamily="18" charset="0"/>
                <a:cs typeface="Times New Roman" pitchFamily="18" charset="0"/>
              </a:rPr>
              <a:t> = 3i</a:t>
            </a:r>
            <a:r>
              <a:rPr lang="en-US" sz="1800" b="1" baseline="-25000" dirty="0">
                <a:solidFill>
                  <a:srgbClr val="C00000"/>
                </a:solidFill>
                <a:latin typeface="Times New Roman" pitchFamily="18" charset="0"/>
                <a:cs typeface="Times New Roman" pitchFamily="18" charset="0"/>
              </a:rPr>
              <a:t>a</a:t>
            </a:r>
            <a:r>
              <a:rPr lang="en-US" sz="1800" b="1" dirty="0">
                <a:solidFill>
                  <a:srgbClr val="C00000"/>
                </a:solidFill>
                <a:latin typeface="Times New Roman" pitchFamily="18" charset="0"/>
                <a:cs typeface="Times New Roman" pitchFamily="18" charset="0"/>
              </a:rPr>
              <a:t>. </a:t>
            </a:r>
          </a:p>
          <a:p>
            <a:pPr algn="just">
              <a:lnSpc>
                <a:spcPct val="150000"/>
              </a:lnSpc>
            </a:pPr>
            <a:r>
              <a:rPr lang="en-US" sz="1800" b="1" dirty="0">
                <a:solidFill>
                  <a:srgbClr val="C00000"/>
                </a:solidFill>
                <a:latin typeface="Times New Roman" pitchFamily="18" charset="0"/>
                <a:cs typeface="Times New Roman" pitchFamily="18" charset="0"/>
              </a:rPr>
              <a:t>Applying KVL to the closed path a-b-e-d-a gives -4i</a:t>
            </a:r>
            <a:r>
              <a:rPr lang="en-US" sz="1800" b="1" baseline="-25000" dirty="0">
                <a:solidFill>
                  <a:srgbClr val="C00000"/>
                </a:solidFill>
                <a:latin typeface="Times New Roman" pitchFamily="18" charset="0"/>
                <a:cs typeface="Times New Roman" pitchFamily="18" charset="0"/>
              </a:rPr>
              <a:t>a</a:t>
            </a:r>
            <a:r>
              <a:rPr lang="en-US" sz="1800" b="1" dirty="0">
                <a:solidFill>
                  <a:srgbClr val="C00000"/>
                </a:solidFill>
                <a:latin typeface="Times New Roman" pitchFamily="18" charset="0"/>
                <a:cs typeface="Times New Roman" pitchFamily="18" charset="0"/>
              </a:rPr>
              <a:t> + 3i</a:t>
            </a:r>
            <a:r>
              <a:rPr lang="en-US" sz="1800" b="1" baseline="-25000" dirty="0">
                <a:solidFill>
                  <a:srgbClr val="C00000"/>
                </a:solidFill>
                <a:latin typeface="Times New Roman" pitchFamily="18" charset="0"/>
                <a:cs typeface="Times New Roman" pitchFamily="18" charset="0"/>
              </a:rPr>
              <a:t>a</a:t>
            </a:r>
            <a:r>
              <a:rPr lang="en-US" sz="1800" b="1" dirty="0">
                <a:solidFill>
                  <a:srgbClr val="C00000"/>
                </a:solidFill>
                <a:latin typeface="Times New Roman" pitchFamily="18" charset="0"/>
                <a:cs typeface="Times New Roman" pitchFamily="18" charset="0"/>
              </a:rPr>
              <a:t> -12 = 0 </a:t>
            </a:r>
          </a:p>
          <a:p>
            <a:pPr algn="just">
              <a:lnSpc>
                <a:spcPct val="150000"/>
              </a:lnSpc>
              <a:buNone/>
            </a:pPr>
            <a:r>
              <a:rPr lang="en-US" sz="1800" b="1" dirty="0">
                <a:latin typeface="Times New Roman" pitchFamily="18" charset="0"/>
                <a:cs typeface="Times New Roman" pitchFamily="18" charset="0"/>
              </a:rPr>
              <a:t>	so </a:t>
            </a:r>
            <a:r>
              <a:rPr lang="en-US" sz="1800" b="1" dirty="0" err="1">
                <a:latin typeface="Times New Roman" pitchFamily="18" charset="0"/>
                <a:cs typeface="Times New Roman" pitchFamily="18" charset="0"/>
              </a:rPr>
              <a:t>i</a:t>
            </a:r>
            <a:r>
              <a:rPr lang="en-US" sz="1800" b="1" baseline="-25000" dirty="0" err="1">
                <a:latin typeface="Times New Roman" pitchFamily="18" charset="0"/>
                <a:cs typeface="Times New Roman" pitchFamily="18" charset="0"/>
              </a:rPr>
              <a:t>a</a:t>
            </a:r>
            <a:r>
              <a:rPr lang="en-US" sz="1800" b="1" dirty="0">
                <a:latin typeface="Times New Roman" pitchFamily="18" charset="0"/>
                <a:cs typeface="Times New Roman" pitchFamily="18" charset="0"/>
              </a:rPr>
              <a:t> = -12 A </a:t>
            </a:r>
          </a:p>
          <a:p>
            <a:pPr algn="just">
              <a:lnSpc>
                <a:spcPct val="150000"/>
              </a:lnSpc>
              <a:buNone/>
            </a:pPr>
            <a:r>
              <a:rPr lang="en-US" sz="1800" b="1" dirty="0">
                <a:latin typeface="Times New Roman" pitchFamily="18" charset="0"/>
                <a:cs typeface="Times New Roman" pitchFamily="18" charset="0"/>
              </a:rPr>
              <a:t>	Finally </a:t>
            </a:r>
            <a:r>
              <a:rPr lang="en-US" sz="1800" b="1" dirty="0" err="1">
                <a:latin typeface="Times New Roman" pitchFamily="18" charset="0"/>
                <a:cs typeface="Times New Roman" pitchFamily="18" charset="0"/>
              </a:rPr>
              <a:t>v</a:t>
            </a:r>
            <a:r>
              <a:rPr lang="en-US" sz="1800" b="1" baseline="-25000" dirty="0" err="1">
                <a:latin typeface="Times New Roman" pitchFamily="18" charset="0"/>
                <a:cs typeface="Times New Roman" pitchFamily="18" charset="0"/>
              </a:rPr>
              <a:t>m</a:t>
            </a:r>
            <a:r>
              <a:rPr lang="en-US" sz="1800" b="1" dirty="0">
                <a:latin typeface="Times New Roman" pitchFamily="18" charset="0"/>
                <a:cs typeface="Times New Roman" pitchFamily="18" charset="0"/>
              </a:rPr>
              <a:t> = 3i</a:t>
            </a:r>
            <a:r>
              <a:rPr lang="en-US" sz="1800" b="1" baseline="-25000" dirty="0">
                <a:latin typeface="Times New Roman" pitchFamily="18" charset="0"/>
                <a:cs typeface="Times New Roman" pitchFamily="18" charset="0"/>
              </a:rPr>
              <a:t>a</a:t>
            </a:r>
            <a:r>
              <a:rPr lang="en-US" sz="1800" b="1" dirty="0">
                <a:latin typeface="Times New Roman" pitchFamily="18" charset="0"/>
                <a:cs typeface="Times New Roman" pitchFamily="18" charset="0"/>
              </a:rPr>
              <a:t> = 3(-12) = -36 V</a:t>
            </a:r>
          </a:p>
          <a:p>
            <a:pPr algn="just">
              <a:lnSpc>
                <a:spcPct val="150000"/>
              </a:lnSpc>
            </a:pPr>
            <a:endParaRPr lang="en-US" sz="1800" b="1" dirty="0"/>
          </a:p>
        </p:txBody>
      </p:sp>
      <p:sp>
        <p:nvSpPr>
          <p:cNvPr id="6" name="Slide Number Placeholder 5"/>
          <p:cNvSpPr>
            <a:spLocks noGrp="1"/>
          </p:cNvSpPr>
          <p:nvPr>
            <p:ph type="sldNum" sz="quarter" idx="12"/>
          </p:nvPr>
        </p:nvSpPr>
        <p:spPr/>
        <p:txBody>
          <a:bodyPr/>
          <a:lstStyle/>
          <a:p>
            <a:fld id="{7C7D6217-2CB0-4899-A90F-D165D154DCA2}" type="slidenum">
              <a:rPr lang="en-IN" smtClean="0"/>
              <a:pPr/>
              <a:t>24</a:t>
            </a:fld>
            <a:endParaRPr lang="en-IN"/>
          </a:p>
        </p:txBody>
      </p:sp>
      <p:sp>
        <p:nvSpPr>
          <p:cNvPr id="8" name="Title 1">
            <a:extLst>
              <a:ext uri="{FF2B5EF4-FFF2-40B4-BE49-F238E27FC236}">
                <a16:creationId xmlns:a16="http://schemas.microsoft.com/office/drawing/2014/main" xmlns="" id="{23D84BA9-B740-87D5-5D4B-017BB2F3AB82}"/>
              </a:ext>
            </a:extLst>
          </p:cNvPr>
          <p:cNvSpPr txBox="1">
            <a:spLocks/>
          </p:cNvSpPr>
          <p:nvPr/>
        </p:nvSpPr>
        <p:spPr>
          <a:xfrm>
            <a:off x="457200" y="-27384"/>
            <a:ext cx="8229600" cy="7920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b="1" dirty="0">
                <a:solidFill>
                  <a:srgbClr val="C00000"/>
                </a:solidFill>
                <a:cs typeface="Times New Roman" panose="02020603050405020304" pitchFamily="18" charset="0"/>
              </a:rPr>
              <a:t>Problems…</a:t>
            </a:r>
            <a:endParaRPr lang="en-US" b="1" dirty="0">
              <a:solidFill>
                <a:srgbClr val="C00000"/>
              </a:solidFill>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solidFill>
                  <a:srgbClr val="C00000"/>
                </a:solidFill>
                <a:cs typeface="Times New Roman" panose="02020603050405020304" pitchFamily="18" charset="0"/>
              </a:rPr>
              <a:t>Practice Problem</a:t>
            </a:r>
            <a:endParaRPr lang="en-US" b="1" dirty="0">
              <a:solidFill>
                <a:srgbClr val="C00000"/>
              </a:solidFill>
              <a:cs typeface="Times New Roman" panose="02020603050405020304" pitchFamily="18" charset="0"/>
            </a:endParaRPr>
          </a:p>
        </p:txBody>
      </p:sp>
      <p:sp>
        <p:nvSpPr>
          <p:cNvPr id="3" name="Content Placeholder 2"/>
          <p:cNvSpPr>
            <a:spLocks noGrp="1"/>
          </p:cNvSpPr>
          <p:nvPr>
            <p:ph idx="1"/>
          </p:nvPr>
        </p:nvSpPr>
        <p:spPr>
          <a:xfrm>
            <a:off x="467544" y="1340768"/>
            <a:ext cx="8229600" cy="1080120"/>
          </a:xfrm>
        </p:spPr>
        <p:txBody>
          <a:bodyPr>
            <a:normAutofit fontScale="62500" lnSpcReduction="20000"/>
          </a:bodyPr>
          <a:lstStyle/>
          <a:p>
            <a:pPr algn="just">
              <a:lnSpc>
                <a:spcPct val="170000"/>
              </a:lnSpc>
              <a:buNone/>
            </a:pPr>
            <a:r>
              <a:rPr lang="en-US" b="1" dirty="0">
                <a:latin typeface="Times New Roman" pitchFamily="18" charset="0"/>
                <a:cs typeface="Times New Roman" pitchFamily="18" charset="0"/>
              </a:rPr>
              <a:t>Problem 1. Determine the values of i</a:t>
            </a:r>
            <a:r>
              <a:rPr lang="en-US" b="1" baseline="-25000" dirty="0">
                <a:latin typeface="Times New Roman" pitchFamily="18" charset="0"/>
                <a:cs typeface="Times New Roman" pitchFamily="18" charset="0"/>
              </a:rPr>
              <a:t>3</a:t>
            </a:r>
            <a:r>
              <a:rPr lang="en-US" b="1" dirty="0">
                <a:latin typeface="Times New Roman" pitchFamily="18" charset="0"/>
                <a:cs typeface="Times New Roman" pitchFamily="18" charset="0"/>
              </a:rPr>
              <a:t>, i</a:t>
            </a:r>
            <a:r>
              <a:rPr lang="en-US" b="1" baseline="-25000" dirty="0">
                <a:latin typeface="Times New Roman" pitchFamily="18" charset="0"/>
                <a:cs typeface="Times New Roman" pitchFamily="18" charset="0"/>
              </a:rPr>
              <a:t>4</a:t>
            </a:r>
            <a:r>
              <a:rPr lang="en-US" b="1" dirty="0">
                <a:latin typeface="Times New Roman" pitchFamily="18" charset="0"/>
                <a:cs typeface="Times New Roman" pitchFamily="18" charset="0"/>
              </a:rPr>
              <a:t>, i</a:t>
            </a:r>
            <a:r>
              <a:rPr lang="en-US" b="1" baseline="-25000" dirty="0">
                <a:latin typeface="Times New Roman" pitchFamily="18" charset="0"/>
                <a:cs typeface="Times New Roman" pitchFamily="18" charset="0"/>
              </a:rPr>
              <a:t>6</a:t>
            </a:r>
            <a:r>
              <a:rPr lang="en-US" b="1" dirty="0">
                <a:latin typeface="Times New Roman" pitchFamily="18" charset="0"/>
                <a:cs typeface="Times New Roman" pitchFamily="18" charset="0"/>
              </a:rPr>
              <a:t>, v</a:t>
            </a:r>
            <a:r>
              <a:rPr lang="en-US" b="1" baseline="-25000" dirty="0">
                <a:latin typeface="Times New Roman" pitchFamily="18" charset="0"/>
                <a:cs typeface="Times New Roman" pitchFamily="18" charset="0"/>
              </a:rPr>
              <a:t>2</a:t>
            </a:r>
            <a:r>
              <a:rPr lang="en-US" b="1" dirty="0">
                <a:latin typeface="Times New Roman" pitchFamily="18" charset="0"/>
                <a:cs typeface="Times New Roman" pitchFamily="18" charset="0"/>
              </a:rPr>
              <a:t>, v</a:t>
            </a:r>
            <a:r>
              <a:rPr lang="en-US" b="1" baseline="-25000" dirty="0">
                <a:latin typeface="Times New Roman" pitchFamily="18" charset="0"/>
                <a:cs typeface="Times New Roman" pitchFamily="18" charset="0"/>
              </a:rPr>
              <a:t>4</a:t>
            </a:r>
            <a:r>
              <a:rPr lang="en-US" b="1" dirty="0">
                <a:latin typeface="Times New Roman" pitchFamily="18" charset="0"/>
                <a:cs typeface="Times New Roman" pitchFamily="18" charset="0"/>
              </a:rPr>
              <a:t>, and v</a:t>
            </a:r>
            <a:r>
              <a:rPr lang="en-US" b="1" baseline="-25000" dirty="0">
                <a:latin typeface="Times New Roman" pitchFamily="18" charset="0"/>
                <a:cs typeface="Times New Roman" pitchFamily="18" charset="0"/>
              </a:rPr>
              <a:t>6</a:t>
            </a:r>
            <a:r>
              <a:rPr lang="en-US" b="1" dirty="0">
                <a:latin typeface="Times New Roman" pitchFamily="18" charset="0"/>
                <a:cs typeface="Times New Roman" pitchFamily="18" charset="0"/>
              </a:rPr>
              <a:t> in Figure shown.	</a:t>
            </a:r>
          </a:p>
        </p:txBody>
      </p:sp>
      <p:pic>
        <p:nvPicPr>
          <p:cNvPr id="2051" name="Picture 3"/>
          <p:cNvPicPr>
            <a:picLocks noChangeAspect="1" noChangeArrowheads="1"/>
          </p:cNvPicPr>
          <p:nvPr/>
        </p:nvPicPr>
        <p:blipFill>
          <a:blip r:embed="rId2" cstate="print"/>
          <a:srcRect/>
          <a:stretch>
            <a:fillRect/>
          </a:stretch>
        </p:blipFill>
        <p:spPr bwMode="auto">
          <a:xfrm>
            <a:off x="1454542" y="2204864"/>
            <a:ext cx="6337516" cy="2952328"/>
          </a:xfrm>
          <a:prstGeom prst="rect">
            <a:avLst/>
          </a:prstGeom>
          <a:noFill/>
          <a:ln w="9525">
            <a:noFill/>
            <a:miter lim="800000"/>
            <a:headEnd/>
            <a:tailEnd/>
          </a:ln>
        </p:spPr>
      </p:pic>
      <p:sp>
        <p:nvSpPr>
          <p:cNvPr id="5" name="Rectangle 4"/>
          <p:cNvSpPr/>
          <p:nvPr/>
        </p:nvSpPr>
        <p:spPr>
          <a:xfrm>
            <a:off x="539552" y="5229200"/>
            <a:ext cx="8100392" cy="563231"/>
          </a:xfrm>
          <a:prstGeom prst="rect">
            <a:avLst/>
          </a:prstGeom>
        </p:spPr>
        <p:txBody>
          <a:bodyPr wrap="square">
            <a:spAutoFit/>
          </a:bodyPr>
          <a:lstStyle/>
          <a:p>
            <a:pPr algn="just">
              <a:lnSpc>
                <a:spcPct val="170000"/>
              </a:lnSpc>
              <a:buNone/>
            </a:pPr>
            <a:r>
              <a:rPr lang="en-US" b="1" dirty="0">
                <a:latin typeface="Times New Roman" pitchFamily="18" charset="0"/>
                <a:cs typeface="Times New Roman" pitchFamily="18" charset="0"/>
              </a:rPr>
              <a:t>Answer: i</a:t>
            </a:r>
            <a:r>
              <a:rPr lang="en-US" b="1" baseline="-25000" dirty="0">
                <a:latin typeface="Times New Roman" pitchFamily="18" charset="0"/>
                <a:cs typeface="Times New Roman" pitchFamily="18" charset="0"/>
              </a:rPr>
              <a:t>3</a:t>
            </a:r>
            <a:r>
              <a:rPr lang="en-US" b="1" dirty="0">
                <a:latin typeface="Times New Roman" pitchFamily="18" charset="0"/>
                <a:cs typeface="Times New Roman" pitchFamily="18" charset="0"/>
              </a:rPr>
              <a:t> = 3 A, i</a:t>
            </a:r>
            <a:r>
              <a:rPr lang="en-US" b="1" baseline="-25000" dirty="0">
                <a:latin typeface="Times New Roman" pitchFamily="18" charset="0"/>
                <a:cs typeface="Times New Roman" pitchFamily="18" charset="0"/>
              </a:rPr>
              <a:t>4</a:t>
            </a:r>
            <a:r>
              <a:rPr lang="en-US" b="1" dirty="0">
                <a:latin typeface="Times New Roman" pitchFamily="18" charset="0"/>
                <a:cs typeface="Times New Roman" pitchFamily="18" charset="0"/>
              </a:rPr>
              <a:t> = 3 A, i</a:t>
            </a:r>
            <a:r>
              <a:rPr lang="en-US" b="1" baseline="-25000" dirty="0">
                <a:latin typeface="Times New Roman" pitchFamily="18" charset="0"/>
                <a:cs typeface="Times New Roman" pitchFamily="18" charset="0"/>
              </a:rPr>
              <a:t>6</a:t>
            </a:r>
            <a:r>
              <a:rPr lang="en-US" b="1" dirty="0">
                <a:latin typeface="Times New Roman" pitchFamily="18" charset="0"/>
                <a:cs typeface="Times New Roman" pitchFamily="18" charset="0"/>
              </a:rPr>
              <a:t> = 4 A, v</a:t>
            </a:r>
            <a:r>
              <a:rPr lang="en-US" b="1" baseline="-25000" dirty="0">
                <a:latin typeface="Times New Roman" pitchFamily="18" charset="0"/>
                <a:cs typeface="Times New Roman" pitchFamily="18" charset="0"/>
              </a:rPr>
              <a:t>2</a:t>
            </a:r>
            <a:r>
              <a:rPr lang="en-US" b="1" dirty="0">
                <a:latin typeface="Times New Roman" pitchFamily="18" charset="0"/>
                <a:cs typeface="Times New Roman" pitchFamily="18" charset="0"/>
              </a:rPr>
              <a:t> = 3 V, v</a:t>
            </a:r>
            <a:r>
              <a:rPr lang="en-US" b="1" baseline="-25000" dirty="0">
                <a:latin typeface="Times New Roman" pitchFamily="18" charset="0"/>
                <a:cs typeface="Times New Roman" pitchFamily="18" charset="0"/>
              </a:rPr>
              <a:t>4</a:t>
            </a:r>
            <a:r>
              <a:rPr lang="en-US" b="1" dirty="0">
                <a:latin typeface="Times New Roman" pitchFamily="18" charset="0"/>
                <a:cs typeface="Times New Roman" pitchFamily="18" charset="0"/>
              </a:rPr>
              <a:t> = 6 V, v</a:t>
            </a:r>
            <a:r>
              <a:rPr lang="en-US" b="1" baseline="-25000" dirty="0">
                <a:latin typeface="Times New Roman" pitchFamily="18" charset="0"/>
                <a:cs typeface="Times New Roman" pitchFamily="18" charset="0"/>
              </a:rPr>
              <a:t>6</a:t>
            </a:r>
            <a:r>
              <a:rPr lang="en-US" b="1" dirty="0">
                <a:latin typeface="Times New Roman" pitchFamily="18" charset="0"/>
                <a:cs typeface="Times New Roman" pitchFamily="18" charset="0"/>
              </a:rPr>
              <a:t> = 6 V</a:t>
            </a:r>
          </a:p>
        </p:txBody>
      </p:sp>
      <p:sp>
        <p:nvSpPr>
          <p:cNvPr id="6" name="Slide Number Placeholder 5"/>
          <p:cNvSpPr>
            <a:spLocks noGrp="1"/>
          </p:cNvSpPr>
          <p:nvPr>
            <p:ph type="sldNum" sz="quarter" idx="12"/>
          </p:nvPr>
        </p:nvSpPr>
        <p:spPr/>
        <p:txBody>
          <a:bodyPr/>
          <a:lstStyle/>
          <a:p>
            <a:fld id="{7C7D6217-2CB0-4899-A90F-D165D154DCA2}" type="slidenum">
              <a:rPr lang="en-IN" smtClean="0"/>
              <a:pPr/>
              <a:t>25</a:t>
            </a:fld>
            <a:endParaRPr lang="en-I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p:cNvSpPr>
            <a:spLocks noGrp="1"/>
          </p:cNvSpPr>
          <p:nvPr>
            <p:ph idx="1"/>
          </p:nvPr>
        </p:nvSpPr>
        <p:spPr/>
        <p:txBody>
          <a:bodyPr>
            <a:normAutofit/>
          </a:bodyPr>
          <a:lstStyle/>
          <a:p>
            <a:pPr algn="just">
              <a:buNone/>
            </a:pPr>
            <a:r>
              <a:rPr lang="en-US" sz="2000" b="1" dirty="0">
                <a:latin typeface="Times New Roman" pitchFamily="18" charset="0"/>
                <a:cs typeface="Times New Roman" pitchFamily="18" charset="0"/>
              </a:rPr>
              <a:t>[1] R.C. </a:t>
            </a:r>
            <a:r>
              <a:rPr lang="en-US" sz="2000" b="1" dirty="0" err="1">
                <a:latin typeface="Times New Roman" pitchFamily="18" charset="0"/>
                <a:cs typeface="Times New Roman" pitchFamily="18" charset="0"/>
              </a:rPr>
              <a:t>Dorf</a:t>
            </a:r>
            <a:r>
              <a:rPr lang="en-US" sz="2000" b="1" dirty="0">
                <a:latin typeface="Times New Roman" pitchFamily="18" charset="0"/>
                <a:cs typeface="Times New Roman" pitchFamily="18" charset="0"/>
              </a:rPr>
              <a:t> and James A. Svoboda, “Introduction to Electric Circuits”, 9</a:t>
            </a:r>
            <a:r>
              <a:rPr lang="en-US" sz="2000" b="1" baseline="30000" dirty="0">
                <a:latin typeface="Times New Roman" pitchFamily="18" charset="0"/>
                <a:cs typeface="Times New Roman" pitchFamily="18" charset="0"/>
              </a:rPr>
              <a:t>th</a:t>
            </a:r>
            <a:r>
              <a:rPr lang="en-US" sz="2000" b="1" dirty="0">
                <a:latin typeface="Times New Roman" pitchFamily="18" charset="0"/>
                <a:cs typeface="Times New Roman" pitchFamily="18" charset="0"/>
              </a:rPr>
              <a:t> </a:t>
            </a:r>
            <a:r>
              <a:rPr lang="en-US" sz="2000" b="1" dirty="0" err="1">
                <a:latin typeface="Times New Roman" pitchFamily="18" charset="0"/>
                <a:cs typeface="Times New Roman" pitchFamily="18" charset="0"/>
              </a:rPr>
              <a:t>ed</a:t>
            </a:r>
            <a:r>
              <a:rPr lang="en-US" sz="2000" b="1" dirty="0">
                <a:latin typeface="Times New Roman" pitchFamily="18" charset="0"/>
                <a:cs typeface="Times New Roman" pitchFamily="18" charset="0"/>
              </a:rPr>
              <a:t>, John Wiley &amp; Sons, 2013.</a:t>
            </a:r>
          </a:p>
          <a:p>
            <a:pPr algn="just"/>
            <a:endParaRPr lang="en-US" sz="2000" b="1" dirty="0">
              <a:latin typeface="Times New Roman" pitchFamily="18" charset="0"/>
              <a:cs typeface="Times New Roman" pitchFamily="18" charset="0"/>
            </a:endParaRPr>
          </a:p>
        </p:txBody>
      </p:sp>
      <p:sp>
        <p:nvSpPr>
          <p:cNvPr id="14" name="Title 1"/>
          <p:cNvSpPr>
            <a:spLocks noGrp="1"/>
          </p:cNvSpPr>
          <p:nvPr>
            <p:ph type="title"/>
          </p:nvPr>
        </p:nvSpPr>
        <p:spPr>
          <a:xfrm>
            <a:off x="457200" y="-27384"/>
            <a:ext cx="8229600" cy="1143000"/>
          </a:xfrm>
        </p:spPr>
        <p:txBody>
          <a:bodyPr>
            <a:normAutofit/>
          </a:bodyPr>
          <a:lstStyle/>
          <a:p>
            <a:r>
              <a:rPr lang="en-US" b="1" dirty="0">
                <a:solidFill>
                  <a:srgbClr val="C00000"/>
                </a:solidFill>
                <a:cs typeface="Times New Roman" panose="02020603050405020304" pitchFamily="18" charset="0"/>
              </a:rPr>
              <a:t>REFERENCES</a:t>
            </a:r>
          </a:p>
        </p:txBody>
      </p:sp>
      <p:sp>
        <p:nvSpPr>
          <p:cNvPr id="4" name="Slide Number Placeholder 3"/>
          <p:cNvSpPr>
            <a:spLocks noGrp="1"/>
          </p:cNvSpPr>
          <p:nvPr>
            <p:ph type="sldNum" sz="quarter" idx="12"/>
          </p:nvPr>
        </p:nvSpPr>
        <p:spPr/>
        <p:txBody>
          <a:bodyPr/>
          <a:lstStyle/>
          <a:p>
            <a:fld id="{7C7D6217-2CB0-4899-A90F-D165D154DCA2}" type="slidenum">
              <a:rPr lang="en-IN" smtClean="0"/>
              <a:pPr/>
              <a:t>26</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1532</Words>
  <Application>Microsoft Office PowerPoint</Application>
  <PresentationFormat>On-screen Show (4:3)</PresentationFormat>
  <Paragraphs>199</Paragraphs>
  <Slides>26</Slides>
  <Notes>1</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Slide 1</vt:lpstr>
      <vt:lpstr>CONTENTS</vt:lpstr>
      <vt:lpstr>Slide 3</vt:lpstr>
      <vt:lpstr>Slide 4</vt:lpstr>
      <vt:lpstr>Energy</vt:lpstr>
      <vt:lpstr>Power Received and Supplied by an element</vt:lpstr>
      <vt:lpstr>Contd..</vt:lpstr>
      <vt:lpstr>SOURCES </vt:lpstr>
      <vt:lpstr>INDEPENDENT SOURCES </vt:lpstr>
      <vt:lpstr>DEPENDENT SOURCES </vt:lpstr>
      <vt:lpstr>Slide 11</vt:lpstr>
      <vt:lpstr>Kirchhoff’s Laws</vt:lpstr>
      <vt:lpstr>Slide 13</vt:lpstr>
      <vt:lpstr>Kirchhoff’s Current Law (KCL)</vt:lpstr>
      <vt:lpstr>Kirchhoff’s Current Law (KCL)</vt:lpstr>
      <vt:lpstr>Kirchhoff’s Voltage Law (KVL)</vt:lpstr>
      <vt:lpstr>Problems</vt:lpstr>
      <vt:lpstr>Problems</vt:lpstr>
      <vt:lpstr>Problems…</vt:lpstr>
      <vt:lpstr>Problems…</vt:lpstr>
      <vt:lpstr>Problems…</vt:lpstr>
      <vt:lpstr>Problems…</vt:lpstr>
      <vt:lpstr>Problems…</vt:lpstr>
      <vt:lpstr>Slide 24</vt:lpstr>
      <vt:lpstr>Practice Problem</vt:lpstr>
      <vt:lpstr>REFERENCES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ankur bhardwaj</dc:creator>
  <cp:lastModifiedBy>ankur.bhardwaj</cp:lastModifiedBy>
  <cp:revision>1</cp:revision>
  <dcterms:created xsi:type="dcterms:W3CDTF">2006-08-16T00:00:00Z</dcterms:created>
  <dcterms:modified xsi:type="dcterms:W3CDTF">2024-07-30T10:03:04Z</dcterms:modified>
</cp:coreProperties>
</file>