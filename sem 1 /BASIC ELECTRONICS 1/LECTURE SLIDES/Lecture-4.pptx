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CA05E0-6CA9-4314-A992-519620CCCC21}" type="datetimeFigureOut">
              <a:rPr lang="en-US" smtClean="0"/>
              <a:t>8/7/2024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B661FD-5EE8-45EE-9B0E-D9D0A35200F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AADFAFA-5C95-4778-B23F-B0E5A512A27D}" type="slidenum">
              <a:rPr lang="en-US" smtClean="0"/>
              <a:pPr/>
              <a:t>2</a:t>
            </a:fld>
            <a:endParaRPr lang="en-US"/>
          </a:p>
        </p:txBody>
      </p:sp>
    </p:spTree>
    <p:extLst>
      <p:ext uri="{BB962C8B-B14F-4D97-AF65-F5344CB8AC3E}">
        <p14:creationId xmlns:p14="http://schemas.microsoft.com/office/powerpoint/2010/main" xmlns="" val="2070209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61178" y="908720"/>
            <a:ext cx="4821641" cy="3231654"/>
          </a:xfrm>
          <a:prstGeom prst="rect">
            <a:avLst/>
          </a:prstGeom>
        </p:spPr>
        <p:txBody>
          <a:bodyPr wrap="none">
            <a:spAutoFit/>
          </a:bodyPr>
          <a:lstStyle/>
          <a:p>
            <a:pPr algn="ctr"/>
            <a:r>
              <a:rPr lang="en-US" sz="4400" b="1" dirty="0">
                <a:solidFill>
                  <a:srgbClr val="C00000"/>
                </a:solidFill>
                <a:latin typeface="+mj-lt"/>
              </a:rPr>
              <a:t>BASIC ELECTRONICS</a:t>
            </a:r>
          </a:p>
          <a:p>
            <a:pPr algn="ctr"/>
            <a:r>
              <a:rPr lang="en-US" sz="4400" b="1" dirty="0">
                <a:solidFill>
                  <a:srgbClr val="C00000"/>
                </a:solidFill>
                <a:latin typeface="Times New Roman" pitchFamily="18" charset="0"/>
                <a:cs typeface="Times New Roman" pitchFamily="18" charset="0"/>
              </a:rPr>
              <a:t>(24B11EC111)</a:t>
            </a:r>
          </a:p>
          <a:p>
            <a:pPr algn="ctr"/>
            <a:r>
              <a:rPr lang="en-US" sz="4400" b="1" dirty="0">
                <a:solidFill>
                  <a:srgbClr val="002060"/>
                </a:solidFill>
                <a:latin typeface="Times New Roman" pitchFamily="18" charset="0"/>
                <a:cs typeface="Times New Roman" pitchFamily="18" charset="0"/>
              </a:rPr>
              <a:t>Unit-1</a:t>
            </a:r>
          </a:p>
          <a:p>
            <a:pPr algn="ctr"/>
            <a:r>
              <a:rPr lang="en-US" sz="4400" b="1" dirty="0">
                <a:solidFill>
                  <a:srgbClr val="002060"/>
                </a:solidFill>
                <a:latin typeface="Times New Roman" pitchFamily="18" charset="0"/>
                <a:cs typeface="Times New Roman" pitchFamily="18" charset="0"/>
              </a:rPr>
              <a:t>Lecture-4</a:t>
            </a:r>
          </a:p>
          <a:p>
            <a:pPr algn="ctr"/>
            <a:r>
              <a:rPr lang="en-IN" sz="2400" b="1" dirty="0">
                <a:latin typeface="Times New Roman" panose="02020603050405020304" pitchFamily="18" charset="0"/>
                <a:cs typeface="Times New Roman" panose="02020603050405020304" pitchFamily="18" charset="0"/>
              </a:rPr>
              <a:t>(</a:t>
            </a:r>
            <a:r>
              <a:rPr lang="en-US" sz="2400" b="1" dirty="0">
                <a:latin typeface="Times New Roman" pitchFamily="18" charset="0"/>
                <a:cs typeface="Times New Roman" pitchFamily="18" charset="0"/>
              </a:rPr>
              <a:t>Methods of DC Circuit Analysis)</a:t>
            </a:r>
            <a:endParaRPr lang="en-US" sz="2400" b="1" dirty="0">
              <a:solidFill>
                <a:srgbClr val="002060"/>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7C7D6217-2CB0-4899-A90F-D165D154DCA2}" type="slidenum">
              <a:rPr lang="en-IN" smtClean="0">
                <a:latin typeface="Times New Roman" pitchFamily="18" charset="0"/>
                <a:cs typeface="Times New Roman" pitchFamily="18" charset="0"/>
              </a:rPr>
              <a:pPr/>
              <a:t>1</a:t>
            </a:fld>
            <a:endParaRPr lang="en-IN">
              <a:latin typeface="Times New Roman" pitchFamily="18" charset="0"/>
              <a:cs typeface="Times New Roman" pitchFamily="18" charset="0"/>
            </a:endParaRPr>
          </a:p>
        </p:txBody>
      </p:sp>
    </p:spTree>
    <p:extLst>
      <p:ext uri="{BB962C8B-B14F-4D97-AF65-F5344CB8AC3E}">
        <p14:creationId xmlns:p14="http://schemas.microsoft.com/office/powerpoint/2010/main" xmlns="" val="1236559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9214"/>
            <a:ext cx="7886700" cy="1325563"/>
          </a:xfrm>
        </p:spPr>
        <p:txBody>
          <a:bodyPr>
            <a:normAutofit/>
          </a:bodyPr>
          <a:lstStyle/>
          <a:p>
            <a:pPr algn="ctr"/>
            <a:r>
              <a:rPr lang="en-US" b="1" dirty="0">
                <a:solidFill>
                  <a:srgbClr val="C00000"/>
                </a:solidFill>
                <a:ea typeface="+mn-ea"/>
                <a:cs typeface="Times New Roman" pitchFamily="18" charset="0"/>
              </a:rPr>
              <a:t>CONTENTS</a:t>
            </a:r>
          </a:p>
        </p:txBody>
      </p:sp>
      <p:sp>
        <p:nvSpPr>
          <p:cNvPr id="3" name="Content Placeholder 2"/>
          <p:cNvSpPr>
            <a:spLocks noGrp="1"/>
          </p:cNvSpPr>
          <p:nvPr>
            <p:ph sz="quarter" idx="1"/>
          </p:nvPr>
        </p:nvSpPr>
        <p:spPr>
          <a:xfrm>
            <a:off x="628650" y="1463900"/>
            <a:ext cx="7886700" cy="4860700"/>
          </a:xfrm>
        </p:spPr>
        <p:txBody>
          <a:bodyPr>
            <a:normAutofit/>
          </a:bodyPr>
          <a:lstStyle/>
          <a:p>
            <a:r>
              <a:rPr lang="en-US" sz="2800" b="1" dirty="0">
                <a:latin typeface="Times New Roman" pitchFamily="18" charset="0"/>
                <a:cs typeface="Times New Roman" pitchFamily="18" charset="0"/>
              </a:rPr>
              <a:t>Methods of Analysis of Resistive Circuits</a:t>
            </a:r>
          </a:p>
          <a:p>
            <a:r>
              <a:rPr lang="en-US" sz="2800" b="1" dirty="0">
                <a:latin typeface="Times New Roman" pitchFamily="18" charset="0"/>
                <a:cs typeface="Times New Roman" pitchFamily="18" charset="0"/>
              </a:rPr>
              <a:t>Node Voltage Method</a:t>
            </a:r>
          </a:p>
          <a:p>
            <a:r>
              <a:rPr lang="en-US" sz="2800" b="1" dirty="0">
                <a:latin typeface="Times New Roman" pitchFamily="18" charset="0"/>
                <a:cs typeface="Times New Roman" pitchFamily="18" charset="0"/>
              </a:rPr>
              <a:t>Mesh Current Method</a:t>
            </a:r>
          </a:p>
          <a:p>
            <a:r>
              <a:rPr lang="en-IN" sz="2800" b="1" dirty="0">
                <a:latin typeface="Times New Roman" panose="02020603050405020304" pitchFamily="18" charset="0"/>
                <a:cs typeface="Times New Roman" panose="02020603050405020304" pitchFamily="18" charset="0"/>
              </a:rPr>
              <a:t>Node Voltage Analysis of Circuits with Current Sources</a:t>
            </a:r>
          </a:p>
          <a:p>
            <a:r>
              <a:rPr lang="en-IN" sz="2800" b="1" dirty="0">
                <a:latin typeface="Times New Roman" panose="02020603050405020304" pitchFamily="18" charset="0"/>
                <a:cs typeface="Times New Roman" panose="02020603050405020304" pitchFamily="18" charset="0"/>
              </a:rPr>
              <a:t>Node Voltage Analysis of Circuits with Current and Voltage Sources</a:t>
            </a:r>
          </a:p>
          <a:p>
            <a:r>
              <a:rPr lang="en-US" sz="2800" b="1" dirty="0">
                <a:latin typeface="Times New Roman" pitchFamily="18" charset="0"/>
                <a:cs typeface="Times New Roman" pitchFamily="18" charset="0"/>
              </a:rPr>
              <a:t>Problem</a:t>
            </a:r>
          </a:p>
          <a:p>
            <a:r>
              <a:rPr lang="en-US" sz="2800" b="1"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D679BDA3-1F2F-45F2-80B6-CFADEE268BA9}" type="slidenum">
              <a:rPr lang="en-IN" b="1" smtClean="0">
                <a:solidFill>
                  <a:prstClr val="black">
                    <a:tint val="75000"/>
                  </a:prstClr>
                </a:solidFill>
              </a:rPr>
              <a:pPr/>
              <a:t>2</a:t>
            </a:fld>
            <a:endParaRPr lang="en-IN" b="1">
              <a:solidFill>
                <a:prstClr val="black">
                  <a:tint val="75000"/>
                </a:prstClr>
              </a:solidFill>
            </a:endParaRPr>
          </a:p>
        </p:txBody>
      </p:sp>
    </p:spTree>
    <p:extLst>
      <p:ext uri="{BB962C8B-B14F-4D97-AF65-F5344CB8AC3E}">
        <p14:creationId xmlns:p14="http://schemas.microsoft.com/office/powerpoint/2010/main" xmlns="" val="1413882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a:t>
            </a:fld>
            <a:endParaRPr lang="en-US"/>
          </a:p>
        </p:txBody>
      </p:sp>
      <p:sp>
        <p:nvSpPr>
          <p:cNvPr id="4" name="Rectangle 3"/>
          <p:cNvSpPr/>
          <p:nvPr/>
        </p:nvSpPr>
        <p:spPr>
          <a:xfrm>
            <a:off x="304800" y="228600"/>
            <a:ext cx="8305800" cy="646331"/>
          </a:xfrm>
          <a:prstGeom prst="rect">
            <a:avLst/>
          </a:prstGeom>
        </p:spPr>
        <p:txBody>
          <a:bodyPr wrap="square">
            <a:spAutoFit/>
          </a:bodyPr>
          <a:lstStyle/>
          <a:p>
            <a:pPr algn="ctr"/>
            <a:r>
              <a:rPr lang="en-IN" sz="3600" b="1" dirty="0">
                <a:solidFill>
                  <a:srgbClr val="C00000"/>
                </a:solidFill>
                <a:latin typeface="+mj-lt"/>
                <a:cs typeface="Times New Roman" pitchFamily="18" charset="0"/>
              </a:rPr>
              <a:t>Methods of Analysis of Resistive Circuits</a:t>
            </a:r>
            <a:endParaRPr lang="en-US" sz="3600" b="1" dirty="0">
              <a:solidFill>
                <a:srgbClr val="C00000"/>
              </a:solidFill>
              <a:latin typeface="+mj-lt"/>
              <a:cs typeface="Times New Roman" pitchFamily="18" charset="0"/>
            </a:endParaRPr>
          </a:p>
        </p:txBody>
      </p:sp>
      <p:sp>
        <p:nvSpPr>
          <p:cNvPr id="5" name="Rectangle 4"/>
          <p:cNvSpPr/>
          <p:nvPr/>
        </p:nvSpPr>
        <p:spPr>
          <a:xfrm>
            <a:off x="228600" y="1219200"/>
            <a:ext cx="8534400" cy="2784737"/>
          </a:xfrm>
          <a:prstGeom prst="rect">
            <a:avLst/>
          </a:prstGeom>
        </p:spPr>
        <p:txBody>
          <a:bodyPr wrap="square">
            <a:spAutoFit/>
          </a:bodyPr>
          <a:lstStyle/>
          <a:p>
            <a:pPr marL="342900" indent="-342900">
              <a:lnSpc>
                <a:spcPct val="200000"/>
              </a:lnSpc>
              <a:buFont typeface="Arial" pitchFamily="34" charset="0"/>
              <a:buChar char="•"/>
            </a:pPr>
            <a:r>
              <a:rPr lang="en-IN" b="1" dirty="0">
                <a:cs typeface="Times New Roman" panose="02020603050405020304" pitchFamily="18" charset="0"/>
              </a:rPr>
              <a:t>Method for small circuits: write and solve a set of equations. Obtain equations using </a:t>
            </a:r>
            <a:r>
              <a:rPr lang="en-IN" b="1" dirty="0" err="1">
                <a:cs typeface="Times New Roman" panose="02020603050405020304" pitchFamily="18" charset="0"/>
              </a:rPr>
              <a:t>Kirchhoff’s</a:t>
            </a:r>
            <a:r>
              <a:rPr lang="en-IN" b="1" dirty="0">
                <a:cs typeface="Times New Roman" panose="02020603050405020304" pitchFamily="18" charset="0"/>
              </a:rPr>
              <a:t> current and voltage laws. The constitutive equations of the circuit elements, such as Ohm’s law, provide the remaining equations. The unknown variables are element currents and voltages.</a:t>
            </a:r>
          </a:p>
          <a:p>
            <a:pPr marL="342900" indent="-342900">
              <a:lnSpc>
                <a:spcPct val="200000"/>
              </a:lnSpc>
              <a:buFont typeface="Arial" pitchFamily="34" charset="0"/>
              <a:buChar char="•"/>
            </a:pPr>
            <a:endParaRPr lang="en-IN" b="1" dirty="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a:t>
            </a:fld>
            <a:endParaRPr lang="en-US"/>
          </a:p>
        </p:txBody>
      </p:sp>
      <p:sp>
        <p:nvSpPr>
          <p:cNvPr id="5" name="Rectangle 4"/>
          <p:cNvSpPr/>
          <p:nvPr/>
        </p:nvSpPr>
        <p:spPr>
          <a:xfrm>
            <a:off x="228600" y="1219200"/>
            <a:ext cx="8534400" cy="3892732"/>
          </a:xfrm>
          <a:prstGeom prst="rect">
            <a:avLst/>
          </a:prstGeom>
        </p:spPr>
        <p:txBody>
          <a:bodyPr wrap="square">
            <a:spAutoFit/>
          </a:bodyPr>
          <a:lstStyle/>
          <a:p>
            <a:pPr marL="342900" indent="-342900">
              <a:lnSpc>
                <a:spcPct val="200000"/>
              </a:lnSpc>
              <a:buFont typeface="Arial" pitchFamily="34" charset="0"/>
              <a:buChar char="•"/>
            </a:pPr>
            <a:r>
              <a:rPr lang="en-US" b="1" dirty="0">
                <a:latin typeface="Times New Roman" panose="02020603050405020304" pitchFamily="18" charset="0"/>
                <a:cs typeface="Times New Roman" panose="02020603050405020304" pitchFamily="18" charset="0"/>
              </a:rPr>
              <a:t>For moderate-sized/Large-sized circuits, above method provides quite large set of equations.</a:t>
            </a:r>
          </a:p>
          <a:p>
            <a:pPr marL="342900" indent="-342900">
              <a:lnSpc>
                <a:spcPct val="200000"/>
              </a:lnSpc>
              <a:buFont typeface="Arial" pitchFamily="34" charset="0"/>
              <a:buChar char="•"/>
            </a:pPr>
            <a:r>
              <a:rPr lang="en-US" b="1" dirty="0">
                <a:latin typeface="Times New Roman" panose="02020603050405020304" pitchFamily="18" charset="0"/>
                <a:cs typeface="Times New Roman" panose="02020603050405020304" pitchFamily="18" charset="0"/>
              </a:rPr>
              <a:t>So for such type of circuits, </a:t>
            </a:r>
            <a:r>
              <a:rPr lang="en-IN" b="1" dirty="0">
                <a:latin typeface="Times New Roman" panose="02020603050405020304" pitchFamily="18" charset="0"/>
                <a:cs typeface="Times New Roman" panose="02020603050405020304" pitchFamily="18" charset="0"/>
              </a:rPr>
              <a:t>we consider two methods for writing a smaller set of simultaneous equations:</a:t>
            </a:r>
          </a:p>
          <a:p>
            <a:pPr marL="800100" lvl="1"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The node voltage method.</a:t>
            </a:r>
          </a:p>
          <a:p>
            <a:pPr marL="800100" lvl="1"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 The mesh current method.</a:t>
            </a:r>
          </a:p>
          <a:p>
            <a:pPr marL="342900" indent="-342900">
              <a:lnSpc>
                <a:spcPct val="200000"/>
              </a:lnSpc>
              <a:buFont typeface="Arial" pitchFamily="34" charset="0"/>
              <a:buChar char="•"/>
            </a:pPr>
            <a:endParaRPr lang="en-IN"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xmlns="" id="{87C81A0F-C940-0985-503B-7407C17191C4}"/>
              </a:ext>
            </a:extLst>
          </p:cNvPr>
          <p:cNvSpPr/>
          <p:nvPr/>
        </p:nvSpPr>
        <p:spPr>
          <a:xfrm>
            <a:off x="304800" y="228600"/>
            <a:ext cx="8305800" cy="646331"/>
          </a:xfrm>
          <a:prstGeom prst="rect">
            <a:avLst/>
          </a:prstGeom>
        </p:spPr>
        <p:txBody>
          <a:bodyPr wrap="square">
            <a:spAutoFit/>
          </a:bodyPr>
          <a:lstStyle/>
          <a:p>
            <a:pPr algn="ctr"/>
            <a:r>
              <a:rPr lang="en-IN" sz="3600" b="1" dirty="0">
                <a:solidFill>
                  <a:srgbClr val="C00000"/>
                </a:solidFill>
                <a:latin typeface="+mj-lt"/>
                <a:cs typeface="Times New Roman" pitchFamily="18" charset="0"/>
              </a:rPr>
              <a:t>Methods of Analysis of Resistive Circuits</a:t>
            </a:r>
            <a:endParaRPr lang="en-US" sz="3600" b="1" dirty="0">
              <a:solidFill>
                <a:srgbClr val="C00000"/>
              </a:solidFill>
              <a:latin typeface="+mj-lt"/>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5</a:t>
            </a:fld>
            <a:endParaRPr lang="en-US"/>
          </a:p>
        </p:txBody>
      </p:sp>
      <p:sp>
        <p:nvSpPr>
          <p:cNvPr id="4" name="Rectangle 3"/>
          <p:cNvSpPr/>
          <p:nvPr/>
        </p:nvSpPr>
        <p:spPr>
          <a:xfrm>
            <a:off x="304800" y="228600"/>
            <a:ext cx="8305800" cy="769441"/>
          </a:xfrm>
          <a:prstGeom prst="rect">
            <a:avLst/>
          </a:prstGeom>
        </p:spPr>
        <p:txBody>
          <a:bodyPr wrap="square">
            <a:spAutoFit/>
          </a:bodyPr>
          <a:lstStyle/>
          <a:p>
            <a:pPr algn="ctr"/>
            <a:r>
              <a:rPr lang="en-IN" sz="4400" b="1" dirty="0">
                <a:solidFill>
                  <a:srgbClr val="C00000"/>
                </a:solidFill>
                <a:latin typeface="+mj-lt"/>
                <a:cs typeface="Times New Roman" pitchFamily="18" charset="0"/>
              </a:rPr>
              <a:t>Node Voltage Method</a:t>
            </a:r>
          </a:p>
        </p:txBody>
      </p:sp>
      <p:sp>
        <p:nvSpPr>
          <p:cNvPr id="5" name="Rectangle 4"/>
          <p:cNvSpPr/>
          <p:nvPr/>
        </p:nvSpPr>
        <p:spPr>
          <a:xfrm>
            <a:off x="152400" y="1266885"/>
            <a:ext cx="8686800" cy="3338735"/>
          </a:xfrm>
          <a:prstGeom prst="rect">
            <a:avLst/>
          </a:prstGeom>
        </p:spPr>
        <p:txBody>
          <a:bodyPr wrap="square">
            <a:spAutoFit/>
          </a:bodyPr>
          <a:lstStyle/>
          <a:p>
            <a:pPr marL="342900" indent="-342900">
              <a:lnSpc>
                <a:spcPct val="200000"/>
              </a:lnSpc>
              <a:buFont typeface="Arial" pitchFamily="34" charset="0"/>
              <a:buChar char="•"/>
            </a:pPr>
            <a:r>
              <a:rPr lang="en-IN" b="1" dirty="0"/>
              <a:t>The node voltage method uses a new type of variable called the node voltage.</a:t>
            </a:r>
          </a:p>
          <a:p>
            <a:pPr marL="342900" indent="-342900">
              <a:lnSpc>
                <a:spcPct val="200000"/>
              </a:lnSpc>
              <a:buFont typeface="Arial" pitchFamily="34" charset="0"/>
              <a:buChar char="•"/>
            </a:pPr>
            <a:r>
              <a:rPr lang="en-IN" b="1" dirty="0"/>
              <a:t>The “node voltage equations” or, more simply, the “node equations,” are a set of simultaneous equations that represent a given electric circuit.</a:t>
            </a:r>
          </a:p>
          <a:p>
            <a:pPr marL="342900" indent="-342900">
              <a:lnSpc>
                <a:spcPct val="200000"/>
              </a:lnSpc>
              <a:buFont typeface="Arial" pitchFamily="34" charset="0"/>
              <a:buChar char="•"/>
            </a:pPr>
            <a:r>
              <a:rPr lang="en-IN" b="1" dirty="0"/>
              <a:t>The unknown variables of the node voltage equations are the node voltages.</a:t>
            </a:r>
          </a:p>
          <a:p>
            <a:pPr marL="342900" indent="-342900">
              <a:lnSpc>
                <a:spcPct val="200000"/>
              </a:lnSpc>
              <a:buFont typeface="Arial" pitchFamily="34" charset="0"/>
              <a:buChar char="•"/>
            </a:pPr>
            <a:r>
              <a:rPr lang="en-IN" b="1" dirty="0"/>
              <a:t>After solving the node voltage equations, we determine the values of the element currents and voltages from the values of the node voltages.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6</a:t>
            </a:fld>
            <a:endParaRPr lang="en-US"/>
          </a:p>
        </p:txBody>
      </p:sp>
      <p:sp>
        <p:nvSpPr>
          <p:cNvPr id="4" name="Rectangle 3"/>
          <p:cNvSpPr/>
          <p:nvPr/>
        </p:nvSpPr>
        <p:spPr>
          <a:xfrm>
            <a:off x="304800" y="228600"/>
            <a:ext cx="8305800" cy="769441"/>
          </a:xfrm>
          <a:prstGeom prst="rect">
            <a:avLst/>
          </a:prstGeom>
        </p:spPr>
        <p:txBody>
          <a:bodyPr wrap="square">
            <a:spAutoFit/>
          </a:bodyPr>
          <a:lstStyle/>
          <a:p>
            <a:pPr algn="ctr"/>
            <a:r>
              <a:rPr lang="en-IN" sz="4400" b="1" dirty="0">
                <a:solidFill>
                  <a:srgbClr val="C00000"/>
                </a:solidFill>
                <a:latin typeface="+mj-lt"/>
                <a:cs typeface="Times New Roman" pitchFamily="18" charset="0"/>
              </a:rPr>
              <a:t>Node Voltage Method</a:t>
            </a:r>
          </a:p>
        </p:txBody>
      </p:sp>
      <p:sp>
        <p:nvSpPr>
          <p:cNvPr id="5" name="Rectangle 4"/>
          <p:cNvSpPr/>
          <p:nvPr/>
        </p:nvSpPr>
        <p:spPr>
          <a:xfrm>
            <a:off x="152400" y="1266885"/>
            <a:ext cx="8686800" cy="3338735"/>
          </a:xfrm>
          <a:prstGeom prst="rect">
            <a:avLst/>
          </a:prstGeom>
        </p:spPr>
        <p:txBody>
          <a:bodyPr wrap="square">
            <a:spAutoFit/>
          </a:bodyPr>
          <a:lstStyle/>
          <a:p>
            <a:pPr marL="342900" indent="-342900">
              <a:lnSpc>
                <a:spcPct val="200000"/>
              </a:lnSpc>
              <a:buFont typeface="Arial" pitchFamily="34" charset="0"/>
              <a:buChar char="•"/>
            </a:pPr>
            <a:r>
              <a:rPr lang="en-IN" b="1" dirty="0">
                <a:latin typeface="Times New Roman" panose="02020603050405020304" pitchFamily="18" charset="0"/>
                <a:cs typeface="Times New Roman" panose="02020603050405020304" pitchFamily="18" charset="0"/>
              </a:rPr>
              <a:t>It’s easier to write node voltage equations for some types of circuit than for others.</a:t>
            </a:r>
          </a:p>
          <a:p>
            <a:pPr marL="342900" indent="-342900">
              <a:lnSpc>
                <a:spcPct val="200000"/>
              </a:lnSpc>
              <a:buFont typeface="Arial" pitchFamily="34" charset="0"/>
              <a:buChar char="•"/>
            </a:pPr>
            <a:r>
              <a:rPr lang="en-IN" b="1" dirty="0">
                <a:latin typeface="Times New Roman" panose="02020603050405020304" pitchFamily="18" charset="0"/>
                <a:cs typeface="Times New Roman" panose="02020603050405020304" pitchFamily="18" charset="0"/>
              </a:rPr>
              <a:t>Starting with the easiest case, we will learn how to write node voltage equations for circuits that consist of:</a:t>
            </a:r>
          </a:p>
          <a:p>
            <a:pPr marL="800100" lvl="1"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 Resistors and independent current sources.</a:t>
            </a:r>
          </a:p>
          <a:p>
            <a:pPr marL="800100" lvl="1"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 Resistors and independent current and voltage sources.</a:t>
            </a:r>
          </a:p>
          <a:p>
            <a:pPr marL="800100" lvl="1"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 Resistors and independent and dependent voltage and current sources.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7</a:t>
            </a:fld>
            <a:endParaRPr lang="en-US"/>
          </a:p>
        </p:txBody>
      </p:sp>
      <p:sp>
        <p:nvSpPr>
          <p:cNvPr id="3" name="Rectangle 2"/>
          <p:cNvSpPr/>
          <p:nvPr/>
        </p:nvSpPr>
        <p:spPr>
          <a:xfrm>
            <a:off x="304800" y="228600"/>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Mesh Current Method</a:t>
            </a:r>
          </a:p>
        </p:txBody>
      </p:sp>
      <p:sp>
        <p:nvSpPr>
          <p:cNvPr id="4" name="Rectangle 3"/>
          <p:cNvSpPr/>
          <p:nvPr/>
        </p:nvSpPr>
        <p:spPr>
          <a:xfrm>
            <a:off x="228600" y="990600"/>
            <a:ext cx="8610600" cy="3338735"/>
          </a:xfrm>
          <a:prstGeom prst="rect">
            <a:avLst/>
          </a:prstGeom>
        </p:spPr>
        <p:txBody>
          <a:bodyPr wrap="square">
            <a:spAutoFit/>
          </a:bodyPr>
          <a:lstStyle/>
          <a:p>
            <a:pPr marL="342900" indent="-342900">
              <a:lnSpc>
                <a:spcPct val="200000"/>
              </a:lnSpc>
              <a:buFont typeface="Arial" pitchFamily="34" charset="0"/>
              <a:buChar char="•"/>
            </a:pPr>
            <a:r>
              <a:rPr lang="en-IN" b="1" dirty="0">
                <a:latin typeface="Times New Roman" panose="02020603050405020304" pitchFamily="18" charset="0"/>
                <a:cs typeface="Times New Roman" panose="02020603050405020304" pitchFamily="18" charset="0"/>
              </a:rPr>
              <a:t>The mesh current method uses a new type of variable called the mesh current.</a:t>
            </a:r>
          </a:p>
          <a:p>
            <a:pPr marL="342900" indent="-342900">
              <a:lnSpc>
                <a:spcPct val="200000"/>
              </a:lnSpc>
              <a:buFont typeface="Arial" pitchFamily="34" charset="0"/>
              <a:buChar char="•"/>
            </a:pPr>
            <a:r>
              <a:rPr lang="en-IN" b="1" dirty="0">
                <a:latin typeface="Times New Roman" panose="02020603050405020304" pitchFamily="18" charset="0"/>
                <a:cs typeface="Times New Roman" panose="02020603050405020304" pitchFamily="18" charset="0"/>
              </a:rPr>
              <a:t>The “mesh current equations” or, more simply, the “mesh equations,” are a set of simultaneous equations that represent a given electric circuit.</a:t>
            </a:r>
          </a:p>
          <a:p>
            <a:pPr marL="342900" indent="-342900">
              <a:lnSpc>
                <a:spcPct val="200000"/>
              </a:lnSpc>
              <a:buFont typeface="Arial" pitchFamily="34" charset="0"/>
              <a:buChar char="•"/>
            </a:pPr>
            <a:r>
              <a:rPr lang="en-IN" b="1" dirty="0">
                <a:latin typeface="Times New Roman" panose="02020603050405020304" pitchFamily="18" charset="0"/>
                <a:cs typeface="Times New Roman" panose="02020603050405020304" pitchFamily="18" charset="0"/>
              </a:rPr>
              <a:t>The unknown variables of the mesh current equations are the mesh currents.</a:t>
            </a:r>
          </a:p>
          <a:p>
            <a:pPr marL="342900" indent="-342900">
              <a:lnSpc>
                <a:spcPct val="200000"/>
              </a:lnSpc>
              <a:buFont typeface="Arial" pitchFamily="34" charset="0"/>
              <a:buChar char="•"/>
            </a:pPr>
            <a:r>
              <a:rPr lang="en-IN" b="1" dirty="0">
                <a:latin typeface="Times New Roman" panose="02020603050405020304" pitchFamily="18" charset="0"/>
                <a:cs typeface="Times New Roman" panose="02020603050405020304" pitchFamily="18" charset="0"/>
              </a:rPr>
              <a:t>After solving the mesh current equations, we determine the values of the element currents and voltages from the values of the mesh currents.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8</a:t>
            </a:fld>
            <a:endParaRPr lang="en-US"/>
          </a:p>
        </p:txBody>
      </p:sp>
      <p:sp>
        <p:nvSpPr>
          <p:cNvPr id="3" name="Rectangle 2"/>
          <p:cNvSpPr/>
          <p:nvPr/>
        </p:nvSpPr>
        <p:spPr>
          <a:xfrm>
            <a:off x="304800" y="228600"/>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Mesh Current Method</a:t>
            </a:r>
          </a:p>
        </p:txBody>
      </p:sp>
      <p:sp>
        <p:nvSpPr>
          <p:cNvPr id="4" name="Rectangle 3"/>
          <p:cNvSpPr/>
          <p:nvPr/>
        </p:nvSpPr>
        <p:spPr>
          <a:xfrm>
            <a:off x="228600" y="990600"/>
            <a:ext cx="8610600" cy="3338735"/>
          </a:xfrm>
          <a:prstGeom prst="rect">
            <a:avLst/>
          </a:prstGeom>
        </p:spPr>
        <p:txBody>
          <a:bodyPr wrap="square">
            <a:spAutoFit/>
          </a:bodyPr>
          <a:lstStyle/>
          <a:p>
            <a:pPr marL="342900" indent="-342900">
              <a:lnSpc>
                <a:spcPct val="200000"/>
              </a:lnSpc>
              <a:buFont typeface="Arial" pitchFamily="34" charset="0"/>
              <a:buChar char="•"/>
            </a:pPr>
            <a:r>
              <a:rPr lang="en-IN" b="1" dirty="0"/>
              <a:t>It’s easier to write mesh current equations for some types of circuit than for others.</a:t>
            </a:r>
          </a:p>
          <a:p>
            <a:pPr marL="342900" indent="-342900">
              <a:lnSpc>
                <a:spcPct val="200000"/>
              </a:lnSpc>
              <a:buFont typeface="Arial" pitchFamily="34" charset="0"/>
              <a:buChar char="•"/>
            </a:pPr>
            <a:r>
              <a:rPr lang="en-IN" b="1" dirty="0"/>
              <a:t>Starting with the easiest case, we will learn how to write mesh current equations for circuits that consist of:</a:t>
            </a:r>
          </a:p>
          <a:p>
            <a:pPr marL="800100" lvl="1" indent="-342900">
              <a:lnSpc>
                <a:spcPct val="200000"/>
              </a:lnSpc>
              <a:buFont typeface="+mj-lt"/>
              <a:buAutoNum type="arabicPeriod"/>
            </a:pPr>
            <a:r>
              <a:rPr lang="en-IN" b="1" dirty="0"/>
              <a:t> Resistors and independent voltage sources.</a:t>
            </a:r>
          </a:p>
          <a:p>
            <a:pPr marL="800100" lvl="1" indent="-342900">
              <a:lnSpc>
                <a:spcPct val="200000"/>
              </a:lnSpc>
              <a:buFont typeface="+mj-lt"/>
              <a:buAutoNum type="arabicPeriod"/>
            </a:pPr>
            <a:r>
              <a:rPr lang="en-IN" b="1" dirty="0"/>
              <a:t> Resistors and independent current and voltage sources.</a:t>
            </a:r>
          </a:p>
          <a:p>
            <a:pPr marL="800100" lvl="1" indent="-342900">
              <a:lnSpc>
                <a:spcPct val="200000"/>
              </a:lnSpc>
              <a:buFont typeface="+mj-lt"/>
              <a:buAutoNum type="arabicPeriod"/>
            </a:pPr>
            <a:r>
              <a:rPr lang="en-IN" b="1" dirty="0"/>
              <a:t> Resistors and independent and dependent voltage and current sources.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9</a:t>
            </a:fld>
            <a:endParaRPr lang="en-US"/>
          </a:p>
        </p:txBody>
      </p:sp>
      <p:sp>
        <p:nvSpPr>
          <p:cNvPr id="3" name="Rectangle 2"/>
          <p:cNvSpPr/>
          <p:nvPr/>
        </p:nvSpPr>
        <p:spPr>
          <a:xfrm>
            <a:off x="304800" y="228600"/>
            <a:ext cx="8305800" cy="1200329"/>
          </a:xfrm>
          <a:prstGeom prst="rect">
            <a:avLst/>
          </a:prstGeom>
        </p:spPr>
        <p:txBody>
          <a:bodyPr wrap="square">
            <a:spAutoFit/>
          </a:bodyPr>
          <a:lstStyle/>
          <a:p>
            <a:pPr algn="ctr"/>
            <a:r>
              <a:rPr lang="en-IN" sz="3600" b="1" dirty="0">
                <a:solidFill>
                  <a:srgbClr val="C00000"/>
                </a:solidFill>
                <a:latin typeface="+mj-lt"/>
                <a:cs typeface="Times New Roman" panose="02020603050405020304" pitchFamily="18" charset="0"/>
              </a:rPr>
              <a:t>Node Voltage Analysis of Circuits with Current Sources</a:t>
            </a:r>
            <a:endParaRPr lang="en-US" sz="3600" b="1" dirty="0">
              <a:solidFill>
                <a:srgbClr val="C00000"/>
              </a:solidFill>
              <a:latin typeface="+mj-lt"/>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533400" y="1524000"/>
            <a:ext cx="3257550" cy="1569082"/>
          </a:xfrm>
          <a:prstGeom prst="rect">
            <a:avLst/>
          </a:prstGeom>
          <a:noFill/>
          <a:ln w="9525">
            <a:noFill/>
            <a:miter lim="800000"/>
            <a:headEnd/>
            <a:tailEnd/>
          </a:ln>
        </p:spPr>
      </p:pic>
      <p:sp>
        <p:nvSpPr>
          <p:cNvPr id="7" name="TextBox 6"/>
          <p:cNvSpPr txBox="1"/>
          <p:nvPr/>
        </p:nvSpPr>
        <p:spPr>
          <a:xfrm>
            <a:off x="4267200" y="1752600"/>
            <a:ext cx="4572000" cy="923330"/>
          </a:xfrm>
          <a:prstGeom prst="rect">
            <a:avLst/>
          </a:prstGeom>
          <a:noFill/>
        </p:spPr>
        <p:txBody>
          <a:bodyPr wrap="square" rtlCol="0">
            <a:spAutoFit/>
          </a:bodyPr>
          <a:lstStyle/>
          <a:p>
            <a:pPr marL="342900" indent="-342900">
              <a:buFont typeface="+mj-lt"/>
              <a:buAutoNum type="arabicPeriod"/>
            </a:pPr>
            <a:r>
              <a:rPr lang="en-IN" dirty="0"/>
              <a:t>Consider the circuit shown in Figure.</a:t>
            </a:r>
          </a:p>
          <a:p>
            <a:pPr marL="342900" indent="-342900">
              <a:buFont typeface="+mj-lt"/>
              <a:buAutoNum type="arabicPeriod"/>
            </a:pPr>
            <a:r>
              <a:rPr lang="en-IN" dirty="0"/>
              <a:t>This circuit contains four elements: three resistors and a current source.</a:t>
            </a:r>
          </a:p>
        </p:txBody>
      </p:sp>
      <p:sp>
        <p:nvSpPr>
          <p:cNvPr id="8" name="TextBox 7"/>
          <p:cNvSpPr txBox="1"/>
          <p:nvPr/>
        </p:nvSpPr>
        <p:spPr>
          <a:xfrm>
            <a:off x="4267200" y="3505200"/>
            <a:ext cx="4419600" cy="1477328"/>
          </a:xfrm>
          <a:prstGeom prst="rect">
            <a:avLst/>
          </a:prstGeom>
          <a:noFill/>
        </p:spPr>
        <p:txBody>
          <a:bodyPr wrap="square" rtlCol="0">
            <a:spAutoFit/>
          </a:bodyPr>
          <a:lstStyle/>
          <a:p>
            <a:pPr marL="342900" indent="-342900">
              <a:buFont typeface="+mj-lt"/>
              <a:buAutoNum type="arabicPeriod"/>
            </a:pPr>
            <a:r>
              <a:rPr lang="en-IN" dirty="0"/>
              <a:t>Figure shows the same circuit, redrawn so that all three nodes are drawn as points rather than lines.</a:t>
            </a:r>
          </a:p>
          <a:p>
            <a:pPr marL="342900" indent="-342900">
              <a:buFont typeface="+mj-lt"/>
              <a:buAutoNum type="arabicPeriod"/>
            </a:pPr>
            <a:r>
              <a:rPr lang="en-IN" dirty="0"/>
              <a:t>In Figure, the nodes are </a:t>
            </a:r>
            <a:r>
              <a:rPr lang="en-IN" dirty="0" err="1"/>
              <a:t>labeled</a:t>
            </a:r>
            <a:r>
              <a:rPr lang="en-IN" dirty="0"/>
              <a:t> as node a, node b, and node c.</a:t>
            </a:r>
          </a:p>
        </p:txBody>
      </p:sp>
      <p:pic>
        <p:nvPicPr>
          <p:cNvPr id="1027" name="Picture 3"/>
          <p:cNvPicPr>
            <a:picLocks noChangeAspect="1" noChangeArrowheads="1"/>
          </p:cNvPicPr>
          <p:nvPr/>
        </p:nvPicPr>
        <p:blipFill>
          <a:blip r:embed="rId3" cstate="print"/>
          <a:srcRect/>
          <a:stretch>
            <a:fillRect/>
          </a:stretch>
        </p:blipFill>
        <p:spPr bwMode="auto">
          <a:xfrm>
            <a:off x="914400" y="3429000"/>
            <a:ext cx="2319500" cy="231457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10</a:t>
            </a:fld>
            <a:endParaRPr lang="en-US"/>
          </a:p>
        </p:txBody>
      </p:sp>
      <p:sp>
        <p:nvSpPr>
          <p:cNvPr id="3" name="Rectangle 2"/>
          <p:cNvSpPr/>
          <p:nvPr/>
        </p:nvSpPr>
        <p:spPr>
          <a:xfrm>
            <a:off x="304800" y="172997"/>
            <a:ext cx="8305800" cy="1200329"/>
          </a:xfrm>
          <a:prstGeom prst="rect">
            <a:avLst/>
          </a:prstGeom>
        </p:spPr>
        <p:txBody>
          <a:bodyPr wrap="square">
            <a:spAutoFit/>
          </a:bodyPr>
          <a:lstStyle/>
          <a:p>
            <a:pPr algn="ctr"/>
            <a:r>
              <a:rPr lang="en-IN" sz="3600" b="1" dirty="0">
                <a:solidFill>
                  <a:srgbClr val="C00000"/>
                </a:solidFill>
                <a:latin typeface="+mj-lt"/>
                <a:cs typeface="Times New Roman" panose="02020603050405020304" pitchFamily="18" charset="0"/>
              </a:rPr>
              <a:t>Node Voltage Analysis of Circuits with Current Sources</a:t>
            </a:r>
            <a:endParaRPr lang="en-US" sz="3600" b="1" dirty="0">
              <a:solidFill>
                <a:srgbClr val="C00000"/>
              </a:solidFill>
              <a:latin typeface="+mj-lt"/>
              <a:cs typeface="Times New Roman" pitchFamily="18" charset="0"/>
            </a:endParaRPr>
          </a:p>
        </p:txBody>
      </p:sp>
      <p:sp>
        <p:nvSpPr>
          <p:cNvPr id="4" name="Rectangle 3"/>
          <p:cNvSpPr/>
          <p:nvPr/>
        </p:nvSpPr>
        <p:spPr>
          <a:xfrm>
            <a:off x="457200" y="1295400"/>
            <a:ext cx="8153400" cy="369332"/>
          </a:xfrm>
          <a:prstGeom prst="rect">
            <a:avLst/>
          </a:prstGeom>
        </p:spPr>
        <p:txBody>
          <a:bodyPr wrap="square">
            <a:spAutoFit/>
          </a:bodyPr>
          <a:lstStyle/>
          <a:p>
            <a:r>
              <a:rPr lang="en-IN" dirty="0" err="1"/>
              <a:t>Analyzing</a:t>
            </a:r>
            <a:r>
              <a:rPr lang="en-IN" dirty="0"/>
              <a:t> a connected circuit containing n nodes will require n - 1 KCL equations.</a:t>
            </a:r>
          </a:p>
        </p:txBody>
      </p:sp>
      <p:sp>
        <p:nvSpPr>
          <p:cNvPr id="5" name="TextBox 4"/>
          <p:cNvSpPr txBox="1"/>
          <p:nvPr/>
        </p:nvSpPr>
        <p:spPr>
          <a:xfrm>
            <a:off x="533400" y="1752600"/>
            <a:ext cx="7924800" cy="1754326"/>
          </a:xfrm>
          <a:prstGeom prst="rect">
            <a:avLst/>
          </a:prstGeom>
          <a:noFill/>
        </p:spPr>
        <p:txBody>
          <a:bodyPr wrap="square" rtlCol="0">
            <a:spAutoFit/>
          </a:bodyPr>
          <a:lstStyle/>
          <a:p>
            <a:pPr marL="342900" indent="-342900">
              <a:buFont typeface="+mj-lt"/>
              <a:buAutoNum type="arabicPeriod"/>
            </a:pPr>
            <a:r>
              <a:rPr lang="en-IN" dirty="0"/>
              <a:t>The node at which KCL is not applied is called the reference node.</a:t>
            </a:r>
          </a:p>
          <a:p>
            <a:pPr marL="342900" indent="-342900">
              <a:buFont typeface="+mj-lt"/>
              <a:buAutoNum type="arabicPeriod"/>
            </a:pPr>
            <a:r>
              <a:rPr lang="en-IN" dirty="0"/>
              <a:t>Any node of the circuit can be selected to be the reference node.</a:t>
            </a:r>
          </a:p>
          <a:p>
            <a:pPr marL="342900" indent="-342900">
              <a:buFont typeface="+mj-lt"/>
              <a:buAutoNum type="arabicPeriod"/>
            </a:pPr>
            <a:r>
              <a:rPr lang="en-IN" dirty="0"/>
              <a:t>We will often choose the node at the bottom of the circuit to be the reference node.</a:t>
            </a:r>
          </a:p>
          <a:p>
            <a:pPr marL="342900" indent="-342900">
              <a:buFont typeface="+mj-lt"/>
              <a:buAutoNum type="arabicPeriod"/>
            </a:pPr>
            <a:r>
              <a:rPr lang="en-IN" dirty="0"/>
              <a:t>When the circuit contains a grounded power supply, the ground node of the power supply is usually selected as the reference node.</a:t>
            </a:r>
          </a:p>
        </p:txBody>
      </p:sp>
      <p:pic>
        <p:nvPicPr>
          <p:cNvPr id="6" name="Picture 3"/>
          <p:cNvPicPr>
            <a:picLocks noChangeAspect="1" noChangeArrowheads="1"/>
          </p:cNvPicPr>
          <p:nvPr/>
        </p:nvPicPr>
        <p:blipFill>
          <a:blip r:embed="rId2" cstate="print"/>
          <a:srcRect/>
          <a:stretch>
            <a:fillRect/>
          </a:stretch>
        </p:blipFill>
        <p:spPr bwMode="auto">
          <a:xfrm>
            <a:off x="762000" y="3886200"/>
            <a:ext cx="2319500" cy="2314575"/>
          </a:xfrm>
          <a:prstGeom prst="rect">
            <a:avLst/>
          </a:prstGeom>
          <a:noFill/>
          <a:ln w="9525">
            <a:noFill/>
            <a:miter lim="800000"/>
            <a:headEnd/>
            <a:tailEnd/>
          </a:ln>
        </p:spPr>
      </p:pic>
      <p:sp>
        <p:nvSpPr>
          <p:cNvPr id="7" name="Rectangle 6"/>
          <p:cNvSpPr/>
          <p:nvPr/>
        </p:nvSpPr>
        <p:spPr>
          <a:xfrm>
            <a:off x="3733800" y="4191000"/>
            <a:ext cx="4572000" cy="646331"/>
          </a:xfrm>
          <a:prstGeom prst="rect">
            <a:avLst/>
          </a:prstGeom>
        </p:spPr>
        <p:txBody>
          <a:bodyPr>
            <a:spAutoFit/>
          </a:bodyPr>
          <a:lstStyle/>
          <a:p>
            <a:r>
              <a:rPr lang="en-IN" dirty="0"/>
              <a:t>The voltage at any node of the circuit, relative to the reference node, is called a node voltage.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11</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609600" y="1257300"/>
            <a:ext cx="6934200" cy="2487453"/>
          </a:xfrm>
          <a:prstGeom prst="rect">
            <a:avLst/>
          </a:prstGeom>
          <a:noFill/>
          <a:ln w="9525">
            <a:noFill/>
            <a:miter lim="800000"/>
            <a:headEnd/>
            <a:tailEnd/>
          </a:ln>
        </p:spPr>
      </p:pic>
      <p:sp>
        <p:nvSpPr>
          <p:cNvPr id="4" name="Rectangle 3"/>
          <p:cNvSpPr/>
          <p:nvPr/>
        </p:nvSpPr>
        <p:spPr>
          <a:xfrm>
            <a:off x="351309" y="114835"/>
            <a:ext cx="8305800" cy="1200329"/>
          </a:xfrm>
          <a:prstGeom prst="rect">
            <a:avLst/>
          </a:prstGeom>
        </p:spPr>
        <p:txBody>
          <a:bodyPr wrap="square">
            <a:spAutoFit/>
          </a:bodyPr>
          <a:lstStyle/>
          <a:p>
            <a:pPr algn="ctr"/>
            <a:r>
              <a:rPr lang="en-IN" sz="3600" b="1" dirty="0">
                <a:solidFill>
                  <a:srgbClr val="C00000"/>
                </a:solidFill>
                <a:latin typeface="+mj-lt"/>
                <a:cs typeface="Times New Roman" panose="02020603050405020304" pitchFamily="18" charset="0"/>
              </a:rPr>
              <a:t>Node Voltage Analysis of Circuits with Current Sources</a:t>
            </a:r>
            <a:endParaRPr lang="en-US" sz="3600" b="1" dirty="0">
              <a:solidFill>
                <a:srgbClr val="C00000"/>
              </a:solidFill>
              <a:latin typeface="+mj-lt"/>
              <a:cs typeface="Times New Roman" panose="02020603050405020304" pitchFamily="18" charset="0"/>
            </a:endParaRPr>
          </a:p>
        </p:txBody>
      </p:sp>
      <p:sp>
        <p:nvSpPr>
          <p:cNvPr id="5" name="Rectangle 4"/>
          <p:cNvSpPr/>
          <p:nvPr/>
        </p:nvSpPr>
        <p:spPr>
          <a:xfrm>
            <a:off x="533400" y="3810000"/>
            <a:ext cx="8229600" cy="1200329"/>
          </a:xfrm>
          <a:prstGeom prst="rect">
            <a:avLst/>
          </a:prstGeom>
        </p:spPr>
        <p:txBody>
          <a:bodyPr wrap="square">
            <a:spAutoFit/>
          </a:bodyPr>
          <a:lstStyle/>
          <a:p>
            <a:pPr marL="342900" indent="-342900">
              <a:buFont typeface="+mj-lt"/>
              <a:buAutoNum type="arabicPeriod"/>
            </a:pPr>
            <a:r>
              <a:rPr lang="en-IN" dirty="0"/>
              <a:t>One of the standard methods for </a:t>
            </a:r>
            <a:r>
              <a:rPr lang="en-IN" dirty="0" err="1"/>
              <a:t>analyzing</a:t>
            </a:r>
            <a:r>
              <a:rPr lang="en-IN" dirty="0"/>
              <a:t> an electric circuit is to write and solve a set of simultaneous equations called the node equations.</a:t>
            </a:r>
          </a:p>
          <a:p>
            <a:pPr marL="342900" indent="-342900">
              <a:buFont typeface="+mj-lt"/>
              <a:buAutoNum type="arabicPeriod"/>
            </a:pPr>
            <a:r>
              <a:rPr lang="en-IN" dirty="0"/>
              <a:t>The unknown variables in the node equations are the node voltages of the circuit.</a:t>
            </a:r>
          </a:p>
          <a:p>
            <a:pPr marL="342900" indent="-342900">
              <a:buFont typeface="+mj-lt"/>
              <a:buAutoNum type="arabicPeriod"/>
            </a:pPr>
            <a:r>
              <a:rPr lang="en-IN" dirty="0"/>
              <a:t>We determine the values of the node voltages by solving the node equations.</a:t>
            </a:r>
          </a:p>
        </p:txBody>
      </p:sp>
      <p:sp>
        <p:nvSpPr>
          <p:cNvPr id="7" name="Rectangle 6"/>
          <p:cNvSpPr/>
          <p:nvPr/>
        </p:nvSpPr>
        <p:spPr>
          <a:xfrm>
            <a:off x="533400" y="5200471"/>
            <a:ext cx="8305800" cy="1200329"/>
          </a:xfrm>
          <a:prstGeom prst="rect">
            <a:avLst/>
          </a:prstGeom>
        </p:spPr>
        <p:txBody>
          <a:bodyPr wrap="square">
            <a:spAutoFit/>
          </a:bodyPr>
          <a:lstStyle/>
          <a:p>
            <a:pPr marL="342900" indent="-342900">
              <a:buFont typeface="Wingdings" pitchFamily="2" charset="2"/>
              <a:buChar char="v"/>
            </a:pPr>
            <a:r>
              <a:rPr lang="en-IN" b="1" dirty="0"/>
              <a:t>To write a set of node equations, we do two things:</a:t>
            </a:r>
          </a:p>
          <a:p>
            <a:pPr marL="800100" lvl="1" indent="-342900">
              <a:buFont typeface="+mj-lt"/>
              <a:buAutoNum type="arabicPeriod"/>
            </a:pPr>
            <a:r>
              <a:rPr lang="en-IN" b="1" dirty="0"/>
              <a:t>Express element currents as functions of the node voltages.</a:t>
            </a:r>
          </a:p>
          <a:p>
            <a:pPr marL="800100" lvl="1" indent="-342900">
              <a:buFont typeface="+mj-lt"/>
              <a:buAutoNum type="arabicPeriod"/>
            </a:pPr>
            <a:r>
              <a:rPr lang="en-IN" b="1" dirty="0"/>
              <a:t>Apply </a:t>
            </a:r>
            <a:r>
              <a:rPr lang="en-IN" b="1" dirty="0" err="1"/>
              <a:t>Kirchhoff’s</a:t>
            </a:r>
            <a:r>
              <a:rPr lang="en-IN" b="1" dirty="0"/>
              <a:t> current law (KCL) at each of the nodes of the circuit except for the reference node.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12</a:t>
            </a:fld>
            <a:endParaRPr lang="en-US"/>
          </a:p>
        </p:txBody>
      </p:sp>
      <p:sp>
        <p:nvSpPr>
          <p:cNvPr id="3" name="Rectangle 2"/>
          <p:cNvSpPr/>
          <p:nvPr/>
        </p:nvSpPr>
        <p:spPr>
          <a:xfrm>
            <a:off x="304800" y="111497"/>
            <a:ext cx="8305800" cy="1200329"/>
          </a:xfrm>
          <a:prstGeom prst="rect">
            <a:avLst/>
          </a:prstGeom>
        </p:spPr>
        <p:txBody>
          <a:bodyPr wrap="square">
            <a:spAutoFit/>
          </a:bodyPr>
          <a:lstStyle/>
          <a:p>
            <a:pPr algn="ctr"/>
            <a:r>
              <a:rPr lang="en-IN" sz="3600" b="1" dirty="0">
                <a:solidFill>
                  <a:srgbClr val="C00000"/>
                </a:solidFill>
                <a:latin typeface="+mj-lt"/>
                <a:cs typeface="Times New Roman" panose="02020603050405020304" pitchFamily="18" charset="0"/>
              </a:rPr>
              <a:t>Node Voltage Analysis of Circuits with Current Sources</a:t>
            </a:r>
            <a:endParaRPr lang="en-US" sz="3600" b="1" dirty="0">
              <a:solidFill>
                <a:srgbClr val="C00000"/>
              </a:solidFill>
              <a:latin typeface="+mj-lt"/>
              <a:cs typeface="Times New Roman" pitchFamily="18" charset="0"/>
            </a:endParaRPr>
          </a:p>
        </p:txBody>
      </p:sp>
      <p:pic>
        <p:nvPicPr>
          <p:cNvPr id="3074" name="Picture 2"/>
          <p:cNvPicPr>
            <a:picLocks noChangeAspect="1" noChangeArrowheads="1"/>
          </p:cNvPicPr>
          <p:nvPr/>
        </p:nvPicPr>
        <p:blipFill>
          <a:blip r:embed="rId2" cstate="print"/>
          <a:srcRect/>
          <a:stretch>
            <a:fillRect/>
          </a:stretch>
        </p:blipFill>
        <p:spPr bwMode="auto">
          <a:xfrm>
            <a:off x="152400" y="1278334"/>
            <a:ext cx="8534400" cy="2702694"/>
          </a:xfrm>
          <a:prstGeom prst="rect">
            <a:avLst/>
          </a:prstGeom>
          <a:noFill/>
          <a:ln w="9525">
            <a:noFill/>
            <a:miter lim="800000"/>
            <a:headEnd/>
            <a:tailEnd/>
          </a:ln>
        </p:spPr>
      </p:pic>
      <p:sp>
        <p:nvSpPr>
          <p:cNvPr id="6" name="Rectangle 5"/>
          <p:cNvSpPr/>
          <p:nvPr/>
        </p:nvSpPr>
        <p:spPr>
          <a:xfrm>
            <a:off x="304800" y="4114800"/>
            <a:ext cx="8458200" cy="646331"/>
          </a:xfrm>
          <a:prstGeom prst="rect">
            <a:avLst/>
          </a:prstGeom>
        </p:spPr>
        <p:txBody>
          <a:bodyPr wrap="square">
            <a:spAutoFit/>
          </a:bodyPr>
          <a:lstStyle/>
          <a:p>
            <a:pPr marL="342900" indent="-342900">
              <a:buFont typeface="Arial" pitchFamily="34" charset="0"/>
              <a:buChar char="•"/>
            </a:pPr>
            <a:r>
              <a:rPr lang="en-IN" dirty="0"/>
              <a:t>The circuit element in Figure could be anything: a resistor, a current source, a dependent voltage source, and so on.</a:t>
            </a:r>
          </a:p>
        </p:txBody>
      </p:sp>
      <p:sp>
        <p:nvSpPr>
          <p:cNvPr id="7" name="Rectangle 6"/>
          <p:cNvSpPr/>
          <p:nvPr/>
        </p:nvSpPr>
        <p:spPr>
          <a:xfrm>
            <a:off x="304800" y="4800600"/>
            <a:ext cx="8458200" cy="646331"/>
          </a:xfrm>
          <a:prstGeom prst="rect">
            <a:avLst/>
          </a:prstGeom>
        </p:spPr>
        <p:txBody>
          <a:bodyPr wrap="square">
            <a:spAutoFit/>
          </a:bodyPr>
          <a:lstStyle/>
          <a:p>
            <a:pPr marL="342900" indent="-342900">
              <a:buFont typeface="Arial" pitchFamily="34" charset="0"/>
              <a:buChar char="•"/>
            </a:pPr>
            <a:r>
              <a:rPr lang="en-IN" dirty="0"/>
              <a:t>In Figure , the circuit element is a resistor. We will use Ohm’s law to express the resistor current </a:t>
            </a:r>
            <a:r>
              <a:rPr lang="en-IN" dirty="0" err="1"/>
              <a:t>i</a:t>
            </a:r>
            <a:r>
              <a:rPr lang="en-IN" dirty="0"/>
              <a:t> as a function of the node voltages.</a:t>
            </a:r>
          </a:p>
        </p:txBody>
      </p:sp>
      <p:pic>
        <p:nvPicPr>
          <p:cNvPr id="3075" name="Picture 3"/>
          <p:cNvPicPr>
            <a:picLocks noChangeAspect="1" noChangeArrowheads="1"/>
          </p:cNvPicPr>
          <p:nvPr/>
        </p:nvPicPr>
        <p:blipFill>
          <a:blip r:embed="rId3" cstate="print"/>
          <a:srcRect/>
          <a:stretch>
            <a:fillRect/>
          </a:stretch>
        </p:blipFill>
        <p:spPr bwMode="auto">
          <a:xfrm>
            <a:off x="2743200" y="5638800"/>
            <a:ext cx="1766887" cy="763261"/>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13</a:t>
            </a:fld>
            <a:endParaRPr lang="en-US"/>
          </a:p>
        </p:txBody>
      </p:sp>
      <p:sp>
        <p:nvSpPr>
          <p:cNvPr id="3" name="Rectangle 2"/>
          <p:cNvSpPr/>
          <p:nvPr/>
        </p:nvSpPr>
        <p:spPr>
          <a:xfrm>
            <a:off x="304800" y="762000"/>
            <a:ext cx="8382000" cy="1200329"/>
          </a:xfrm>
          <a:prstGeom prst="rect">
            <a:avLst/>
          </a:prstGeom>
        </p:spPr>
        <p:txBody>
          <a:bodyPr wrap="square">
            <a:spAutoFit/>
          </a:bodyPr>
          <a:lstStyle/>
          <a:p>
            <a:pPr marL="342900" indent="-342900">
              <a:buFont typeface="Arial" pitchFamily="34" charset="0"/>
              <a:buChar char="•"/>
            </a:pPr>
            <a:r>
              <a:rPr lang="en-IN" dirty="0"/>
              <a:t>let’s write node equations to represent the circuit shown in Figure.</a:t>
            </a:r>
          </a:p>
          <a:p>
            <a:pPr marL="342900" indent="-342900">
              <a:buFont typeface="Arial" pitchFamily="34" charset="0"/>
              <a:buChar char="•"/>
            </a:pPr>
            <a:r>
              <a:rPr lang="en-IN" dirty="0"/>
              <a:t>The input to this circuit is the current source, current i</a:t>
            </a:r>
            <a:r>
              <a:rPr lang="en-IN" baseline="-25000" dirty="0"/>
              <a:t>s</a:t>
            </a:r>
            <a:r>
              <a:rPr lang="en-IN" dirty="0"/>
              <a:t>.</a:t>
            </a:r>
          </a:p>
          <a:p>
            <a:pPr marL="342900" indent="-342900">
              <a:buFont typeface="Arial" pitchFamily="34" charset="0"/>
              <a:buChar char="•"/>
            </a:pPr>
            <a:r>
              <a:rPr lang="en-IN" dirty="0"/>
              <a:t>To write node equations, we will first express the resistor currents as functions of the node voltages and then apply </a:t>
            </a:r>
            <a:r>
              <a:rPr lang="en-IN" dirty="0" err="1"/>
              <a:t>Kirchhoff’s</a:t>
            </a:r>
            <a:r>
              <a:rPr lang="en-IN" dirty="0"/>
              <a:t> current law at nodes a and b.</a:t>
            </a:r>
          </a:p>
        </p:txBody>
      </p:sp>
      <p:sp>
        <p:nvSpPr>
          <p:cNvPr id="4" name="Rectangle 3"/>
          <p:cNvSpPr/>
          <p:nvPr/>
        </p:nvSpPr>
        <p:spPr>
          <a:xfrm>
            <a:off x="304800" y="120898"/>
            <a:ext cx="8305800" cy="523220"/>
          </a:xfrm>
          <a:prstGeom prst="rect">
            <a:avLst/>
          </a:prstGeom>
        </p:spPr>
        <p:txBody>
          <a:bodyPr wrap="square">
            <a:spAutoFit/>
          </a:bodyPr>
          <a:lstStyle/>
          <a:p>
            <a:pPr algn="ctr"/>
            <a:r>
              <a:rPr lang="en-IN" sz="2800" b="1" dirty="0">
                <a:solidFill>
                  <a:srgbClr val="C00000"/>
                </a:solidFill>
                <a:latin typeface="+mj-lt"/>
                <a:cs typeface="Times New Roman" panose="02020603050405020304" pitchFamily="18" charset="0"/>
              </a:rPr>
              <a:t>Node Voltage Analysis of Circuits with Current Sources</a:t>
            </a:r>
            <a:endParaRPr lang="en-US" sz="2800" b="1" dirty="0">
              <a:solidFill>
                <a:srgbClr val="C00000"/>
              </a:solidFill>
              <a:latin typeface="+mj-lt"/>
              <a:cs typeface="Times New Roman" pitchFamily="18" charset="0"/>
            </a:endParaRPr>
          </a:p>
        </p:txBody>
      </p:sp>
      <p:pic>
        <p:nvPicPr>
          <p:cNvPr id="4098" name="Picture 2"/>
          <p:cNvPicPr>
            <a:picLocks noChangeAspect="1" noChangeArrowheads="1"/>
          </p:cNvPicPr>
          <p:nvPr/>
        </p:nvPicPr>
        <p:blipFill>
          <a:blip r:embed="rId2" cstate="print"/>
          <a:srcRect/>
          <a:stretch>
            <a:fillRect/>
          </a:stretch>
        </p:blipFill>
        <p:spPr bwMode="auto">
          <a:xfrm>
            <a:off x="457200" y="1981200"/>
            <a:ext cx="3402781" cy="1962150"/>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4419600" y="1981200"/>
            <a:ext cx="3600450" cy="2078442"/>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457200" y="4038600"/>
            <a:ext cx="3891567" cy="2478013"/>
          </a:xfrm>
          <a:prstGeom prst="rect">
            <a:avLst/>
          </a:prstGeom>
          <a:noFill/>
          <a:ln w="9525">
            <a:noFill/>
            <a:miter lim="800000"/>
            <a:headEnd/>
            <a:tailEnd/>
          </a:ln>
        </p:spPr>
      </p:pic>
      <p:sp>
        <p:nvSpPr>
          <p:cNvPr id="8" name="Rectangle 7"/>
          <p:cNvSpPr/>
          <p:nvPr/>
        </p:nvSpPr>
        <p:spPr>
          <a:xfrm>
            <a:off x="5029200" y="4114800"/>
            <a:ext cx="2548775" cy="369332"/>
          </a:xfrm>
          <a:prstGeom prst="rect">
            <a:avLst/>
          </a:prstGeom>
        </p:spPr>
        <p:txBody>
          <a:bodyPr wrap="none">
            <a:spAutoFit/>
          </a:bodyPr>
          <a:lstStyle/>
          <a:p>
            <a:r>
              <a:rPr lang="en-IN" dirty="0"/>
              <a:t>Using KCL at node a gives</a:t>
            </a:r>
          </a:p>
        </p:txBody>
      </p:sp>
      <p:pic>
        <p:nvPicPr>
          <p:cNvPr id="4101" name="Picture 5"/>
          <p:cNvPicPr>
            <a:picLocks noChangeAspect="1" noChangeArrowheads="1"/>
          </p:cNvPicPr>
          <p:nvPr/>
        </p:nvPicPr>
        <p:blipFill>
          <a:blip r:embed="rId5" cstate="print"/>
          <a:srcRect/>
          <a:stretch>
            <a:fillRect/>
          </a:stretch>
        </p:blipFill>
        <p:spPr bwMode="auto">
          <a:xfrm>
            <a:off x="5029200" y="4648200"/>
            <a:ext cx="2368974" cy="704673"/>
          </a:xfrm>
          <a:prstGeom prst="rect">
            <a:avLst/>
          </a:prstGeom>
          <a:noFill/>
          <a:ln w="9525">
            <a:noFill/>
            <a:miter lim="800000"/>
            <a:headEnd/>
            <a:tailEnd/>
          </a:ln>
        </p:spPr>
      </p:pic>
      <p:sp>
        <p:nvSpPr>
          <p:cNvPr id="10" name="Rectangle 9"/>
          <p:cNvSpPr/>
          <p:nvPr/>
        </p:nvSpPr>
        <p:spPr>
          <a:xfrm>
            <a:off x="5029200" y="5410200"/>
            <a:ext cx="2920800" cy="369332"/>
          </a:xfrm>
          <a:prstGeom prst="rect">
            <a:avLst/>
          </a:prstGeom>
        </p:spPr>
        <p:txBody>
          <a:bodyPr wrap="none">
            <a:spAutoFit/>
          </a:bodyPr>
          <a:lstStyle/>
          <a:p>
            <a:r>
              <a:rPr lang="en-IN" dirty="0"/>
              <a:t>the KCL equation at node b is</a:t>
            </a:r>
          </a:p>
        </p:txBody>
      </p:sp>
      <p:pic>
        <p:nvPicPr>
          <p:cNvPr id="4102" name="Picture 6"/>
          <p:cNvPicPr>
            <a:picLocks noChangeAspect="1" noChangeArrowheads="1"/>
          </p:cNvPicPr>
          <p:nvPr/>
        </p:nvPicPr>
        <p:blipFill>
          <a:blip r:embed="rId6" cstate="print"/>
          <a:srcRect/>
          <a:stretch>
            <a:fillRect/>
          </a:stretch>
        </p:blipFill>
        <p:spPr bwMode="auto">
          <a:xfrm>
            <a:off x="5410200" y="5867400"/>
            <a:ext cx="1889303" cy="762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14</a:t>
            </a:fld>
            <a:endParaRPr lang="en-US"/>
          </a:p>
        </p:txBody>
      </p:sp>
      <p:pic>
        <p:nvPicPr>
          <p:cNvPr id="3" name="Picture 4"/>
          <p:cNvPicPr>
            <a:picLocks noChangeAspect="1" noChangeArrowheads="1"/>
          </p:cNvPicPr>
          <p:nvPr/>
        </p:nvPicPr>
        <p:blipFill>
          <a:blip r:embed="rId2" cstate="print"/>
          <a:srcRect/>
          <a:stretch>
            <a:fillRect/>
          </a:stretch>
        </p:blipFill>
        <p:spPr bwMode="auto">
          <a:xfrm>
            <a:off x="457200" y="762000"/>
            <a:ext cx="3891567" cy="2478013"/>
          </a:xfrm>
          <a:prstGeom prst="rect">
            <a:avLst/>
          </a:prstGeom>
          <a:noFill/>
          <a:ln w="9525">
            <a:noFill/>
            <a:miter lim="800000"/>
            <a:headEnd/>
            <a:tailEnd/>
          </a:ln>
        </p:spPr>
      </p:pic>
      <p:sp>
        <p:nvSpPr>
          <p:cNvPr id="4" name="Rectangle 3"/>
          <p:cNvSpPr/>
          <p:nvPr/>
        </p:nvSpPr>
        <p:spPr>
          <a:xfrm>
            <a:off x="5029200" y="838200"/>
            <a:ext cx="2548775" cy="369332"/>
          </a:xfrm>
          <a:prstGeom prst="rect">
            <a:avLst/>
          </a:prstGeom>
        </p:spPr>
        <p:txBody>
          <a:bodyPr wrap="none">
            <a:spAutoFit/>
          </a:bodyPr>
          <a:lstStyle/>
          <a:p>
            <a:r>
              <a:rPr lang="en-IN" dirty="0"/>
              <a:t>Using KCL at node a gives</a:t>
            </a:r>
          </a:p>
        </p:txBody>
      </p:sp>
      <p:pic>
        <p:nvPicPr>
          <p:cNvPr id="5" name="Picture 5"/>
          <p:cNvPicPr>
            <a:picLocks noChangeAspect="1" noChangeArrowheads="1"/>
          </p:cNvPicPr>
          <p:nvPr/>
        </p:nvPicPr>
        <p:blipFill>
          <a:blip r:embed="rId3" cstate="print"/>
          <a:srcRect/>
          <a:stretch>
            <a:fillRect/>
          </a:stretch>
        </p:blipFill>
        <p:spPr bwMode="auto">
          <a:xfrm>
            <a:off x="5029200" y="1371600"/>
            <a:ext cx="2368974" cy="704673"/>
          </a:xfrm>
          <a:prstGeom prst="rect">
            <a:avLst/>
          </a:prstGeom>
          <a:noFill/>
          <a:ln w="9525">
            <a:noFill/>
            <a:miter lim="800000"/>
            <a:headEnd/>
            <a:tailEnd/>
          </a:ln>
        </p:spPr>
      </p:pic>
      <p:sp>
        <p:nvSpPr>
          <p:cNvPr id="6" name="Rectangle 5"/>
          <p:cNvSpPr/>
          <p:nvPr/>
        </p:nvSpPr>
        <p:spPr>
          <a:xfrm>
            <a:off x="5029200" y="2133600"/>
            <a:ext cx="2920800" cy="369332"/>
          </a:xfrm>
          <a:prstGeom prst="rect">
            <a:avLst/>
          </a:prstGeom>
        </p:spPr>
        <p:txBody>
          <a:bodyPr wrap="none">
            <a:spAutoFit/>
          </a:bodyPr>
          <a:lstStyle/>
          <a:p>
            <a:r>
              <a:rPr lang="en-IN" dirty="0"/>
              <a:t>the KCL equation at node b is</a:t>
            </a:r>
          </a:p>
        </p:txBody>
      </p:sp>
      <p:pic>
        <p:nvPicPr>
          <p:cNvPr id="7" name="Picture 6"/>
          <p:cNvPicPr>
            <a:picLocks noChangeAspect="1" noChangeArrowheads="1"/>
          </p:cNvPicPr>
          <p:nvPr/>
        </p:nvPicPr>
        <p:blipFill>
          <a:blip r:embed="rId4" cstate="print"/>
          <a:srcRect/>
          <a:stretch>
            <a:fillRect/>
          </a:stretch>
        </p:blipFill>
        <p:spPr bwMode="auto">
          <a:xfrm>
            <a:off x="5410200" y="2590800"/>
            <a:ext cx="1889303" cy="762000"/>
          </a:xfrm>
          <a:prstGeom prst="rect">
            <a:avLst/>
          </a:prstGeom>
          <a:noFill/>
          <a:ln w="9525">
            <a:noFill/>
            <a:miter lim="800000"/>
            <a:headEnd/>
            <a:tailEnd/>
          </a:ln>
        </p:spPr>
      </p:pic>
      <p:sp>
        <p:nvSpPr>
          <p:cNvPr id="8" name="Rectangle 7"/>
          <p:cNvSpPr/>
          <p:nvPr/>
        </p:nvSpPr>
        <p:spPr>
          <a:xfrm>
            <a:off x="304800" y="228600"/>
            <a:ext cx="8305800" cy="523220"/>
          </a:xfrm>
          <a:prstGeom prst="rect">
            <a:avLst/>
          </a:prstGeom>
        </p:spPr>
        <p:txBody>
          <a:bodyPr wrap="square">
            <a:spAutoFit/>
          </a:bodyPr>
          <a:lstStyle/>
          <a:p>
            <a:pPr algn="ctr"/>
            <a:r>
              <a:rPr lang="en-IN" sz="2800" b="1" dirty="0">
                <a:solidFill>
                  <a:srgbClr val="C00000"/>
                </a:solidFill>
                <a:latin typeface="+mj-lt"/>
                <a:cs typeface="Times New Roman" panose="02020603050405020304" pitchFamily="18" charset="0"/>
              </a:rPr>
              <a:t>Node Voltage Analysis of Circuits with Current Sources</a:t>
            </a:r>
            <a:endParaRPr lang="en-US" sz="2800" b="1" dirty="0">
              <a:solidFill>
                <a:srgbClr val="C00000"/>
              </a:solidFill>
              <a:latin typeface="+mj-lt"/>
              <a:cs typeface="Times New Roman" pitchFamily="18" charset="0"/>
            </a:endParaRPr>
          </a:p>
        </p:txBody>
      </p:sp>
      <p:pic>
        <p:nvPicPr>
          <p:cNvPr id="5122" name="Picture 2"/>
          <p:cNvPicPr>
            <a:picLocks noChangeAspect="1" noChangeArrowheads="1"/>
          </p:cNvPicPr>
          <p:nvPr/>
        </p:nvPicPr>
        <p:blipFill>
          <a:blip r:embed="rId5" cstate="print"/>
          <a:srcRect/>
          <a:stretch>
            <a:fillRect/>
          </a:stretch>
        </p:blipFill>
        <p:spPr bwMode="auto">
          <a:xfrm>
            <a:off x="457200" y="3493667"/>
            <a:ext cx="7467600" cy="544933"/>
          </a:xfrm>
          <a:prstGeom prst="rect">
            <a:avLst/>
          </a:prstGeom>
          <a:noFill/>
          <a:ln w="9525">
            <a:noFill/>
            <a:miter lim="800000"/>
            <a:headEnd/>
            <a:tailEnd/>
          </a:ln>
        </p:spPr>
      </p:pic>
      <p:pic>
        <p:nvPicPr>
          <p:cNvPr id="5123" name="Picture 3"/>
          <p:cNvPicPr>
            <a:picLocks noChangeAspect="1" noChangeArrowheads="1"/>
          </p:cNvPicPr>
          <p:nvPr/>
        </p:nvPicPr>
        <p:blipFill>
          <a:blip r:embed="rId6" cstate="print"/>
          <a:srcRect/>
          <a:stretch>
            <a:fillRect/>
          </a:stretch>
        </p:blipFill>
        <p:spPr bwMode="auto">
          <a:xfrm>
            <a:off x="1143000" y="4310158"/>
            <a:ext cx="2290763" cy="642842"/>
          </a:xfrm>
          <a:prstGeom prst="rect">
            <a:avLst/>
          </a:prstGeom>
          <a:noFill/>
          <a:ln w="9525">
            <a:noFill/>
            <a:miter lim="800000"/>
            <a:headEnd/>
            <a:tailEnd/>
          </a:ln>
        </p:spPr>
      </p:pic>
      <p:pic>
        <p:nvPicPr>
          <p:cNvPr id="5124" name="Picture 4"/>
          <p:cNvPicPr>
            <a:picLocks noChangeAspect="1" noChangeArrowheads="1"/>
          </p:cNvPicPr>
          <p:nvPr/>
        </p:nvPicPr>
        <p:blipFill>
          <a:blip r:embed="rId7" cstate="print"/>
          <a:srcRect/>
          <a:stretch>
            <a:fillRect/>
          </a:stretch>
        </p:blipFill>
        <p:spPr bwMode="auto">
          <a:xfrm>
            <a:off x="4343400" y="4191000"/>
            <a:ext cx="2047875" cy="748937"/>
          </a:xfrm>
          <a:prstGeom prst="rect">
            <a:avLst/>
          </a:prstGeom>
          <a:noFill/>
          <a:ln w="9525">
            <a:noFill/>
            <a:miter lim="800000"/>
            <a:headEnd/>
            <a:tailEnd/>
          </a:ln>
        </p:spPr>
      </p:pic>
      <p:pic>
        <p:nvPicPr>
          <p:cNvPr id="5125" name="Picture 5"/>
          <p:cNvPicPr>
            <a:picLocks noChangeAspect="1" noChangeArrowheads="1"/>
          </p:cNvPicPr>
          <p:nvPr/>
        </p:nvPicPr>
        <p:blipFill>
          <a:blip r:embed="rId8" cstate="print"/>
          <a:srcRect/>
          <a:stretch>
            <a:fillRect/>
          </a:stretch>
        </p:blipFill>
        <p:spPr bwMode="auto">
          <a:xfrm>
            <a:off x="2332170" y="5638800"/>
            <a:ext cx="1554030" cy="914400"/>
          </a:xfrm>
          <a:prstGeom prst="rect">
            <a:avLst/>
          </a:prstGeom>
          <a:noFill/>
          <a:ln w="9525">
            <a:noFill/>
            <a:miter lim="800000"/>
            <a:headEnd/>
            <a:tailEnd/>
          </a:ln>
        </p:spPr>
      </p:pic>
      <p:pic>
        <p:nvPicPr>
          <p:cNvPr id="5126" name="Picture 6"/>
          <p:cNvPicPr>
            <a:picLocks noChangeAspect="1" noChangeArrowheads="1"/>
          </p:cNvPicPr>
          <p:nvPr/>
        </p:nvPicPr>
        <p:blipFill>
          <a:blip r:embed="rId9" cstate="print"/>
          <a:srcRect/>
          <a:stretch>
            <a:fillRect/>
          </a:stretch>
        </p:blipFill>
        <p:spPr bwMode="auto">
          <a:xfrm>
            <a:off x="4572000" y="5611943"/>
            <a:ext cx="1676400" cy="941257"/>
          </a:xfrm>
          <a:prstGeom prst="rect">
            <a:avLst/>
          </a:prstGeom>
          <a:noFill/>
          <a:ln w="9525">
            <a:noFill/>
            <a:miter lim="800000"/>
            <a:headEnd/>
            <a:tailEnd/>
          </a:ln>
        </p:spPr>
      </p:pic>
      <p:sp>
        <p:nvSpPr>
          <p:cNvPr id="15" name="Rectangle 14"/>
          <p:cNvSpPr/>
          <p:nvPr/>
        </p:nvSpPr>
        <p:spPr>
          <a:xfrm>
            <a:off x="533400" y="5105400"/>
            <a:ext cx="5872762" cy="369332"/>
          </a:xfrm>
          <a:prstGeom prst="rect">
            <a:avLst/>
          </a:prstGeom>
        </p:spPr>
        <p:txBody>
          <a:bodyPr wrap="none">
            <a:spAutoFit/>
          </a:bodyPr>
          <a:lstStyle/>
          <a:p>
            <a:r>
              <a:rPr lang="en-IN" dirty="0"/>
              <a:t>On solving the equations, the node voltages of this circuit are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15</a:t>
            </a:fld>
            <a:endParaRPr lang="en-US"/>
          </a:p>
        </p:txBody>
      </p:sp>
      <p:sp>
        <p:nvSpPr>
          <p:cNvPr id="4" name="Rectangle 3"/>
          <p:cNvSpPr/>
          <p:nvPr/>
        </p:nvSpPr>
        <p:spPr>
          <a:xfrm>
            <a:off x="304800" y="228600"/>
            <a:ext cx="8305800" cy="1077218"/>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Node Voltage Analysis of Circuits with Current and Voltage Sources</a:t>
            </a:r>
            <a:endParaRPr lang="en-US" sz="3200" b="1" dirty="0">
              <a:solidFill>
                <a:srgbClr val="C00000"/>
              </a:solidFill>
              <a:latin typeface="+mj-lt"/>
              <a:cs typeface="Times New Roman" pitchFamily="18" charset="0"/>
            </a:endParaRPr>
          </a:p>
        </p:txBody>
      </p:sp>
      <p:sp>
        <p:nvSpPr>
          <p:cNvPr id="5" name="Rectangle 4"/>
          <p:cNvSpPr/>
          <p:nvPr/>
        </p:nvSpPr>
        <p:spPr>
          <a:xfrm>
            <a:off x="381000" y="1371600"/>
            <a:ext cx="8382000" cy="1200329"/>
          </a:xfrm>
          <a:prstGeom prst="rect">
            <a:avLst/>
          </a:prstGeom>
        </p:spPr>
        <p:txBody>
          <a:bodyPr wrap="square">
            <a:spAutoFit/>
          </a:bodyPr>
          <a:lstStyle/>
          <a:p>
            <a:pPr marL="342900" indent="-342900">
              <a:buFont typeface="Arial" pitchFamily="34" charset="0"/>
              <a:buChar char="•"/>
            </a:pPr>
            <a:r>
              <a:rPr lang="en-IN" dirty="0"/>
              <a:t>First we consider the circuit with a voltage source between ground and one of the other nodes.</a:t>
            </a:r>
          </a:p>
          <a:p>
            <a:pPr marL="342900" indent="-342900">
              <a:buFont typeface="Arial" pitchFamily="34" charset="0"/>
              <a:buChar char="•"/>
            </a:pPr>
            <a:r>
              <a:rPr lang="en-IN" dirty="0"/>
              <a:t>Because we are free to select the reference node, this particular arrangement is easily achieved.</a:t>
            </a:r>
          </a:p>
        </p:txBody>
      </p:sp>
      <p:pic>
        <p:nvPicPr>
          <p:cNvPr id="6146" name="Picture 2"/>
          <p:cNvPicPr>
            <a:picLocks noChangeAspect="1" noChangeArrowheads="1"/>
          </p:cNvPicPr>
          <p:nvPr/>
        </p:nvPicPr>
        <p:blipFill>
          <a:blip r:embed="rId2" cstate="print"/>
          <a:srcRect/>
          <a:stretch>
            <a:fillRect/>
          </a:stretch>
        </p:blipFill>
        <p:spPr bwMode="auto">
          <a:xfrm>
            <a:off x="76200" y="2743200"/>
            <a:ext cx="4543425" cy="2114656"/>
          </a:xfrm>
          <a:prstGeom prst="rect">
            <a:avLst/>
          </a:prstGeom>
          <a:noFill/>
          <a:ln w="9525">
            <a:noFill/>
            <a:miter lim="800000"/>
            <a:headEnd/>
            <a:tailEnd/>
          </a:ln>
        </p:spPr>
      </p:pic>
      <p:sp>
        <p:nvSpPr>
          <p:cNvPr id="7" name="Rectangle 6"/>
          <p:cNvSpPr/>
          <p:nvPr/>
        </p:nvSpPr>
        <p:spPr>
          <a:xfrm>
            <a:off x="4876800" y="2895600"/>
            <a:ext cx="4114800" cy="1200329"/>
          </a:xfrm>
          <a:prstGeom prst="rect">
            <a:avLst/>
          </a:prstGeom>
        </p:spPr>
        <p:txBody>
          <a:bodyPr wrap="square">
            <a:spAutoFit/>
          </a:bodyPr>
          <a:lstStyle/>
          <a:p>
            <a:pPr marL="342900" indent="-342900">
              <a:buFont typeface="Arial" pitchFamily="34" charset="0"/>
              <a:buChar char="•"/>
            </a:pPr>
            <a:r>
              <a:rPr lang="en-IN" b="1" dirty="0"/>
              <a:t>We immediately note that the source is connected between terminal a and ground and, therefore,                   </a:t>
            </a:r>
          </a:p>
          <a:p>
            <a:pPr marL="342900" indent="-342900"/>
            <a:r>
              <a:rPr lang="en-IN" b="1" dirty="0"/>
              <a:t>                              </a:t>
            </a:r>
            <a:r>
              <a:rPr lang="en-IN" b="1" dirty="0" err="1"/>
              <a:t>v</a:t>
            </a:r>
            <a:r>
              <a:rPr lang="en-IN" b="1" baseline="-25000" dirty="0" err="1"/>
              <a:t>a</a:t>
            </a:r>
            <a:r>
              <a:rPr lang="en-IN" b="1" dirty="0"/>
              <a:t> = </a:t>
            </a:r>
            <a:r>
              <a:rPr lang="en-IN" b="1" dirty="0" err="1"/>
              <a:t>v</a:t>
            </a:r>
            <a:r>
              <a:rPr lang="en-IN" b="1" baseline="-25000" dirty="0" err="1"/>
              <a:t>s</a:t>
            </a:r>
            <a:endParaRPr lang="en-IN" b="1" baseline="-25000" dirty="0"/>
          </a:p>
        </p:txBody>
      </p:sp>
      <p:sp>
        <p:nvSpPr>
          <p:cNvPr id="8" name="Rectangle 7"/>
          <p:cNvSpPr/>
          <p:nvPr/>
        </p:nvSpPr>
        <p:spPr>
          <a:xfrm>
            <a:off x="304800" y="5029200"/>
            <a:ext cx="2358146" cy="369332"/>
          </a:xfrm>
          <a:prstGeom prst="rect">
            <a:avLst/>
          </a:prstGeom>
        </p:spPr>
        <p:txBody>
          <a:bodyPr wrap="none">
            <a:spAutoFit/>
          </a:bodyPr>
          <a:lstStyle/>
          <a:p>
            <a:r>
              <a:rPr lang="en-IN" dirty="0"/>
              <a:t>KCL equation at node b</a:t>
            </a:r>
          </a:p>
        </p:txBody>
      </p:sp>
      <p:pic>
        <p:nvPicPr>
          <p:cNvPr id="6147" name="Picture 3"/>
          <p:cNvPicPr>
            <a:picLocks noChangeAspect="1" noChangeArrowheads="1"/>
          </p:cNvPicPr>
          <p:nvPr/>
        </p:nvPicPr>
        <p:blipFill>
          <a:blip r:embed="rId3" cstate="print"/>
          <a:srcRect/>
          <a:stretch>
            <a:fillRect/>
          </a:stretch>
        </p:blipFill>
        <p:spPr bwMode="auto">
          <a:xfrm>
            <a:off x="2895600" y="4876800"/>
            <a:ext cx="2384939" cy="709613"/>
          </a:xfrm>
          <a:prstGeom prst="rect">
            <a:avLst/>
          </a:prstGeom>
          <a:noFill/>
          <a:ln w="9525">
            <a:noFill/>
            <a:miter lim="800000"/>
            <a:headEnd/>
            <a:tailEnd/>
          </a:ln>
        </p:spPr>
      </p:pic>
      <p:pic>
        <p:nvPicPr>
          <p:cNvPr id="6148" name="Picture 4"/>
          <p:cNvPicPr>
            <a:picLocks noChangeAspect="1" noChangeArrowheads="1"/>
          </p:cNvPicPr>
          <p:nvPr/>
        </p:nvPicPr>
        <p:blipFill>
          <a:blip r:embed="rId4" cstate="print"/>
          <a:srcRect/>
          <a:stretch>
            <a:fillRect/>
          </a:stretch>
        </p:blipFill>
        <p:spPr bwMode="auto">
          <a:xfrm>
            <a:off x="5791200" y="4795090"/>
            <a:ext cx="2562225" cy="792319"/>
          </a:xfrm>
          <a:prstGeom prst="rect">
            <a:avLst/>
          </a:prstGeom>
          <a:noFill/>
          <a:ln w="9525">
            <a:noFill/>
            <a:miter lim="800000"/>
            <a:headEnd/>
            <a:tailEnd/>
          </a:ln>
        </p:spPr>
      </p:pic>
      <p:pic>
        <p:nvPicPr>
          <p:cNvPr id="6149" name="Picture 5"/>
          <p:cNvPicPr>
            <a:picLocks noChangeAspect="1" noChangeArrowheads="1"/>
          </p:cNvPicPr>
          <p:nvPr/>
        </p:nvPicPr>
        <p:blipFill>
          <a:blip r:embed="rId5" cstate="print"/>
          <a:srcRect/>
          <a:stretch>
            <a:fillRect/>
          </a:stretch>
        </p:blipFill>
        <p:spPr bwMode="auto">
          <a:xfrm>
            <a:off x="2895600" y="5828653"/>
            <a:ext cx="2900363" cy="876947"/>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16</a:t>
            </a:fld>
            <a:endParaRPr lang="en-US"/>
          </a:p>
        </p:txBody>
      </p:sp>
      <p:sp>
        <p:nvSpPr>
          <p:cNvPr id="3" name="Rectangle 2"/>
          <p:cNvSpPr/>
          <p:nvPr/>
        </p:nvSpPr>
        <p:spPr>
          <a:xfrm>
            <a:off x="304800" y="228600"/>
            <a:ext cx="8305800" cy="1077218"/>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Node Voltage Analysis of Circuits with Current and Voltage Sources</a:t>
            </a:r>
            <a:endParaRPr lang="en-US" sz="3200" b="1" dirty="0">
              <a:solidFill>
                <a:srgbClr val="C00000"/>
              </a:solidFill>
              <a:latin typeface="+mj-lt"/>
              <a:cs typeface="Times New Roman" pitchFamily="18" charset="0"/>
            </a:endParaRPr>
          </a:p>
        </p:txBody>
      </p:sp>
      <p:sp>
        <p:nvSpPr>
          <p:cNvPr id="4" name="Rectangle 3"/>
          <p:cNvSpPr/>
          <p:nvPr/>
        </p:nvSpPr>
        <p:spPr>
          <a:xfrm>
            <a:off x="457200" y="1295400"/>
            <a:ext cx="8229600" cy="646331"/>
          </a:xfrm>
          <a:prstGeom prst="rect">
            <a:avLst/>
          </a:prstGeom>
        </p:spPr>
        <p:txBody>
          <a:bodyPr wrap="square">
            <a:spAutoFit/>
          </a:bodyPr>
          <a:lstStyle/>
          <a:p>
            <a:pPr marL="342900" indent="-342900">
              <a:buFont typeface="Arial" pitchFamily="34" charset="0"/>
              <a:buChar char="•"/>
            </a:pPr>
            <a:r>
              <a:rPr lang="en-IN" dirty="0"/>
              <a:t>consider the circuit of Figure, which includes a voltage source between two nodes.</a:t>
            </a:r>
          </a:p>
          <a:p>
            <a:pPr marL="342900" indent="-342900">
              <a:buFont typeface="Arial" pitchFamily="34" charset="0"/>
              <a:buChar char="•"/>
            </a:pPr>
            <a:r>
              <a:rPr lang="en-IN" dirty="0"/>
              <a:t>Because the source voltage is known, use KVL to obtain</a:t>
            </a:r>
          </a:p>
        </p:txBody>
      </p:sp>
      <p:pic>
        <p:nvPicPr>
          <p:cNvPr id="7170" name="Picture 2"/>
          <p:cNvPicPr>
            <a:picLocks noChangeAspect="1" noChangeArrowheads="1"/>
          </p:cNvPicPr>
          <p:nvPr/>
        </p:nvPicPr>
        <p:blipFill>
          <a:blip r:embed="rId2" cstate="print"/>
          <a:srcRect/>
          <a:stretch>
            <a:fillRect/>
          </a:stretch>
        </p:blipFill>
        <p:spPr bwMode="auto">
          <a:xfrm>
            <a:off x="5486400" y="2590800"/>
            <a:ext cx="2243138" cy="948843"/>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285750" y="2105026"/>
            <a:ext cx="5048250" cy="3007001"/>
          </a:xfrm>
          <a:prstGeom prst="rect">
            <a:avLst/>
          </a:prstGeom>
          <a:noFill/>
          <a:ln w="9525">
            <a:noFill/>
            <a:miter lim="800000"/>
            <a:headEnd/>
            <a:tailEnd/>
          </a:ln>
        </p:spPr>
      </p:pic>
      <p:sp>
        <p:nvSpPr>
          <p:cNvPr id="7" name="Rectangle 6"/>
          <p:cNvSpPr/>
          <p:nvPr/>
        </p:nvSpPr>
        <p:spPr>
          <a:xfrm>
            <a:off x="304800" y="5029200"/>
            <a:ext cx="8153400" cy="1754326"/>
          </a:xfrm>
          <a:prstGeom prst="rect">
            <a:avLst/>
          </a:prstGeom>
        </p:spPr>
        <p:txBody>
          <a:bodyPr wrap="square">
            <a:spAutoFit/>
          </a:bodyPr>
          <a:lstStyle/>
          <a:p>
            <a:pPr marL="342900" indent="-342900">
              <a:buFont typeface="+mj-lt"/>
              <a:buAutoNum type="arabicPeriod"/>
            </a:pPr>
            <a:r>
              <a:rPr lang="en-IN" b="1" dirty="0"/>
              <a:t>To account for the fact that the source voltage is known, we consider both node a and node b as part of one larger node represented by the shaded ellipse.</a:t>
            </a:r>
          </a:p>
          <a:p>
            <a:pPr marL="342900" indent="-342900">
              <a:buFont typeface="+mj-lt"/>
              <a:buAutoNum type="arabicPeriod"/>
            </a:pPr>
            <a:r>
              <a:rPr lang="en-IN" b="1" dirty="0"/>
              <a:t>This larger node is often called a </a:t>
            </a:r>
            <a:r>
              <a:rPr lang="en-IN" b="1" dirty="0" err="1"/>
              <a:t>supernode</a:t>
            </a:r>
            <a:r>
              <a:rPr lang="en-IN" b="1" dirty="0"/>
              <a:t> or a generalized node.</a:t>
            </a:r>
          </a:p>
          <a:p>
            <a:pPr marL="342900" indent="-342900">
              <a:buFont typeface="+mj-lt"/>
              <a:buAutoNum type="arabicPeriod"/>
            </a:pPr>
            <a:r>
              <a:rPr lang="en-IN" b="1" dirty="0"/>
              <a:t>KCL says that the algebraic sum of the currents entering a </a:t>
            </a:r>
            <a:r>
              <a:rPr lang="en-IN" b="1" dirty="0" err="1"/>
              <a:t>supernode</a:t>
            </a:r>
            <a:r>
              <a:rPr lang="en-IN" b="1" dirty="0"/>
              <a:t> is zero.</a:t>
            </a:r>
          </a:p>
          <a:p>
            <a:pPr marL="342900" indent="-342900">
              <a:buFont typeface="+mj-lt"/>
              <a:buAutoNum type="arabicPeriod"/>
            </a:pPr>
            <a:r>
              <a:rPr lang="en-IN" b="1" dirty="0"/>
              <a:t>That means that we apply KCL to a </a:t>
            </a:r>
            <a:r>
              <a:rPr lang="en-IN" b="1" dirty="0" err="1"/>
              <a:t>supernode</a:t>
            </a:r>
            <a:r>
              <a:rPr lang="en-IN" b="1" dirty="0"/>
              <a:t> in the same way that we apply KCL to a node.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17</a:t>
            </a:fld>
            <a:endParaRPr lang="en-US"/>
          </a:p>
        </p:txBody>
      </p:sp>
      <p:sp>
        <p:nvSpPr>
          <p:cNvPr id="3" name="Rectangle 2"/>
          <p:cNvSpPr/>
          <p:nvPr/>
        </p:nvSpPr>
        <p:spPr>
          <a:xfrm>
            <a:off x="285750" y="136525"/>
            <a:ext cx="8305800" cy="1077218"/>
          </a:xfrm>
          <a:prstGeom prst="rect">
            <a:avLst/>
          </a:prstGeom>
        </p:spPr>
        <p:txBody>
          <a:bodyPr wrap="square">
            <a:spAutoFit/>
          </a:bodyPr>
          <a:lstStyle/>
          <a:p>
            <a:pPr algn="ctr"/>
            <a:r>
              <a:rPr lang="en-IN" sz="3200" b="1" dirty="0">
                <a:solidFill>
                  <a:srgbClr val="C00000"/>
                </a:solidFill>
                <a:latin typeface="+mj-lt"/>
                <a:cs typeface="Times New Roman" panose="02020603050405020304" pitchFamily="18" charset="0"/>
              </a:rPr>
              <a:t>Node Voltage Analysis of Circuits with Current and Voltage Sources</a:t>
            </a:r>
            <a:endParaRPr lang="en-US" sz="3200" b="1" dirty="0">
              <a:solidFill>
                <a:srgbClr val="C00000"/>
              </a:solidFill>
              <a:latin typeface="+mj-lt"/>
              <a:cs typeface="Times New Roman" pitchFamily="18" charset="0"/>
            </a:endParaRPr>
          </a:p>
        </p:txBody>
      </p:sp>
      <p:pic>
        <p:nvPicPr>
          <p:cNvPr id="4" name="Picture 3"/>
          <p:cNvPicPr>
            <a:picLocks noChangeAspect="1" noChangeArrowheads="1"/>
          </p:cNvPicPr>
          <p:nvPr/>
        </p:nvPicPr>
        <p:blipFill>
          <a:blip r:embed="rId2" cstate="print"/>
          <a:srcRect/>
          <a:stretch>
            <a:fillRect/>
          </a:stretch>
        </p:blipFill>
        <p:spPr bwMode="auto">
          <a:xfrm>
            <a:off x="285750" y="1981200"/>
            <a:ext cx="5048250" cy="3007001"/>
          </a:xfrm>
          <a:prstGeom prst="rect">
            <a:avLst/>
          </a:prstGeom>
          <a:noFill/>
          <a:ln w="9525">
            <a:noFill/>
            <a:miter lim="800000"/>
            <a:headEnd/>
            <a:tailEnd/>
          </a:ln>
        </p:spPr>
      </p:pic>
      <p:sp>
        <p:nvSpPr>
          <p:cNvPr id="5" name="Rectangle 4"/>
          <p:cNvSpPr/>
          <p:nvPr/>
        </p:nvSpPr>
        <p:spPr>
          <a:xfrm>
            <a:off x="381000" y="1143000"/>
            <a:ext cx="8382000" cy="707886"/>
          </a:xfrm>
          <a:prstGeom prst="rect">
            <a:avLst/>
          </a:prstGeom>
        </p:spPr>
        <p:txBody>
          <a:bodyPr wrap="square">
            <a:spAutoFit/>
          </a:bodyPr>
          <a:lstStyle/>
          <a:p>
            <a:pPr marL="342900" indent="-342900">
              <a:buFont typeface="Arial" pitchFamily="34" charset="0"/>
              <a:buChar char="•"/>
            </a:pPr>
            <a:r>
              <a:rPr lang="en-IN" sz="2000" b="1" dirty="0"/>
              <a:t>A </a:t>
            </a:r>
            <a:r>
              <a:rPr lang="en-IN" sz="2000" b="1" dirty="0" err="1"/>
              <a:t>supernode</a:t>
            </a:r>
            <a:r>
              <a:rPr lang="en-IN" sz="2000" b="1" dirty="0"/>
              <a:t> consists of two nodes connected by an independent or a dependent voltage source</a:t>
            </a:r>
          </a:p>
        </p:txBody>
      </p:sp>
      <p:sp>
        <p:nvSpPr>
          <p:cNvPr id="6" name="Rectangle 5"/>
          <p:cNvSpPr/>
          <p:nvPr/>
        </p:nvSpPr>
        <p:spPr>
          <a:xfrm>
            <a:off x="5181600" y="2286000"/>
            <a:ext cx="3332772" cy="369332"/>
          </a:xfrm>
          <a:prstGeom prst="rect">
            <a:avLst/>
          </a:prstGeom>
        </p:spPr>
        <p:txBody>
          <a:bodyPr wrap="none">
            <a:spAutoFit/>
          </a:bodyPr>
          <a:lstStyle/>
          <a:p>
            <a:r>
              <a:rPr lang="en-IN" dirty="0"/>
              <a:t>KCL equation at the </a:t>
            </a:r>
            <a:r>
              <a:rPr lang="en-IN" dirty="0" err="1"/>
              <a:t>supernode</a:t>
            </a:r>
            <a:r>
              <a:rPr lang="en-IN" dirty="0"/>
              <a:t> as</a:t>
            </a:r>
          </a:p>
        </p:txBody>
      </p:sp>
      <p:pic>
        <p:nvPicPr>
          <p:cNvPr id="8194" name="Picture 2"/>
          <p:cNvPicPr>
            <a:picLocks noChangeAspect="1" noChangeArrowheads="1"/>
          </p:cNvPicPr>
          <p:nvPr/>
        </p:nvPicPr>
        <p:blipFill>
          <a:blip r:embed="rId3" cstate="print"/>
          <a:srcRect/>
          <a:stretch>
            <a:fillRect/>
          </a:stretch>
        </p:blipFill>
        <p:spPr bwMode="auto">
          <a:xfrm>
            <a:off x="5867400" y="2895600"/>
            <a:ext cx="2377440" cy="990600"/>
          </a:xfrm>
          <a:prstGeom prst="rect">
            <a:avLst/>
          </a:prstGeom>
          <a:noFill/>
          <a:ln w="9525">
            <a:noFill/>
            <a:miter lim="800000"/>
            <a:headEnd/>
            <a:tailEnd/>
          </a:ln>
        </p:spPr>
      </p:pic>
      <p:pic>
        <p:nvPicPr>
          <p:cNvPr id="8195" name="Picture 3"/>
          <p:cNvPicPr>
            <a:picLocks noChangeAspect="1" noChangeArrowheads="1"/>
          </p:cNvPicPr>
          <p:nvPr/>
        </p:nvPicPr>
        <p:blipFill>
          <a:blip r:embed="rId4" cstate="print"/>
          <a:srcRect/>
          <a:stretch>
            <a:fillRect/>
          </a:stretch>
        </p:blipFill>
        <p:spPr bwMode="auto">
          <a:xfrm>
            <a:off x="5562600" y="4313128"/>
            <a:ext cx="3052763" cy="920011"/>
          </a:xfrm>
          <a:prstGeom prst="rect">
            <a:avLst/>
          </a:prstGeom>
          <a:noFill/>
          <a:ln w="9525">
            <a:noFill/>
            <a:miter lim="800000"/>
            <a:headEnd/>
            <a:tailEnd/>
          </a:ln>
        </p:spPr>
      </p:pic>
      <p:pic>
        <p:nvPicPr>
          <p:cNvPr id="8196" name="Picture 4"/>
          <p:cNvPicPr>
            <a:picLocks noChangeAspect="1" noChangeArrowheads="1"/>
          </p:cNvPicPr>
          <p:nvPr/>
        </p:nvPicPr>
        <p:blipFill>
          <a:blip r:embed="rId5" cstate="print"/>
          <a:srcRect/>
          <a:stretch>
            <a:fillRect/>
          </a:stretch>
        </p:blipFill>
        <p:spPr bwMode="auto">
          <a:xfrm>
            <a:off x="2057400" y="5410200"/>
            <a:ext cx="3286125" cy="974004"/>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18</a:t>
            </a:fld>
            <a:endParaRPr lang="en-US"/>
          </a:p>
        </p:txBody>
      </p:sp>
      <p:sp>
        <p:nvSpPr>
          <p:cNvPr id="3" name="Rectangle 2"/>
          <p:cNvSpPr/>
          <p:nvPr/>
        </p:nvSpPr>
        <p:spPr>
          <a:xfrm>
            <a:off x="304800" y="228600"/>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a:t>
            </a:r>
            <a:endParaRPr lang="en-US" sz="4400" b="1" dirty="0">
              <a:solidFill>
                <a:srgbClr val="C00000"/>
              </a:solidFill>
              <a:latin typeface="+mj-lt"/>
              <a:cs typeface="Times New Roman" pitchFamily="18" charset="0"/>
            </a:endParaRPr>
          </a:p>
        </p:txBody>
      </p:sp>
      <p:sp>
        <p:nvSpPr>
          <p:cNvPr id="7" name="Rectangle 6"/>
          <p:cNvSpPr/>
          <p:nvPr/>
        </p:nvSpPr>
        <p:spPr>
          <a:xfrm>
            <a:off x="381000" y="914400"/>
            <a:ext cx="8305800" cy="707886"/>
          </a:xfrm>
          <a:prstGeom prst="rect">
            <a:avLst/>
          </a:prstGeom>
        </p:spPr>
        <p:txBody>
          <a:bodyPr wrap="square">
            <a:spAutoFit/>
          </a:bodyPr>
          <a:lstStyle/>
          <a:p>
            <a:pPr marL="342900" indent="-342900">
              <a:buFont typeface="Arial" pitchFamily="34" charset="0"/>
              <a:buChar char="•"/>
            </a:pPr>
            <a:r>
              <a:rPr lang="en-IN" sz="2000" b="1" dirty="0"/>
              <a:t>Determine the values of the node voltages </a:t>
            </a:r>
            <a:r>
              <a:rPr lang="en-IN" sz="2000" b="1" dirty="0" err="1"/>
              <a:t>v</a:t>
            </a:r>
            <a:r>
              <a:rPr lang="en-IN" sz="2000" b="1" baseline="-25000" dirty="0" err="1"/>
              <a:t>a</a:t>
            </a:r>
            <a:r>
              <a:rPr lang="en-IN" sz="2000" b="1" dirty="0"/>
              <a:t> and </a:t>
            </a:r>
            <a:r>
              <a:rPr lang="en-IN" sz="2000" b="1" dirty="0" err="1"/>
              <a:t>v</a:t>
            </a:r>
            <a:r>
              <a:rPr lang="en-IN" sz="2000" b="1" baseline="-25000" dirty="0" err="1"/>
              <a:t>b</a:t>
            </a:r>
            <a:r>
              <a:rPr lang="en-IN" sz="2000" b="1" dirty="0"/>
              <a:t> for the circuit shown in Figure</a:t>
            </a:r>
          </a:p>
        </p:txBody>
      </p:sp>
      <p:pic>
        <p:nvPicPr>
          <p:cNvPr id="9218" name="Picture 2"/>
          <p:cNvPicPr>
            <a:picLocks noChangeAspect="1" noChangeArrowheads="1"/>
          </p:cNvPicPr>
          <p:nvPr/>
        </p:nvPicPr>
        <p:blipFill>
          <a:blip r:embed="rId2" cstate="print"/>
          <a:srcRect/>
          <a:stretch>
            <a:fillRect/>
          </a:stretch>
        </p:blipFill>
        <p:spPr bwMode="auto">
          <a:xfrm>
            <a:off x="1219200" y="1752600"/>
            <a:ext cx="6591300" cy="2581593"/>
          </a:xfrm>
          <a:prstGeom prst="rect">
            <a:avLst/>
          </a:prstGeom>
          <a:noFill/>
          <a:ln w="9525">
            <a:noFill/>
            <a:miter lim="800000"/>
            <a:headEnd/>
            <a:tailEnd/>
          </a:ln>
        </p:spPr>
      </p:pic>
      <p:sp>
        <p:nvSpPr>
          <p:cNvPr id="8" name="Rectangle 7"/>
          <p:cNvSpPr/>
          <p:nvPr/>
        </p:nvSpPr>
        <p:spPr>
          <a:xfrm>
            <a:off x="609600" y="4648200"/>
            <a:ext cx="7924800" cy="369332"/>
          </a:xfrm>
          <a:prstGeom prst="rect">
            <a:avLst/>
          </a:prstGeom>
        </p:spPr>
        <p:txBody>
          <a:bodyPr wrap="square">
            <a:spAutoFit/>
          </a:bodyPr>
          <a:lstStyle/>
          <a:p>
            <a:pPr marL="342900" indent="-342900">
              <a:buFont typeface="Arial" pitchFamily="34" charset="0"/>
              <a:buChar char="•"/>
            </a:pPr>
            <a:r>
              <a:rPr lang="en-IN" dirty="0"/>
              <a:t>We can write the first node equation by considering the voltage source.</a:t>
            </a:r>
          </a:p>
        </p:txBody>
      </p:sp>
      <p:pic>
        <p:nvPicPr>
          <p:cNvPr id="9219" name="Picture 3"/>
          <p:cNvPicPr>
            <a:picLocks noChangeAspect="1" noChangeArrowheads="1"/>
          </p:cNvPicPr>
          <p:nvPr/>
        </p:nvPicPr>
        <p:blipFill>
          <a:blip r:embed="rId3" cstate="print"/>
          <a:srcRect/>
          <a:stretch>
            <a:fillRect/>
          </a:stretch>
        </p:blipFill>
        <p:spPr bwMode="auto">
          <a:xfrm>
            <a:off x="1600200" y="5257800"/>
            <a:ext cx="5181600" cy="614654"/>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19</a:t>
            </a:fld>
            <a:endParaRPr lang="en-US"/>
          </a:p>
        </p:txBody>
      </p:sp>
      <p:sp>
        <p:nvSpPr>
          <p:cNvPr id="3" name="Rectangle 2"/>
          <p:cNvSpPr/>
          <p:nvPr/>
        </p:nvSpPr>
        <p:spPr>
          <a:xfrm>
            <a:off x="346323" y="68759"/>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 - </a:t>
            </a:r>
            <a:r>
              <a:rPr lang="en-US" altLang="en-US" sz="4400" b="1" dirty="0">
                <a:solidFill>
                  <a:srgbClr val="0066FF"/>
                </a:solidFill>
                <a:latin typeface="+mj-lt"/>
              </a:rPr>
              <a:t>Solution</a:t>
            </a:r>
            <a:endParaRPr lang="en-US" sz="4400" b="1" dirty="0">
              <a:solidFill>
                <a:srgbClr val="C00000"/>
              </a:solidFill>
              <a:latin typeface="+mj-lt"/>
              <a:cs typeface="Times New Roman" pitchFamily="18" charset="0"/>
            </a:endParaRPr>
          </a:p>
        </p:txBody>
      </p:sp>
      <p:sp>
        <p:nvSpPr>
          <p:cNvPr id="6" name="Rectangle 5"/>
          <p:cNvSpPr/>
          <p:nvPr/>
        </p:nvSpPr>
        <p:spPr>
          <a:xfrm>
            <a:off x="381000" y="838200"/>
            <a:ext cx="8382000" cy="1200329"/>
          </a:xfrm>
          <a:prstGeom prst="rect">
            <a:avLst/>
          </a:prstGeom>
        </p:spPr>
        <p:txBody>
          <a:bodyPr wrap="square">
            <a:spAutoFit/>
          </a:bodyPr>
          <a:lstStyle/>
          <a:p>
            <a:pPr marL="342900" indent="-342900">
              <a:buFont typeface="Arial" pitchFamily="34" charset="0"/>
              <a:buChar char="•"/>
            </a:pPr>
            <a:r>
              <a:rPr lang="en-IN" dirty="0"/>
              <a:t>To write the second node equation, we must decide what to do about the voltage source current. (Notice that there is no easy way to express the voltage source current in terms of the node voltages.)</a:t>
            </a:r>
          </a:p>
          <a:p>
            <a:pPr marL="342900" indent="-342900">
              <a:buFont typeface="Arial" pitchFamily="34" charset="0"/>
              <a:buChar char="•"/>
            </a:pPr>
            <a:r>
              <a:rPr lang="en-IN" dirty="0"/>
              <a:t>In this example, we illustrate two methods of writing the second node equation.</a:t>
            </a:r>
          </a:p>
        </p:txBody>
      </p:sp>
      <p:pic>
        <p:nvPicPr>
          <p:cNvPr id="10242" name="Picture 2"/>
          <p:cNvPicPr>
            <a:picLocks noChangeAspect="1" noChangeArrowheads="1"/>
          </p:cNvPicPr>
          <p:nvPr/>
        </p:nvPicPr>
        <p:blipFill>
          <a:blip r:embed="rId2" cstate="print"/>
          <a:srcRect/>
          <a:stretch>
            <a:fillRect/>
          </a:stretch>
        </p:blipFill>
        <p:spPr bwMode="auto">
          <a:xfrm>
            <a:off x="762000" y="2209800"/>
            <a:ext cx="5138461" cy="2090738"/>
          </a:xfrm>
          <a:prstGeom prst="rect">
            <a:avLst/>
          </a:prstGeom>
          <a:noFill/>
          <a:ln w="9525">
            <a:noFill/>
            <a:miter lim="800000"/>
            <a:headEnd/>
            <a:tailEnd/>
          </a:ln>
        </p:spPr>
      </p:pic>
      <p:sp>
        <p:nvSpPr>
          <p:cNvPr id="9" name="Rectangle 8"/>
          <p:cNvSpPr/>
          <p:nvPr/>
        </p:nvSpPr>
        <p:spPr>
          <a:xfrm>
            <a:off x="609600" y="4724400"/>
            <a:ext cx="1184940" cy="369332"/>
          </a:xfrm>
          <a:prstGeom prst="rect">
            <a:avLst/>
          </a:prstGeom>
        </p:spPr>
        <p:txBody>
          <a:bodyPr wrap="none">
            <a:spAutoFit/>
          </a:bodyPr>
          <a:lstStyle/>
          <a:p>
            <a:r>
              <a:rPr lang="en-IN" b="1" dirty="0"/>
              <a:t>Method 1:</a:t>
            </a:r>
          </a:p>
        </p:txBody>
      </p:sp>
      <p:sp>
        <p:nvSpPr>
          <p:cNvPr id="10" name="Rectangle 9"/>
          <p:cNvSpPr/>
          <p:nvPr/>
        </p:nvSpPr>
        <p:spPr>
          <a:xfrm>
            <a:off x="1981200" y="4343400"/>
            <a:ext cx="6934200" cy="923330"/>
          </a:xfrm>
          <a:prstGeom prst="rect">
            <a:avLst/>
          </a:prstGeom>
        </p:spPr>
        <p:txBody>
          <a:bodyPr wrap="square">
            <a:spAutoFit/>
          </a:bodyPr>
          <a:lstStyle/>
          <a:p>
            <a:pPr marL="342900" indent="-342900">
              <a:buFont typeface="Arial" pitchFamily="34" charset="0"/>
              <a:buChar char="•"/>
            </a:pPr>
            <a:r>
              <a:rPr lang="en-IN" dirty="0"/>
              <a:t>Assign a name to the voltage source current. Apply KCL at both of the voltage source nodes. Eliminate the voltage source current from the KCL equations.</a:t>
            </a:r>
          </a:p>
        </p:txBody>
      </p:sp>
      <p:sp>
        <p:nvSpPr>
          <p:cNvPr id="11" name="Rectangle 10"/>
          <p:cNvSpPr/>
          <p:nvPr/>
        </p:nvSpPr>
        <p:spPr>
          <a:xfrm>
            <a:off x="1371600" y="5486400"/>
            <a:ext cx="2944845" cy="369332"/>
          </a:xfrm>
          <a:prstGeom prst="rect">
            <a:avLst/>
          </a:prstGeom>
        </p:spPr>
        <p:txBody>
          <a:bodyPr wrap="none">
            <a:spAutoFit/>
          </a:bodyPr>
          <a:lstStyle/>
          <a:p>
            <a:r>
              <a:rPr lang="en-IN" dirty="0"/>
              <a:t>The KCL equation at node a is</a:t>
            </a:r>
          </a:p>
        </p:txBody>
      </p:sp>
      <p:pic>
        <p:nvPicPr>
          <p:cNvPr id="10243" name="Picture 3"/>
          <p:cNvPicPr>
            <a:picLocks noChangeAspect="1" noChangeArrowheads="1"/>
          </p:cNvPicPr>
          <p:nvPr/>
        </p:nvPicPr>
        <p:blipFill>
          <a:blip r:embed="rId3" cstate="print"/>
          <a:srcRect/>
          <a:stretch>
            <a:fillRect/>
          </a:stretch>
        </p:blipFill>
        <p:spPr bwMode="auto">
          <a:xfrm>
            <a:off x="4572000" y="5405437"/>
            <a:ext cx="2009775" cy="1452563"/>
          </a:xfrm>
          <a:prstGeom prst="rect">
            <a:avLst/>
          </a:prstGeom>
          <a:noFill/>
          <a:ln w="9525">
            <a:noFill/>
            <a:miter lim="800000"/>
            <a:headEnd/>
            <a:tailEnd/>
          </a:ln>
        </p:spPr>
      </p:pic>
      <p:sp>
        <p:nvSpPr>
          <p:cNvPr id="12" name="Rectangle 11"/>
          <p:cNvSpPr/>
          <p:nvPr/>
        </p:nvSpPr>
        <p:spPr>
          <a:xfrm>
            <a:off x="1219200" y="6248400"/>
            <a:ext cx="2956066" cy="369332"/>
          </a:xfrm>
          <a:prstGeom prst="rect">
            <a:avLst/>
          </a:prstGeom>
        </p:spPr>
        <p:txBody>
          <a:bodyPr wrap="none">
            <a:spAutoFit/>
          </a:bodyPr>
          <a:lstStyle/>
          <a:p>
            <a:r>
              <a:rPr lang="en-IN" dirty="0"/>
              <a:t>The KCL equation at node b is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20</a:t>
            </a:fld>
            <a:endParaRPr lang="en-US"/>
          </a:p>
        </p:txBody>
      </p:sp>
      <p:sp>
        <p:nvSpPr>
          <p:cNvPr id="3" name="Rectangle 2"/>
          <p:cNvSpPr/>
          <p:nvPr/>
        </p:nvSpPr>
        <p:spPr>
          <a:xfrm>
            <a:off x="533400" y="990600"/>
            <a:ext cx="3687163" cy="369332"/>
          </a:xfrm>
          <a:prstGeom prst="rect">
            <a:avLst/>
          </a:prstGeom>
        </p:spPr>
        <p:txBody>
          <a:bodyPr wrap="none">
            <a:spAutoFit/>
          </a:bodyPr>
          <a:lstStyle/>
          <a:p>
            <a:r>
              <a:rPr lang="en-IN" dirty="0"/>
              <a:t>Combining these two equations gives</a:t>
            </a:r>
          </a:p>
        </p:txBody>
      </p:sp>
      <p:sp>
        <p:nvSpPr>
          <p:cNvPr id="4" name="Rectangle 3"/>
          <p:cNvSpPr/>
          <p:nvPr/>
        </p:nvSpPr>
        <p:spPr>
          <a:xfrm>
            <a:off x="304800" y="167184"/>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 - </a:t>
            </a:r>
            <a:r>
              <a:rPr lang="en-US" altLang="en-US" sz="4400" b="1" dirty="0">
                <a:solidFill>
                  <a:srgbClr val="0066FF"/>
                </a:solidFill>
                <a:latin typeface="+mj-lt"/>
              </a:rPr>
              <a:t>Solution</a:t>
            </a:r>
            <a:endParaRPr lang="en-US" sz="4400" b="1" dirty="0">
              <a:solidFill>
                <a:srgbClr val="C00000"/>
              </a:solidFill>
              <a:latin typeface="+mj-lt"/>
              <a:cs typeface="Times New Roman" pitchFamily="18" charset="0"/>
            </a:endParaRPr>
          </a:p>
        </p:txBody>
      </p:sp>
      <p:pic>
        <p:nvPicPr>
          <p:cNvPr id="11266" name="Picture 2"/>
          <p:cNvPicPr>
            <a:picLocks noChangeAspect="1" noChangeArrowheads="1"/>
          </p:cNvPicPr>
          <p:nvPr/>
        </p:nvPicPr>
        <p:blipFill>
          <a:blip r:embed="rId2" cstate="print"/>
          <a:srcRect/>
          <a:stretch>
            <a:fillRect/>
          </a:stretch>
        </p:blipFill>
        <p:spPr bwMode="auto">
          <a:xfrm>
            <a:off x="1524000" y="1524000"/>
            <a:ext cx="5462587" cy="803141"/>
          </a:xfrm>
          <a:prstGeom prst="rect">
            <a:avLst/>
          </a:prstGeom>
          <a:noFill/>
          <a:ln w="9525">
            <a:noFill/>
            <a:miter lim="800000"/>
            <a:headEnd/>
            <a:tailEnd/>
          </a:ln>
        </p:spPr>
      </p:pic>
      <p:sp>
        <p:nvSpPr>
          <p:cNvPr id="6" name="Rectangle 5"/>
          <p:cNvSpPr/>
          <p:nvPr/>
        </p:nvSpPr>
        <p:spPr>
          <a:xfrm>
            <a:off x="304800" y="2590800"/>
            <a:ext cx="1184940" cy="369332"/>
          </a:xfrm>
          <a:prstGeom prst="rect">
            <a:avLst/>
          </a:prstGeom>
        </p:spPr>
        <p:txBody>
          <a:bodyPr wrap="none">
            <a:spAutoFit/>
          </a:bodyPr>
          <a:lstStyle/>
          <a:p>
            <a:r>
              <a:rPr lang="en-IN" b="1" dirty="0"/>
              <a:t>Method 2:</a:t>
            </a:r>
          </a:p>
        </p:txBody>
      </p:sp>
      <p:pic>
        <p:nvPicPr>
          <p:cNvPr id="11267" name="Picture 3"/>
          <p:cNvPicPr>
            <a:picLocks noChangeAspect="1" noChangeArrowheads="1"/>
          </p:cNvPicPr>
          <p:nvPr/>
        </p:nvPicPr>
        <p:blipFill>
          <a:blip r:embed="rId3" cstate="print"/>
          <a:srcRect/>
          <a:stretch>
            <a:fillRect/>
          </a:stretch>
        </p:blipFill>
        <p:spPr bwMode="auto">
          <a:xfrm>
            <a:off x="2133600" y="2590800"/>
            <a:ext cx="5691187" cy="2511013"/>
          </a:xfrm>
          <a:prstGeom prst="rect">
            <a:avLst/>
          </a:prstGeom>
          <a:noFill/>
          <a:ln w="9525">
            <a:noFill/>
            <a:miter lim="800000"/>
            <a:headEnd/>
            <a:tailEnd/>
          </a:ln>
        </p:spPr>
      </p:pic>
      <p:sp>
        <p:nvSpPr>
          <p:cNvPr id="8" name="Rectangle 7"/>
          <p:cNvSpPr/>
          <p:nvPr/>
        </p:nvSpPr>
        <p:spPr>
          <a:xfrm>
            <a:off x="304800" y="5257800"/>
            <a:ext cx="3383875" cy="369332"/>
          </a:xfrm>
          <a:prstGeom prst="rect">
            <a:avLst/>
          </a:prstGeom>
        </p:spPr>
        <p:txBody>
          <a:bodyPr wrap="none">
            <a:spAutoFit/>
          </a:bodyPr>
          <a:lstStyle/>
          <a:p>
            <a:r>
              <a:rPr lang="en-IN" dirty="0"/>
              <a:t>Apply KCL to the </a:t>
            </a:r>
            <a:r>
              <a:rPr lang="en-IN" dirty="0" err="1"/>
              <a:t>supernode</a:t>
            </a:r>
            <a:r>
              <a:rPr lang="en-IN" dirty="0"/>
              <a:t> to get</a:t>
            </a:r>
          </a:p>
        </p:txBody>
      </p:sp>
      <p:pic>
        <p:nvPicPr>
          <p:cNvPr id="11268" name="Picture 4"/>
          <p:cNvPicPr>
            <a:picLocks noChangeAspect="1" noChangeArrowheads="1"/>
          </p:cNvPicPr>
          <p:nvPr/>
        </p:nvPicPr>
        <p:blipFill>
          <a:blip r:embed="rId4" cstate="print"/>
          <a:srcRect/>
          <a:stretch>
            <a:fillRect/>
          </a:stretch>
        </p:blipFill>
        <p:spPr bwMode="auto">
          <a:xfrm>
            <a:off x="1828800" y="5791200"/>
            <a:ext cx="5867400" cy="85680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21</a:t>
            </a:fld>
            <a:endParaRPr lang="en-US"/>
          </a:p>
        </p:txBody>
      </p:sp>
      <p:sp>
        <p:nvSpPr>
          <p:cNvPr id="3" name="Rectangle 2"/>
          <p:cNvSpPr/>
          <p:nvPr/>
        </p:nvSpPr>
        <p:spPr>
          <a:xfrm>
            <a:off x="533400" y="1124744"/>
            <a:ext cx="8153400" cy="1631216"/>
          </a:xfrm>
          <a:prstGeom prst="rect">
            <a:avLst/>
          </a:prstGeom>
        </p:spPr>
        <p:txBody>
          <a:bodyPr wrap="square">
            <a:spAutoFit/>
          </a:bodyPr>
          <a:lstStyle/>
          <a:p>
            <a:pPr marL="342900" indent="-342900">
              <a:buFont typeface="Arial" pitchFamily="34" charset="0"/>
              <a:buChar char="•"/>
            </a:pPr>
            <a:r>
              <a:rPr lang="en-IN" sz="2000" dirty="0"/>
              <a:t>This is the same equation that was obtained using method 1. Applying KCL to the </a:t>
            </a:r>
            <a:r>
              <a:rPr lang="en-IN" sz="2000" dirty="0" err="1"/>
              <a:t>supernode</a:t>
            </a:r>
            <a:r>
              <a:rPr lang="en-IN" sz="2000" dirty="0"/>
              <a:t> is a shortcut for doings three things:</a:t>
            </a:r>
          </a:p>
          <a:p>
            <a:pPr marL="800100" lvl="1" indent="-342900">
              <a:buFont typeface="+mj-lt"/>
              <a:buAutoNum type="arabicPeriod"/>
            </a:pPr>
            <a:r>
              <a:rPr lang="en-IN" sz="2000" dirty="0" err="1"/>
              <a:t>Labeling</a:t>
            </a:r>
            <a:r>
              <a:rPr lang="en-IN" sz="2000" dirty="0"/>
              <a:t> the voltage source current as </a:t>
            </a:r>
            <a:r>
              <a:rPr lang="en-IN" sz="2000" dirty="0" err="1"/>
              <a:t>i</a:t>
            </a:r>
            <a:r>
              <a:rPr lang="en-IN" sz="2000" dirty="0"/>
              <a:t>.</a:t>
            </a:r>
          </a:p>
          <a:p>
            <a:pPr marL="800100" lvl="1" indent="-342900">
              <a:buFont typeface="+mj-lt"/>
              <a:buAutoNum type="arabicPeriod"/>
            </a:pPr>
            <a:r>
              <a:rPr lang="en-IN" sz="2000" dirty="0"/>
              <a:t>Applying KCL at both nodes of the voltage source.</a:t>
            </a:r>
          </a:p>
          <a:p>
            <a:pPr marL="800100" lvl="1" indent="-342900">
              <a:buFont typeface="+mj-lt"/>
              <a:buAutoNum type="arabicPeriod"/>
            </a:pPr>
            <a:r>
              <a:rPr lang="en-IN" sz="2000" dirty="0"/>
              <a:t>Eliminating </a:t>
            </a:r>
            <a:r>
              <a:rPr lang="en-IN" sz="2000" dirty="0" err="1"/>
              <a:t>i</a:t>
            </a:r>
            <a:r>
              <a:rPr lang="en-IN" sz="2000" dirty="0"/>
              <a:t> from the KCL equations.</a:t>
            </a:r>
          </a:p>
        </p:txBody>
      </p:sp>
      <p:pic>
        <p:nvPicPr>
          <p:cNvPr id="12290" name="Picture 2"/>
          <p:cNvPicPr>
            <a:picLocks noChangeAspect="1" noChangeArrowheads="1"/>
          </p:cNvPicPr>
          <p:nvPr/>
        </p:nvPicPr>
        <p:blipFill>
          <a:blip r:embed="rId2" cstate="print"/>
          <a:srcRect/>
          <a:stretch>
            <a:fillRect/>
          </a:stretch>
        </p:blipFill>
        <p:spPr bwMode="auto">
          <a:xfrm>
            <a:off x="1835697" y="3150360"/>
            <a:ext cx="4680520" cy="3189222"/>
          </a:xfrm>
          <a:prstGeom prst="rect">
            <a:avLst/>
          </a:prstGeom>
          <a:noFill/>
          <a:ln w="9525">
            <a:noFill/>
            <a:miter lim="800000"/>
            <a:headEnd/>
            <a:tailEnd/>
          </a:ln>
        </p:spPr>
      </p:pic>
      <p:sp>
        <p:nvSpPr>
          <p:cNvPr id="5" name="Rectangle 4"/>
          <p:cNvSpPr/>
          <p:nvPr/>
        </p:nvSpPr>
        <p:spPr>
          <a:xfrm>
            <a:off x="304800" y="228600"/>
            <a:ext cx="83058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Problem - </a:t>
            </a:r>
            <a:r>
              <a:rPr lang="en-US" altLang="en-US" sz="4400" b="1" dirty="0">
                <a:solidFill>
                  <a:srgbClr val="0066FF"/>
                </a:solidFill>
                <a:latin typeface="+mj-lt"/>
              </a:rPr>
              <a:t>Solution</a:t>
            </a:r>
            <a:endParaRPr lang="en-US" sz="4400" b="1" dirty="0">
              <a:solidFill>
                <a:srgbClr val="C00000"/>
              </a:solidFill>
              <a:latin typeface="+mj-lt"/>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04800"/>
            <a:ext cx="8424936" cy="3830279"/>
          </a:xfrm>
          <a:prstGeom prst="rect">
            <a:avLst/>
          </a:prstGeom>
          <a:noFill/>
        </p:spPr>
        <p:txBody>
          <a:bodyPr wrap="square" rtlCol="0">
            <a:spAutoFit/>
          </a:bodyPr>
          <a:lstStyle/>
          <a:p>
            <a:pPr algn="ctr">
              <a:lnSpc>
                <a:spcPct val="150000"/>
              </a:lnSpc>
            </a:pPr>
            <a:r>
              <a:rPr lang="en-US" sz="4400" b="1" dirty="0">
                <a:solidFill>
                  <a:srgbClr val="C00000"/>
                </a:solidFill>
                <a:latin typeface="+mj-lt"/>
                <a:cs typeface="Times New Roman" panose="02020603050405020304" pitchFamily="18" charset="0"/>
              </a:rPr>
              <a:t>References</a:t>
            </a:r>
          </a:p>
          <a:p>
            <a:pPr marL="457200" indent="-457200" algn="just">
              <a:lnSpc>
                <a:spcPct val="150000"/>
              </a:lnSpc>
              <a:buFont typeface="+mj-lt"/>
              <a:buAutoNum type="arabicPeriod"/>
            </a:pPr>
            <a:r>
              <a:rPr lang="en-US" sz="2000" dirty="0">
                <a:cs typeface="Times New Roman" pitchFamily="18" charset="0"/>
              </a:rPr>
              <a:t>R.C. </a:t>
            </a:r>
            <a:r>
              <a:rPr lang="en-US" sz="2000" dirty="0" err="1">
                <a:cs typeface="Times New Roman" pitchFamily="18" charset="0"/>
              </a:rPr>
              <a:t>Dorf</a:t>
            </a:r>
            <a:r>
              <a:rPr lang="en-US" sz="2000" dirty="0">
                <a:cs typeface="Times New Roman" pitchFamily="18" charset="0"/>
              </a:rPr>
              <a:t> and James A. Svoboda, “Introduction to Electric Circuits”, 9</a:t>
            </a:r>
            <a:r>
              <a:rPr lang="en-US" sz="2000" baseline="30000" dirty="0">
                <a:cs typeface="Times New Roman" pitchFamily="18" charset="0"/>
              </a:rPr>
              <a:t>th</a:t>
            </a:r>
            <a:r>
              <a:rPr lang="en-US" sz="2000" dirty="0">
                <a:cs typeface="Times New Roman" pitchFamily="18" charset="0"/>
              </a:rPr>
              <a:t> </a:t>
            </a:r>
            <a:r>
              <a:rPr lang="en-US" sz="2000" dirty="0" err="1">
                <a:cs typeface="Times New Roman" pitchFamily="18" charset="0"/>
              </a:rPr>
              <a:t>ed</a:t>
            </a:r>
            <a:r>
              <a:rPr lang="en-US" sz="2000" dirty="0">
                <a:cs typeface="Times New Roman" pitchFamily="18" charset="0"/>
              </a:rPr>
              <a:t>, John Wiley &amp; Sons, 2013.</a:t>
            </a:r>
          </a:p>
          <a:p>
            <a:pPr marL="457200" indent="-457200" algn="just">
              <a:lnSpc>
                <a:spcPct val="150000"/>
              </a:lnSpc>
              <a:buFont typeface="+mj-lt"/>
              <a:buAutoNum type="arabicPeriod"/>
            </a:pPr>
            <a:r>
              <a:rPr lang="en-US" sz="2000" dirty="0">
                <a:cs typeface="Times New Roman" pitchFamily="18" charset="0"/>
              </a:rPr>
              <a:t>D.C. </a:t>
            </a:r>
            <a:r>
              <a:rPr lang="en-US" sz="2000" dirty="0" err="1">
                <a:cs typeface="Times New Roman" pitchFamily="18" charset="0"/>
              </a:rPr>
              <a:t>Kulshreshtha</a:t>
            </a:r>
            <a:r>
              <a:rPr lang="en-US" sz="2000" dirty="0">
                <a:cs typeface="Times New Roman" pitchFamily="18" charset="0"/>
              </a:rPr>
              <a:t>, Basic Electrical Engineering, Revised 1</a:t>
            </a:r>
            <a:r>
              <a:rPr lang="en-US" sz="2000" baseline="30000" dirty="0">
                <a:cs typeface="Times New Roman" pitchFamily="18" charset="0"/>
              </a:rPr>
              <a:t>st</a:t>
            </a:r>
            <a:r>
              <a:rPr lang="en-US" sz="2000" dirty="0">
                <a:cs typeface="Times New Roman" pitchFamily="18" charset="0"/>
              </a:rPr>
              <a:t> </a:t>
            </a:r>
            <a:r>
              <a:rPr lang="en-US" sz="2000" dirty="0" err="1">
                <a:cs typeface="Times New Roman" pitchFamily="18" charset="0"/>
              </a:rPr>
              <a:t>ed</a:t>
            </a:r>
            <a:r>
              <a:rPr lang="en-US" sz="2000" dirty="0">
                <a:cs typeface="Times New Roman" pitchFamily="18" charset="0"/>
              </a:rPr>
              <a:t>, Tata Mc </a:t>
            </a:r>
            <a:r>
              <a:rPr lang="en-US" sz="2000" dirty="0" err="1">
                <a:cs typeface="Times New Roman" pitchFamily="18" charset="0"/>
              </a:rPr>
              <a:t>Graw</a:t>
            </a:r>
            <a:r>
              <a:rPr lang="en-US" sz="2000" dirty="0">
                <a:cs typeface="Times New Roman" pitchFamily="18" charset="0"/>
              </a:rPr>
              <a:t> Hill, 2017.</a:t>
            </a:r>
          </a:p>
          <a:p>
            <a:pPr marL="457200" indent="-457200" algn="just">
              <a:lnSpc>
                <a:spcPct val="150000"/>
              </a:lnSpc>
              <a:buFont typeface="+mj-lt"/>
              <a:buAutoNum type="arabicPeriod"/>
            </a:pPr>
            <a:r>
              <a:rPr lang="en-US" sz="2000" dirty="0">
                <a:cs typeface="Times New Roman" pitchFamily="18" charset="0"/>
              </a:rPr>
              <a:t>V. </a:t>
            </a:r>
            <a:r>
              <a:rPr lang="en-US" sz="2000" dirty="0" err="1">
                <a:cs typeface="Times New Roman" pitchFamily="18" charset="0"/>
              </a:rPr>
              <a:t>K.Mehta</a:t>
            </a:r>
            <a:r>
              <a:rPr lang="en-US" sz="2000" dirty="0">
                <a:cs typeface="Times New Roman" pitchFamily="18" charset="0"/>
              </a:rPr>
              <a:t>, </a:t>
            </a:r>
            <a:r>
              <a:rPr lang="en-US" sz="2000" dirty="0" err="1">
                <a:cs typeface="Times New Roman" pitchFamily="18" charset="0"/>
              </a:rPr>
              <a:t>Rohit</a:t>
            </a:r>
            <a:r>
              <a:rPr lang="en-US" sz="2000" dirty="0">
                <a:cs typeface="Times New Roman" pitchFamily="18" charset="0"/>
              </a:rPr>
              <a:t> Mehta, Basic Electrical Engineering, 6</a:t>
            </a:r>
            <a:r>
              <a:rPr lang="en-US" sz="2000" baseline="30000" dirty="0">
                <a:cs typeface="Times New Roman" pitchFamily="18" charset="0"/>
              </a:rPr>
              <a:t>th</a:t>
            </a:r>
            <a:r>
              <a:rPr lang="en-US" sz="2000" dirty="0">
                <a:cs typeface="Times New Roman" pitchFamily="18" charset="0"/>
              </a:rPr>
              <a:t> </a:t>
            </a:r>
            <a:r>
              <a:rPr lang="en-US" sz="2000" dirty="0" err="1">
                <a:cs typeface="Times New Roman" pitchFamily="18" charset="0"/>
              </a:rPr>
              <a:t>ed</a:t>
            </a:r>
            <a:r>
              <a:rPr lang="en-US" sz="2000" dirty="0">
                <a:cs typeface="Times New Roman" pitchFamily="18" charset="0"/>
              </a:rPr>
              <a:t>, S. </a:t>
            </a:r>
            <a:r>
              <a:rPr lang="en-US" sz="2000" dirty="0" err="1">
                <a:cs typeface="Times New Roman" pitchFamily="18" charset="0"/>
              </a:rPr>
              <a:t>Chand</a:t>
            </a:r>
            <a:r>
              <a:rPr lang="en-US" sz="2000" dirty="0">
                <a:cs typeface="Times New Roman" pitchFamily="18" charset="0"/>
              </a:rPr>
              <a:t> Publishing, 2012.</a:t>
            </a:r>
          </a:p>
        </p:txBody>
      </p:sp>
      <p:sp>
        <p:nvSpPr>
          <p:cNvPr id="4" name="Slide Number Placeholder 3"/>
          <p:cNvSpPr>
            <a:spLocks noGrp="1"/>
          </p:cNvSpPr>
          <p:nvPr>
            <p:ph type="sldNum" sz="quarter" idx="12"/>
          </p:nvPr>
        </p:nvSpPr>
        <p:spPr/>
        <p:txBody>
          <a:bodyPr/>
          <a:lstStyle/>
          <a:p>
            <a:pPr>
              <a:lnSpc>
                <a:spcPct val="150000"/>
              </a:lnSpc>
            </a:pPr>
            <a:fld id="{B6F15528-21DE-4FAA-801E-634DDDAF4B2B}" type="slidenum">
              <a:rPr lang="en-US" smtClean="0">
                <a:latin typeface="Times New Roman" pitchFamily="18" charset="0"/>
                <a:cs typeface="Times New Roman" pitchFamily="18" charset="0"/>
              </a:rPr>
              <a:pPr>
                <a:lnSpc>
                  <a:spcPct val="150000"/>
                </a:lnSpc>
              </a:pPr>
              <a:t>22</a:t>
            </a:fld>
            <a:endParaRPr lang="en-US">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1426</Words>
  <Application>Microsoft Office PowerPoint</Application>
  <PresentationFormat>On-screen Show (4:3)</PresentationFormat>
  <Paragraphs>136</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CONTENTS</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ankur bhardwaj</dc:creator>
  <cp:lastModifiedBy>ankur.bhardwaj</cp:lastModifiedBy>
  <cp:revision>1</cp:revision>
  <dcterms:created xsi:type="dcterms:W3CDTF">2006-08-16T00:00:00Z</dcterms:created>
  <dcterms:modified xsi:type="dcterms:W3CDTF">2024-08-07T04:22:22Z</dcterms:modified>
</cp:coreProperties>
</file>