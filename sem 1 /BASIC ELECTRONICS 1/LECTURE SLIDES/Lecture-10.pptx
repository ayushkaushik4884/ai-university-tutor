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8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4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4B05C-D9A7-45F1-909D-AC7A5BFB35E2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A1518-8C69-4BAA-B67C-74564E8579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DFAFA-5C95-4778-B23F-B0E5A512A27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jpeg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6.jpeg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6.jpeg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5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30.bin"/><Relationship Id="rId4" Type="http://schemas.openxmlformats.org/officeDocument/2006/relationships/oleObject" Target="../embeddings/oleObject2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5" Type="http://schemas.openxmlformats.org/officeDocument/2006/relationships/oleObject" Target="../embeddings/oleObject37.bin"/><Relationship Id="rId4" Type="http://schemas.openxmlformats.org/officeDocument/2006/relationships/oleObject" Target="../embeddings/oleObject3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gif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61179" y="908720"/>
            <a:ext cx="4821641" cy="32316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+mj-lt"/>
              </a:rPr>
              <a:t>BASIC ELECTRONICS</a:t>
            </a:r>
          </a:p>
          <a:p>
            <a:pPr algn="ctr"/>
            <a:r>
              <a:rPr lang="en-US" sz="4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(24B11EC111)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Unit-1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Lecture-10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Norton’s Theorem)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227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00000" y="593725"/>
            <a:ext cx="7772400" cy="85725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cs typeface="Times New Roman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400000" y="1943100"/>
            <a:ext cx="7772400" cy="3429000"/>
          </a:xfrm>
        </p:spPr>
        <p:txBody>
          <a:bodyPr>
            <a:normAutofit/>
          </a:bodyPr>
          <a:lstStyle/>
          <a:p>
            <a:r>
              <a:rPr lang="en-GB" sz="2800" b="1" dirty="0">
                <a:cs typeface="Times New Roman" pitchFamily="18" charset="0"/>
              </a:rPr>
              <a:t>Norton Theorem</a:t>
            </a:r>
            <a:endParaRPr lang="en-US" sz="2800" b="1" dirty="0">
              <a:cs typeface="Times New Roman" pitchFamily="18" charset="0"/>
            </a:endParaRPr>
          </a:p>
          <a:p>
            <a:r>
              <a:rPr lang="en-US" sz="2800" b="1" dirty="0">
                <a:cs typeface="Times New Roman" pitchFamily="18" charset="0"/>
              </a:rPr>
              <a:t>Examples</a:t>
            </a:r>
          </a:p>
          <a:p>
            <a:r>
              <a:rPr lang="en-US" sz="2800" b="1" dirty="0">
                <a:cs typeface="Times New Roman" pitchFamily="18" charset="0"/>
              </a:rPr>
              <a:t>Practice Problem</a:t>
            </a:r>
          </a:p>
          <a:p>
            <a:r>
              <a:rPr lang="en-US" sz="2800" b="1" dirty="0"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2"/>
                </a:solidFill>
                <a:cs typeface="Times New Roman" pitchFamily="18" charset="0"/>
              </a:rPr>
              <a:t>Norton</a:t>
            </a:r>
            <a:r>
              <a:rPr lang="en-GB" sz="2400" b="1" dirty="0"/>
              <a:t> </a:t>
            </a:r>
            <a:r>
              <a:rPr lang="en-GB" b="1" dirty="0">
                <a:solidFill>
                  <a:schemeClr val="accent2"/>
                </a:solidFill>
                <a:cs typeface="Times New Roman" pitchFamily="18" charset="0"/>
              </a:rPr>
              <a:t>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Norton’s Theorem states that a linear two terminal network can be replaced by a current source shunted by a resistance R.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In the Norton circuit, the current source is the short circuit current of the network, that is the current obtained by shorting the output of the network. 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The resistance is the resistance seen looking into the network with all sources deactivated.  This is the same as R</a:t>
            </a:r>
            <a:r>
              <a:rPr lang="en-US" sz="2000" b="1" baseline="-25000" dirty="0"/>
              <a:t>TH</a:t>
            </a:r>
            <a:r>
              <a:rPr lang="en-US" sz="2000" b="1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chemeClr val="accent2"/>
                </a:solidFill>
                <a:cs typeface="Times New Roman" pitchFamily="18" charset="0"/>
              </a:rPr>
              <a:t>Norton Equivalent Circuit</a:t>
            </a:r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643042" y="2732481"/>
          <a:ext cx="5294340" cy="2007302"/>
        </p:xfrm>
        <a:graphic>
          <a:graphicData uri="http://schemas.openxmlformats.org/presentationml/2006/ole">
            <p:oleObj spid="_x0000_s1026" name="SmartDraw" r:id="rId3" imgW="16173450" imgH="8172450" progId="">
              <p:embed/>
            </p:oleObj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467545" y="998731"/>
            <a:ext cx="3961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1" dirty="0"/>
              <a:t>From source transformations:</a:t>
            </a:r>
          </a:p>
        </p:txBody>
      </p:sp>
      <p:graphicFrame>
        <p:nvGraphicFramePr>
          <p:cNvPr id="52224" name="Object 0"/>
          <p:cNvGraphicFramePr>
            <a:graphicFrameLocks noChangeAspect="1"/>
          </p:cNvGraphicFramePr>
          <p:nvPr/>
        </p:nvGraphicFramePr>
        <p:xfrm>
          <a:off x="1142976" y="2143117"/>
          <a:ext cx="5715000" cy="1535906"/>
        </p:xfrm>
        <a:graphic>
          <a:graphicData uri="http://schemas.openxmlformats.org/presentationml/2006/ole">
            <p:oleObj spid="_x0000_s2050" name="SmartDraw" r:id="rId3" imgW="25917525" imgH="9286875" progId="">
              <p:embed/>
            </p:oleObj>
          </a:graphicData>
        </a:graphic>
      </p:graphicFrame>
      <p:sp>
        <p:nvSpPr>
          <p:cNvPr id="33798" name="AutoShape 6"/>
          <p:cNvSpPr>
            <a:spLocks noChangeArrowheads="1"/>
          </p:cNvSpPr>
          <p:nvPr/>
        </p:nvSpPr>
        <p:spPr bwMode="auto">
          <a:xfrm>
            <a:off x="3131840" y="2888940"/>
            <a:ext cx="914400" cy="171450"/>
          </a:xfrm>
          <a:prstGeom prst="leftRightArrow">
            <a:avLst>
              <a:gd name="adj1" fmla="val 50000"/>
              <a:gd name="adj2" fmla="val 8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050" b="1"/>
          </a:p>
        </p:txBody>
      </p:sp>
      <p:sp>
        <p:nvSpPr>
          <p:cNvPr id="33800" name="Text Box 8"/>
          <p:cNvSpPr txBox="1">
            <a:spLocks noChangeArrowheads="1"/>
          </p:cNvSpPr>
          <p:nvPr/>
        </p:nvSpPr>
        <p:spPr bwMode="auto">
          <a:xfrm>
            <a:off x="898525" y="4129545"/>
            <a:ext cx="705785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If we have the </a:t>
            </a:r>
            <a:r>
              <a:rPr lang="en-US" b="1" dirty="0" err="1"/>
              <a:t>Thevenin</a:t>
            </a:r>
            <a:r>
              <a:rPr lang="en-US" b="1" dirty="0"/>
              <a:t> equivalent circuit of a network, we can obtain the  Norton equivalent by using source transformation.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b="1" dirty="0">
                <a:solidFill>
                  <a:srgbClr val="C00000"/>
                </a:solidFill>
                <a:ea typeface="新細明體" pitchFamily="18" charset="-120"/>
              </a:rPr>
              <a:t>Example 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b="1" dirty="0">
                <a:ea typeface="굴림" pitchFamily="34" charset="-127"/>
              </a:rPr>
              <a:t>Find the Norton equivalent circuit of the circuit </a:t>
            </a:r>
            <a:endParaRPr lang="en-US" altLang="zh-TW" b="1" dirty="0">
              <a:ea typeface="新細明體" pitchFamily="18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397DAE84-036E-4BC7-9FA4-CEE2A4E39795}" type="slidenum">
              <a:rPr lang="en-US" altLang="zh-TW" b="1"/>
              <a:pPr>
                <a:defRPr/>
              </a:pPr>
              <a:t>6</a:t>
            </a:fld>
            <a:endParaRPr lang="en-US" altLang="zh-TW" b="1"/>
          </a:p>
        </p:txBody>
      </p:sp>
      <p:sp>
        <p:nvSpPr>
          <p:cNvPr id="72710" name="Rectangle 4" descr="aLe77183_04039"/>
          <p:cNvSpPr>
            <a:spLocks noGrp="1" noChangeAspect="1" noChangeArrowheads="1"/>
          </p:cNvSpPr>
          <p:nvPr isPhoto="1"/>
        </p:nvSpPr>
        <p:spPr bwMode="auto">
          <a:xfrm>
            <a:off x="1115617" y="2834934"/>
            <a:ext cx="6418263" cy="2694384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76200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tr-TR" sz="1350" b="1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08986" y="5354411"/>
            <a:ext cx="2133600" cy="273844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E2B013D0-B3C2-464A-B669-7BE29A340CA9}" type="slidenum">
              <a:rPr lang="en-US" altLang="zh-TW"/>
              <a:pPr>
                <a:defRPr/>
              </a:pPr>
              <a:t>7</a:t>
            </a:fld>
            <a:endParaRPr lang="en-US" altLang="zh-TW"/>
          </a:p>
        </p:txBody>
      </p:sp>
      <p:graphicFrame>
        <p:nvGraphicFramePr>
          <p:cNvPr id="73735" name="Object 5"/>
          <p:cNvGraphicFramePr>
            <a:graphicFrameLocks noChangeAspect="1"/>
          </p:cNvGraphicFramePr>
          <p:nvPr/>
        </p:nvGraphicFramePr>
        <p:xfrm>
          <a:off x="395537" y="2132577"/>
          <a:ext cx="4100513" cy="1162050"/>
        </p:xfrm>
        <a:graphic>
          <a:graphicData uri="http://schemas.openxmlformats.org/presentationml/2006/ole">
            <p:oleObj spid="_x0000_s3074" name="方程式" r:id="rId3" imgW="98450400" imgH="37185600" progId="Equation.3">
              <p:embed/>
            </p:oleObj>
          </a:graphicData>
        </a:graphic>
      </p:graphicFrame>
      <p:graphicFrame>
        <p:nvGraphicFramePr>
          <p:cNvPr id="73736" name="Object 6"/>
          <p:cNvGraphicFramePr>
            <a:graphicFrameLocks noChangeAspect="1"/>
          </p:cNvGraphicFramePr>
          <p:nvPr/>
        </p:nvGraphicFramePr>
        <p:xfrm>
          <a:off x="395537" y="1646802"/>
          <a:ext cx="1689100" cy="361950"/>
        </p:xfrm>
        <a:graphic>
          <a:graphicData uri="http://schemas.openxmlformats.org/presentationml/2006/ole">
            <p:oleObj spid="_x0000_s3075" name="方程式" r:id="rId4" imgW="40538400" imgH="11582400" progId="Equation.3">
              <p:embed/>
            </p:oleObj>
          </a:graphicData>
        </a:graphic>
      </p:graphicFrame>
      <p:pic>
        <p:nvPicPr>
          <p:cNvPr id="73737" name="Picture 7" descr="aLe77183_04040"/>
          <p:cNvPicPr>
            <a:picLocks noChangeAspect="1" noChangeArrowheads="1"/>
          </p:cNvPicPr>
          <p:nvPr/>
        </p:nvPicPr>
        <p:blipFill>
          <a:blip r:embed="rId5" cstate="print"/>
          <a:srcRect r="62688" b="52412"/>
          <a:stretch>
            <a:fillRect/>
          </a:stretch>
        </p:blipFill>
        <p:spPr bwMode="auto">
          <a:xfrm>
            <a:off x="4715125" y="2673122"/>
            <a:ext cx="4284662" cy="2646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08415" y="5624515"/>
            <a:ext cx="2133600" cy="273844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299C4E5D-360F-44BF-94F5-E03DECBCC140}" type="slidenum">
              <a:rPr lang="en-US" altLang="zh-TW"/>
              <a:pPr>
                <a:defRPr/>
              </a:pPr>
              <a:t>8</a:t>
            </a:fld>
            <a:endParaRPr lang="en-US" altLang="zh-TW"/>
          </a:p>
        </p:txBody>
      </p:sp>
      <p:pic>
        <p:nvPicPr>
          <p:cNvPr id="74758" name="Picture 4" descr="aLe77183_04040"/>
          <p:cNvPicPr>
            <a:picLocks noChangeAspect="1" noChangeArrowheads="1"/>
          </p:cNvPicPr>
          <p:nvPr/>
        </p:nvPicPr>
        <p:blipFill rotWithShape="1">
          <a:blip r:embed="rId3" cstate="print"/>
          <a:srcRect l="42844" b="47534"/>
          <a:stretch/>
        </p:blipFill>
        <p:spPr bwMode="auto">
          <a:xfrm>
            <a:off x="3707904" y="3200400"/>
            <a:ext cx="5291312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4759" name="Object 5"/>
          <p:cNvGraphicFramePr>
            <a:graphicFrameLocks noChangeAspect="1"/>
          </p:cNvGraphicFramePr>
          <p:nvPr/>
        </p:nvGraphicFramePr>
        <p:xfrm>
          <a:off x="323528" y="1863329"/>
          <a:ext cx="1524000" cy="361950"/>
        </p:xfrm>
        <a:graphic>
          <a:graphicData uri="http://schemas.openxmlformats.org/presentationml/2006/ole">
            <p:oleObj spid="_x0000_s4098" name="方程式" r:id="rId4" imgW="36576000" imgH="11582400" progId="Equation.3">
              <p:embed/>
            </p:oleObj>
          </a:graphicData>
        </a:graphic>
      </p:graphicFrame>
      <p:graphicFrame>
        <p:nvGraphicFramePr>
          <p:cNvPr id="74760" name="Object 6"/>
          <p:cNvGraphicFramePr>
            <a:graphicFrameLocks noChangeAspect="1"/>
          </p:cNvGraphicFramePr>
          <p:nvPr/>
        </p:nvGraphicFramePr>
        <p:xfrm>
          <a:off x="323528" y="2402681"/>
          <a:ext cx="5307012" cy="333375"/>
        </p:xfrm>
        <a:graphic>
          <a:graphicData uri="http://schemas.openxmlformats.org/presentationml/2006/ole">
            <p:oleObj spid="_x0000_s4099" name="方程式" r:id="rId5" imgW="127406400" imgH="10668000" progId="Equation.3">
              <p:embed/>
            </p:oleObj>
          </a:graphicData>
        </a:graphic>
      </p:graphicFrame>
      <p:graphicFrame>
        <p:nvGraphicFramePr>
          <p:cNvPr id="74762" name="Object 8"/>
          <p:cNvGraphicFramePr>
            <a:graphicFrameLocks noChangeAspect="1"/>
          </p:cNvGraphicFramePr>
          <p:nvPr/>
        </p:nvGraphicFramePr>
        <p:xfrm>
          <a:off x="323529" y="2834879"/>
          <a:ext cx="1092200" cy="266700"/>
        </p:xfrm>
        <a:graphic>
          <a:graphicData uri="http://schemas.openxmlformats.org/presentationml/2006/ole">
            <p:oleObj spid="_x0000_s4100" name="方程式" r:id="rId6" imgW="26212800" imgH="8534400" progId="Equation.3">
              <p:embed/>
            </p:oleObj>
          </a:graphicData>
        </a:graphic>
      </p:graphicFrame>
      <p:graphicFrame>
        <p:nvGraphicFramePr>
          <p:cNvPr id="74763" name="Object 9"/>
          <p:cNvGraphicFramePr>
            <a:graphicFrameLocks noChangeAspect="1"/>
          </p:cNvGraphicFramePr>
          <p:nvPr/>
        </p:nvGraphicFramePr>
        <p:xfrm>
          <a:off x="2804790" y="2786059"/>
          <a:ext cx="3835279" cy="396035"/>
        </p:xfrm>
        <a:graphic>
          <a:graphicData uri="http://schemas.openxmlformats.org/presentationml/2006/ole">
            <p:oleObj spid="_x0000_s4101" name="Equation" r:id="rId7" imgW="42062400" imgH="5791200" progId="Equation.3">
              <p:embed/>
            </p:oleObj>
          </a:graphicData>
        </a:graphic>
      </p:graphicFrame>
      <p:graphicFrame>
        <p:nvGraphicFramePr>
          <p:cNvPr id="74764" name="Object 10"/>
          <p:cNvGraphicFramePr>
            <a:graphicFrameLocks noChangeAspect="1"/>
          </p:cNvGraphicFramePr>
          <p:nvPr/>
        </p:nvGraphicFramePr>
        <p:xfrm>
          <a:off x="323528" y="3267075"/>
          <a:ext cx="2628900" cy="361950"/>
        </p:xfrm>
        <a:graphic>
          <a:graphicData uri="http://schemas.openxmlformats.org/presentationml/2006/ole">
            <p:oleObj spid="_x0000_s4102" name="方程式" r:id="rId8" imgW="63093600" imgH="11582400" progId="Equation.3">
              <p:embed/>
            </p:oleObj>
          </a:graphicData>
        </a:graphic>
      </p:graphicFrame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36990" y="5624515"/>
            <a:ext cx="2133600" cy="273844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3389FEA6-D5DE-44CF-B453-18FBD01E8574}" type="slidenum">
              <a:rPr lang="en-US" altLang="zh-TW" b="1"/>
              <a:pPr>
                <a:defRPr/>
              </a:pPr>
              <a:t>9</a:t>
            </a:fld>
            <a:endParaRPr lang="en-US" altLang="zh-TW" b="1"/>
          </a:p>
        </p:txBody>
      </p:sp>
      <p:pic>
        <p:nvPicPr>
          <p:cNvPr id="75781" name="Picture 3" descr="aLe77183_04040"/>
          <p:cNvPicPr>
            <a:picLocks noChangeAspect="1" noChangeArrowheads="1"/>
          </p:cNvPicPr>
          <p:nvPr/>
        </p:nvPicPr>
        <p:blipFill>
          <a:blip r:embed="rId3" cstate="print"/>
          <a:srcRect l="15086" t="51039" r="27756"/>
          <a:stretch>
            <a:fillRect/>
          </a:stretch>
        </p:blipFill>
        <p:spPr bwMode="auto">
          <a:xfrm>
            <a:off x="4168454" y="3537348"/>
            <a:ext cx="4859337" cy="2015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5784" name="Object 6"/>
          <p:cNvGraphicFramePr>
            <a:graphicFrameLocks noChangeAspect="1"/>
          </p:cNvGraphicFramePr>
          <p:nvPr/>
        </p:nvGraphicFramePr>
        <p:xfrm>
          <a:off x="3892229" y="1716883"/>
          <a:ext cx="1163637" cy="632222"/>
        </p:xfrm>
        <a:graphic>
          <a:graphicData uri="http://schemas.openxmlformats.org/presentationml/2006/ole">
            <p:oleObj spid="_x0000_s5122" name="Equation" r:id="rId4" imgW="13106400" imgH="9448800" progId="Equation.3">
              <p:embed/>
            </p:oleObj>
          </a:graphicData>
        </a:graphic>
      </p:graphicFrame>
      <p:graphicFrame>
        <p:nvGraphicFramePr>
          <p:cNvPr id="75785" name="Object 7"/>
          <p:cNvGraphicFramePr>
            <a:graphicFrameLocks noChangeAspect="1"/>
          </p:cNvGraphicFramePr>
          <p:nvPr/>
        </p:nvGraphicFramePr>
        <p:xfrm>
          <a:off x="323528" y="2349105"/>
          <a:ext cx="3543300" cy="326231"/>
        </p:xfrm>
        <a:graphic>
          <a:graphicData uri="http://schemas.openxmlformats.org/presentationml/2006/ole">
            <p:oleObj spid="_x0000_s5123" name="Equation" r:id="rId5" imgW="39928800" imgH="4876800" progId="Equation.3">
              <p:embed/>
            </p:oleObj>
          </a:graphicData>
        </a:graphic>
      </p:graphicFrame>
      <p:graphicFrame>
        <p:nvGraphicFramePr>
          <p:cNvPr id="75786" name="Object 8"/>
          <p:cNvGraphicFramePr>
            <a:graphicFrameLocks noChangeAspect="1"/>
          </p:cNvGraphicFramePr>
          <p:nvPr/>
        </p:nvGraphicFramePr>
        <p:xfrm>
          <a:off x="6060753" y="2349105"/>
          <a:ext cx="1162050" cy="326231"/>
        </p:xfrm>
        <a:graphic>
          <a:graphicData uri="http://schemas.openxmlformats.org/presentationml/2006/ole">
            <p:oleObj spid="_x0000_s5124" name="Equation" r:id="rId6" imgW="13106400" imgH="4876800" progId="Equation.3">
              <p:embed/>
            </p:oleObj>
          </a:graphicData>
        </a:graphic>
      </p:graphicFrame>
      <p:graphicFrame>
        <p:nvGraphicFramePr>
          <p:cNvPr id="75788" name="Object 10"/>
          <p:cNvGraphicFramePr>
            <a:graphicFrameLocks noChangeAspect="1"/>
          </p:cNvGraphicFramePr>
          <p:nvPr/>
        </p:nvGraphicFramePr>
        <p:xfrm>
          <a:off x="323529" y="3320655"/>
          <a:ext cx="2082800" cy="326231"/>
        </p:xfrm>
        <a:graphic>
          <a:graphicData uri="http://schemas.openxmlformats.org/presentationml/2006/ole">
            <p:oleObj spid="_x0000_s5125" name="Equation" r:id="rId7" imgW="23469600" imgH="4876800" progId="Equation.3">
              <p:embed/>
            </p:oleObj>
          </a:graphicData>
        </a:graphic>
      </p:graphicFrame>
      <p:graphicFrame>
        <p:nvGraphicFramePr>
          <p:cNvPr id="75789" name="Object 11"/>
          <p:cNvGraphicFramePr>
            <a:graphicFrameLocks noChangeAspect="1"/>
          </p:cNvGraphicFramePr>
          <p:nvPr/>
        </p:nvGraphicFramePr>
        <p:xfrm>
          <a:off x="423541" y="3699274"/>
          <a:ext cx="3859213" cy="326231"/>
        </p:xfrm>
        <a:graphic>
          <a:graphicData uri="http://schemas.openxmlformats.org/presentationml/2006/ole">
            <p:oleObj spid="_x0000_s5126" name="Equation" r:id="rId8" imgW="38709600" imgH="4876800" progId="Equation.3">
              <p:embed/>
            </p:oleObj>
          </a:graphicData>
        </a:graphic>
      </p:graphicFrame>
      <p:graphicFrame>
        <p:nvGraphicFramePr>
          <p:cNvPr id="75790" name="Object 12"/>
          <p:cNvGraphicFramePr>
            <a:graphicFrameLocks noChangeAspect="1"/>
          </p:cNvGraphicFramePr>
          <p:nvPr/>
        </p:nvGraphicFramePr>
        <p:xfrm>
          <a:off x="387029" y="4042172"/>
          <a:ext cx="1860550" cy="342900"/>
        </p:xfrm>
        <a:graphic>
          <a:graphicData uri="http://schemas.openxmlformats.org/presentationml/2006/ole">
            <p:oleObj spid="_x0000_s5127" name="Equation" r:id="rId9" imgW="17678400" imgH="4876800" progId="Equation.3">
              <p:embed/>
            </p:oleObj>
          </a:graphicData>
        </a:graphic>
      </p:graphicFrame>
      <p:graphicFrame>
        <p:nvGraphicFramePr>
          <p:cNvPr id="75791" name="Object 13"/>
          <p:cNvGraphicFramePr>
            <a:graphicFrameLocks noChangeAspect="1"/>
          </p:cNvGraphicFramePr>
          <p:nvPr/>
        </p:nvGraphicFramePr>
        <p:xfrm>
          <a:off x="3779516" y="2349105"/>
          <a:ext cx="2271713" cy="326231"/>
        </p:xfrm>
        <a:graphic>
          <a:graphicData uri="http://schemas.openxmlformats.org/presentationml/2006/ole">
            <p:oleObj spid="_x0000_s5128" name="Equation" r:id="rId10" imgW="25603200" imgH="4876800" progId="Equation.3">
              <p:embed/>
            </p:oleObj>
          </a:graphicData>
        </a:graphic>
      </p:graphicFrame>
      <p:graphicFrame>
        <p:nvGraphicFramePr>
          <p:cNvPr id="75792" name="Object 14"/>
          <p:cNvGraphicFramePr>
            <a:graphicFrameLocks noChangeAspect="1"/>
          </p:cNvGraphicFramePr>
          <p:nvPr/>
        </p:nvGraphicFramePr>
        <p:xfrm>
          <a:off x="390204" y="4385072"/>
          <a:ext cx="2813050" cy="285750"/>
        </p:xfrm>
        <a:graphic>
          <a:graphicData uri="http://schemas.openxmlformats.org/presentationml/2006/ole">
            <p:oleObj spid="_x0000_s5129" name="Equation" r:id="rId11" imgW="31699200" imgH="4267200" progId="Equation.3">
              <p:embed/>
            </p:oleObj>
          </a:graphicData>
        </a:graphic>
      </p:graphicFrame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387029" y="269080"/>
            <a:ext cx="8229600" cy="857250"/>
          </a:xfrm>
        </p:spPr>
        <p:txBody>
          <a:bodyPr/>
          <a:lstStyle/>
          <a:p>
            <a:r>
              <a:rPr lang="en-GB" b="1" dirty="0">
                <a:solidFill>
                  <a:srgbClr val="C00000"/>
                </a:solidFill>
              </a:rPr>
              <a:t>Alternative Method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fld id="{257F2D52-1D50-482A-89AB-851A6BECF7A4}" type="slidenum">
              <a:rPr lang="en-US" altLang="zh-TW" b="1"/>
              <a:pPr>
                <a:defRPr/>
              </a:pPr>
              <a:t>10</a:t>
            </a:fld>
            <a:endParaRPr lang="en-US" altLang="zh-TW" b="1"/>
          </a:p>
        </p:txBody>
      </p:sp>
      <p:sp>
        <p:nvSpPr>
          <p:cNvPr id="76805" name="Rectangle 3" descr="aLe77183_04041"/>
          <p:cNvSpPr>
            <a:spLocks noGrp="1" noChangeAspect="1" noChangeArrowheads="1"/>
          </p:cNvSpPr>
          <p:nvPr isPhoto="1"/>
        </p:nvSpPr>
        <p:spPr bwMode="auto">
          <a:xfrm>
            <a:off x="2051050" y="3105151"/>
            <a:ext cx="5627688" cy="1907381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76200">
            <a:noFill/>
            <a:miter lim="800000"/>
            <a:headEnd/>
            <a:tailEnd/>
          </a:ln>
          <a:effectLst/>
        </p:spPr>
        <p:txBody>
          <a:bodyPr/>
          <a:lstStyle/>
          <a:p>
            <a:endParaRPr lang="tr-TR" sz="1350" b="1"/>
          </a:p>
        </p:txBody>
      </p:sp>
      <p:graphicFrame>
        <p:nvGraphicFramePr>
          <p:cNvPr id="76806" name="Object 4"/>
          <p:cNvGraphicFramePr>
            <a:graphicFrameLocks noChangeAspect="1"/>
          </p:cNvGraphicFramePr>
          <p:nvPr/>
        </p:nvGraphicFramePr>
        <p:xfrm>
          <a:off x="519113" y="1897858"/>
          <a:ext cx="1000125" cy="326231"/>
        </p:xfrm>
        <a:graphic>
          <a:graphicData uri="http://schemas.openxmlformats.org/presentationml/2006/ole">
            <p:oleObj spid="_x0000_s6146" name="Equation" r:id="rId4" imgW="11277600" imgH="4876800" progId="Equation.3">
              <p:embed/>
            </p:oleObj>
          </a:graphicData>
        </a:graphic>
      </p:graphicFrame>
      <p:graphicFrame>
        <p:nvGraphicFramePr>
          <p:cNvPr id="76807" name="Object 5"/>
          <p:cNvGraphicFramePr>
            <a:graphicFrameLocks noChangeAspect="1"/>
          </p:cNvGraphicFramePr>
          <p:nvPr/>
        </p:nvGraphicFramePr>
        <p:xfrm>
          <a:off x="2195513" y="1916908"/>
          <a:ext cx="2676525" cy="632222"/>
        </p:xfrm>
        <a:graphic>
          <a:graphicData uri="http://schemas.openxmlformats.org/presentationml/2006/ole">
            <p:oleObj spid="_x0000_s6147" name="Equation" r:id="rId5" imgW="30175200" imgH="9448800" progId="Equation.3">
              <p:embed/>
            </p:oleObj>
          </a:graphicData>
        </a:graphic>
      </p:graphicFrame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Text Box 1028"/>
          <p:cNvSpPr txBox="1">
            <a:spLocks noChangeArrowheads="1"/>
          </p:cNvSpPr>
          <p:nvPr/>
        </p:nvSpPr>
        <p:spPr bwMode="auto">
          <a:xfrm>
            <a:off x="251521" y="2078851"/>
            <a:ext cx="867819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/>
              <a:t>For the circuit shown below, find the Norton equivalent circuit to the left of terminals A-B.    </a:t>
            </a:r>
          </a:p>
        </p:txBody>
      </p:sp>
      <p:graphicFrame>
        <p:nvGraphicFramePr>
          <p:cNvPr id="41989" name="Object 1029"/>
          <p:cNvGraphicFramePr>
            <a:graphicFrameLocks noChangeAspect="1"/>
          </p:cNvGraphicFramePr>
          <p:nvPr/>
        </p:nvGraphicFramePr>
        <p:xfrm>
          <a:off x="625162" y="3161107"/>
          <a:ext cx="7259207" cy="2158103"/>
        </p:xfrm>
        <a:graphic>
          <a:graphicData uri="http://schemas.openxmlformats.org/presentationml/2006/ole">
            <p:oleObj spid="_x0000_s7170" name="SmartDraw" r:id="rId3" imgW="32289750" imgH="12801600" progId="">
              <p:embed/>
            </p:oleObj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b="1" smtClean="0"/>
              <a:pPr/>
              <a:t>11</a:t>
            </a:fld>
            <a:endParaRPr lang="en-US" b="1"/>
          </a:p>
        </p:txBody>
      </p:sp>
      <p:sp>
        <p:nvSpPr>
          <p:cNvPr id="6" name="Rectangle 5"/>
          <p:cNvSpPr/>
          <p:nvPr/>
        </p:nvSpPr>
        <p:spPr>
          <a:xfrm>
            <a:off x="625162" y="401581"/>
            <a:ext cx="797928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</a:rPr>
              <a:t> Example             </a:t>
            </a:r>
            <a:endParaRPr lang="en-IN" sz="4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296" name="Object 1024"/>
          <p:cNvGraphicFramePr>
            <a:graphicFrameLocks noChangeAspect="1"/>
          </p:cNvGraphicFramePr>
          <p:nvPr/>
        </p:nvGraphicFramePr>
        <p:xfrm>
          <a:off x="1093595" y="1376773"/>
          <a:ext cx="7006798" cy="2083184"/>
        </p:xfrm>
        <a:graphic>
          <a:graphicData uri="http://schemas.openxmlformats.org/presentationml/2006/ole">
            <p:oleObj spid="_x0000_s8194" name="SmartDraw" r:id="rId3" imgW="32289750" imgH="12801600" progId="">
              <p:embed/>
            </p:oleObj>
          </a:graphicData>
        </a:graphic>
      </p:graphicFrame>
      <p:graphicFrame>
        <p:nvGraphicFramePr>
          <p:cNvPr id="55297" name="Object 1025"/>
          <p:cNvGraphicFramePr>
            <a:graphicFrameLocks noChangeAspect="1"/>
          </p:cNvGraphicFramePr>
          <p:nvPr/>
        </p:nvGraphicFramePr>
        <p:xfrm>
          <a:off x="4514850" y="3348038"/>
          <a:ext cx="114300" cy="161925"/>
        </p:xfrm>
        <a:graphic>
          <a:graphicData uri="http://schemas.openxmlformats.org/presentationml/2006/ole">
            <p:oleObj spid="_x0000_s8195" name="Equation" r:id="rId4" imgW="2743200" imgH="5181600" progId="Equation.3">
              <p:embed/>
            </p:oleObj>
          </a:graphicData>
        </a:graphic>
      </p:graphicFrame>
      <p:graphicFrame>
        <p:nvGraphicFramePr>
          <p:cNvPr id="55298" name="Object 1026"/>
          <p:cNvGraphicFramePr>
            <a:graphicFrameLocks noChangeAspect="1"/>
          </p:cNvGraphicFramePr>
          <p:nvPr/>
        </p:nvGraphicFramePr>
        <p:xfrm>
          <a:off x="3429000" y="3657600"/>
          <a:ext cx="1143000" cy="595313"/>
        </p:xfrm>
        <a:graphic>
          <a:graphicData uri="http://schemas.openxmlformats.org/presentationml/2006/ole">
            <p:oleObj spid="_x0000_s8196" name="Equation" r:id="rId5" imgW="14935200" imgH="10363200" progId="Equation.3">
              <p:embed/>
            </p:oleObj>
          </a:graphicData>
        </a:graphic>
      </p:graphicFrame>
      <p:graphicFrame>
        <p:nvGraphicFramePr>
          <p:cNvPr id="55299" name="Object 1027"/>
          <p:cNvGraphicFramePr>
            <a:graphicFrameLocks noChangeAspect="1"/>
          </p:cNvGraphicFramePr>
          <p:nvPr/>
        </p:nvGraphicFramePr>
        <p:xfrm>
          <a:off x="2285984" y="4500570"/>
          <a:ext cx="4724400" cy="352425"/>
        </p:xfrm>
        <a:graphic>
          <a:graphicData uri="http://schemas.openxmlformats.org/presentationml/2006/ole">
            <p:oleObj spid="_x0000_s8197" name="Equation" r:id="rId6" imgW="55168800" imgH="5486400" progId="Equation.3">
              <p:embed/>
            </p:oleObj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0" name="Object 1024"/>
          <p:cNvGraphicFramePr>
            <a:graphicFrameLocks noChangeAspect="1"/>
          </p:cNvGraphicFramePr>
          <p:nvPr/>
        </p:nvGraphicFramePr>
        <p:xfrm>
          <a:off x="824192" y="1430778"/>
          <a:ext cx="7420217" cy="2108951"/>
        </p:xfrm>
        <a:graphic>
          <a:graphicData uri="http://schemas.openxmlformats.org/presentationml/2006/ole">
            <p:oleObj spid="_x0000_s9218" name="SmartDraw" r:id="rId3" imgW="33775650" imgH="12801600" progId="">
              <p:embed/>
            </p:oleObj>
          </a:graphicData>
        </a:graphic>
      </p:graphicFrame>
      <p:graphicFrame>
        <p:nvGraphicFramePr>
          <p:cNvPr id="56321" name="Object 1025"/>
          <p:cNvGraphicFramePr>
            <a:graphicFrameLocks noChangeAspect="1"/>
          </p:cNvGraphicFramePr>
          <p:nvPr/>
        </p:nvGraphicFramePr>
        <p:xfrm>
          <a:off x="4514850" y="3348038"/>
          <a:ext cx="114300" cy="161925"/>
        </p:xfrm>
        <a:graphic>
          <a:graphicData uri="http://schemas.openxmlformats.org/presentationml/2006/ole">
            <p:oleObj spid="_x0000_s9219" name="Equation" r:id="rId4" imgW="114151" imgH="215619" progId="Equation.3">
              <p:embed/>
            </p:oleObj>
          </a:graphicData>
        </a:graphic>
      </p:graphicFrame>
      <p:graphicFrame>
        <p:nvGraphicFramePr>
          <p:cNvPr id="56322" name="Object 1026"/>
          <p:cNvGraphicFramePr>
            <a:graphicFrameLocks noChangeAspect="1"/>
          </p:cNvGraphicFramePr>
          <p:nvPr/>
        </p:nvGraphicFramePr>
        <p:xfrm>
          <a:off x="2571736" y="4071943"/>
          <a:ext cx="3581400" cy="592931"/>
        </p:xfrm>
        <a:graphic>
          <a:graphicData uri="http://schemas.openxmlformats.org/presentationml/2006/ole">
            <p:oleObj spid="_x0000_s9220" name="Equation" r:id="rId5" imgW="46939200" imgH="10363200" progId="Equation.3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4" name="Object 0"/>
          <p:cNvGraphicFramePr>
            <a:graphicFrameLocks noChangeAspect="1"/>
          </p:cNvGraphicFramePr>
          <p:nvPr/>
        </p:nvGraphicFramePr>
        <p:xfrm>
          <a:off x="1366162" y="1376773"/>
          <a:ext cx="6878247" cy="2045084"/>
        </p:xfrm>
        <a:graphic>
          <a:graphicData uri="http://schemas.openxmlformats.org/presentationml/2006/ole">
            <p:oleObj spid="_x0000_s10242" name="SmartDraw" r:id="rId3" imgW="32289750" imgH="12801600" progId="">
              <p:embed/>
            </p:oleObj>
          </a:graphicData>
        </a:graphic>
      </p:graphicFrame>
      <p:sp>
        <p:nvSpPr>
          <p:cNvPr id="45062" name="Text Box 6"/>
          <p:cNvSpPr txBox="1">
            <a:spLocks noChangeArrowheads="1"/>
          </p:cNvSpPr>
          <p:nvPr/>
        </p:nvSpPr>
        <p:spPr bwMode="auto">
          <a:xfrm>
            <a:off x="593726" y="3860007"/>
            <a:ext cx="301544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500" b="1" dirty="0"/>
              <a:t>From the mesh on the left we have;</a:t>
            </a:r>
          </a:p>
        </p:txBody>
      </p:sp>
      <p:graphicFrame>
        <p:nvGraphicFramePr>
          <p:cNvPr id="57345" name="Object 1"/>
          <p:cNvGraphicFramePr>
            <a:graphicFrameLocks noChangeAspect="1"/>
          </p:cNvGraphicFramePr>
          <p:nvPr/>
        </p:nvGraphicFramePr>
        <p:xfrm>
          <a:off x="2133600" y="4286251"/>
          <a:ext cx="4876800" cy="427435"/>
        </p:xfrm>
        <a:graphic>
          <a:graphicData uri="http://schemas.openxmlformats.org/presentationml/2006/ole">
            <p:oleObj spid="_x0000_s10243" name="Equation" r:id="rId4" imgW="46939200" imgH="5486400" progId="Equation.3">
              <p:embed/>
            </p:oleObj>
          </a:graphicData>
        </a:graphic>
      </p:graphicFrame>
      <p:graphicFrame>
        <p:nvGraphicFramePr>
          <p:cNvPr id="57346" name="Object 2"/>
          <p:cNvGraphicFramePr>
            <a:graphicFrameLocks noChangeAspect="1"/>
          </p:cNvGraphicFramePr>
          <p:nvPr/>
        </p:nvGraphicFramePr>
        <p:xfrm>
          <a:off x="2971800" y="4972051"/>
          <a:ext cx="2362200" cy="426244"/>
        </p:xfrm>
        <a:graphic>
          <a:graphicData uri="http://schemas.openxmlformats.org/presentationml/2006/ole">
            <p:oleObj spid="_x0000_s10244" name="Equation" r:id="rId5" imgW="22860000" imgH="5486400" progId="Equation.3">
              <p:embed/>
            </p:oleObj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b="1" smtClean="0"/>
              <a:pPr/>
              <a:t>14</a:t>
            </a:fld>
            <a:endParaRPr 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68" name="Object 0"/>
          <p:cNvGraphicFramePr>
            <a:graphicFrameLocks noChangeAspect="1"/>
          </p:cNvGraphicFramePr>
          <p:nvPr/>
        </p:nvGraphicFramePr>
        <p:xfrm>
          <a:off x="3143240" y="1714488"/>
          <a:ext cx="1636713" cy="329804"/>
        </p:xfrm>
        <a:graphic>
          <a:graphicData uri="http://schemas.openxmlformats.org/presentationml/2006/ole">
            <p:oleObj spid="_x0000_s11266" name="Equation" r:id="rId3" imgW="20421600" imgH="5486400" progId="Equation.3">
              <p:embed/>
            </p:oleObj>
          </a:graphicData>
        </a:graphic>
      </p:graphicFrame>
      <p:sp>
        <p:nvSpPr>
          <p:cNvPr id="46086" name="Text Box 6"/>
          <p:cNvSpPr txBox="1">
            <a:spLocks noChangeArrowheads="1"/>
          </p:cNvSpPr>
          <p:nvPr/>
        </p:nvSpPr>
        <p:spPr bwMode="auto">
          <a:xfrm>
            <a:off x="714348" y="2143116"/>
            <a:ext cx="931922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350" b="1" dirty="0"/>
              <a:t>Therefore;</a:t>
            </a:r>
          </a:p>
        </p:txBody>
      </p:sp>
      <p:graphicFrame>
        <p:nvGraphicFramePr>
          <p:cNvPr id="58369" name="Object 1"/>
          <p:cNvGraphicFramePr>
            <a:graphicFrameLocks noChangeAspect="1"/>
          </p:cNvGraphicFramePr>
          <p:nvPr/>
        </p:nvGraphicFramePr>
        <p:xfrm>
          <a:off x="2928926" y="2571744"/>
          <a:ext cx="1905000" cy="334566"/>
        </p:xfrm>
        <a:graphic>
          <a:graphicData uri="http://schemas.openxmlformats.org/presentationml/2006/ole">
            <p:oleObj spid="_x0000_s11267" name="Equation" r:id="rId4" imgW="23469600" imgH="5486400" progId="Equation.3">
              <p:embed/>
            </p:oleObj>
          </a:graphicData>
        </a:graphic>
      </p:graphicFrame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714348" y="3161108"/>
            <a:ext cx="382483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500" b="1" dirty="0"/>
              <a:t>The Norton equivalent circuit is shown below.</a:t>
            </a:r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1547127" y="3643314"/>
          <a:ext cx="4969090" cy="1675896"/>
        </p:xfrm>
        <a:graphic>
          <a:graphicData uri="http://schemas.openxmlformats.org/presentationml/2006/ole">
            <p:oleObj spid="_x0000_s11268" name="SmartDraw" r:id="rId5" imgW="21602700" imgH="9715500" progId="">
              <p:embed/>
            </p:oleObj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b="1" smtClean="0"/>
              <a:pPr/>
              <a:t>15</a:t>
            </a:fld>
            <a:endParaRPr lang="en-US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222920" y="277104"/>
            <a:ext cx="857659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</a:rPr>
              <a:t>Practice Problem</a:t>
            </a: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43880" y="1268760"/>
            <a:ext cx="857659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Find the Norton equivalent circuit to the left of terminals A-B for the network shown below. Connect the Norton equivalent circuit to the load and find the current in the 50 </a:t>
            </a:r>
            <a:r>
              <a:rPr lang="en-US" sz="2000" b="1" dirty="0">
                <a:sym typeface="Symbol" pitchFamily="18" charset="2"/>
              </a:rPr>
              <a:t> resistor.</a:t>
            </a:r>
            <a:endParaRPr lang="en-US" sz="2000" b="1" dirty="0"/>
          </a:p>
        </p:txBody>
      </p:sp>
      <p:graphicFrame>
        <p:nvGraphicFramePr>
          <p:cNvPr id="53248" name="Object 1024"/>
          <p:cNvGraphicFramePr>
            <a:graphicFrameLocks noChangeAspect="1"/>
          </p:cNvGraphicFramePr>
          <p:nvPr/>
        </p:nvGraphicFramePr>
        <p:xfrm>
          <a:off x="1928794" y="2834935"/>
          <a:ext cx="5240132" cy="2911022"/>
        </p:xfrm>
        <a:graphic>
          <a:graphicData uri="http://schemas.openxmlformats.org/presentationml/2006/ole">
            <p:oleObj spid="_x0000_s12290" name="SmartDraw" r:id="rId3" imgW="23069550" imgH="17087850" progId="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2" name="Object 0"/>
          <p:cNvGraphicFramePr>
            <a:graphicFrameLocks noChangeAspect="1"/>
          </p:cNvGraphicFramePr>
          <p:nvPr/>
        </p:nvGraphicFramePr>
        <p:xfrm>
          <a:off x="1691680" y="1342017"/>
          <a:ext cx="5100588" cy="2684678"/>
        </p:xfrm>
        <a:graphic>
          <a:graphicData uri="http://schemas.openxmlformats.org/presentationml/2006/ole">
            <p:oleObj spid="_x0000_s13314" name="SmartDraw" r:id="rId3" imgW="22488525" imgH="15773400" progId="">
              <p:embed/>
            </p:oleObj>
          </a:graphicData>
        </a:graphic>
      </p:graphicFrame>
      <p:graphicFrame>
        <p:nvGraphicFramePr>
          <p:cNvPr id="54273" name="Object 1"/>
          <p:cNvGraphicFramePr>
            <a:graphicFrameLocks noChangeAspect="1"/>
          </p:cNvGraphicFramePr>
          <p:nvPr/>
        </p:nvGraphicFramePr>
        <p:xfrm>
          <a:off x="2971800" y="4914900"/>
          <a:ext cx="1600200" cy="385763"/>
        </p:xfrm>
        <a:graphic>
          <a:graphicData uri="http://schemas.openxmlformats.org/presentationml/2006/ole">
            <p:oleObj spid="_x0000_s13315" name="Equation" r:id="rId4" imgW="17068800" imgH="5486400" progId="">
              <p:embed/>
            </p:oleObj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2857488" y="4286256"/>
          <a:ext cx="1676400" cy="396479"/>
        </p:xfrm>
        <a:graphic>
          <a:graphicData uri="http://schemas.openxmlformats.org/presentationml/2006/ole">
            <p:oleObj spid="_x0000_s13316" name="Equation" r:id="rId5" imgW="16459200" imgH="5181600" progId="">
              <p:embed/>
            </p:oleObj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3A1C7-104F-4A5F-9D6B-63DA6DC794B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550" y="260648"/>
            <a:ext cx="8229600" cy="85725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9" y="1862826"/>
            <a:ext cx="8329642" cy="7822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1800" b="1" dirty="0"/>
              <a:t>Find </a:t>
            </a:r>
            <a:r>
              <a:rPr lang="en-GB" sz="1800" b="1" dirty="0" err="1"/>
              <a:t>norton</a:t>
            </a:r>
            <a:r>
              <a:rPr lang="en-GB" sz="1800" b="1" dirty="0"/>
              <a:t> equivalent circuit of Fig shown Below.</a:t>
            </a:r>
          </a:p>
          <a:p>
            <a:pPr>
              <a:buNone/>
            </a:pPr>
            <a:r>
              <a:rPr lang="en-GB" sz="1800" b="1" dirty="0"/>
              <a:t>Also find current flowing through 40 ohm resistor.</a:t>
            </a:r>
          </a:p>
          <a:p>
            <a:pPr>
              <a:buNone/>
            </a:pPr>
            <a:endParaRPr lang="en-GB" sz="1800" b="1" dirty="0"/>
          </a:p>
          <a:p>
            <a:pPr>
              <a:buNone/>
            </a:pPr>
            <a:endParaRPr lang="en-GB" sz="1800" b="1" dirty="0"/>
          </a:p>
          <a:p>
            <a:pPr>
              <a:buNone/>
            </a:pPr>
            <a:endParaRPr lang="en-GB" sz="1800" b="1" dirty="0"/>
          </a:p>
          <a:p>
            <a:pPr>
              <a:buNone/>
            </a:pPr>
            <a:endParaRPr lang="en-GB" sz="1800" b="1" dirty="0"/>
          </a:p>
        </p:txBody>
      </p:sp>
      <p:pic>
        <p:nvPicPr>
          <p:cNvPr id="34820" name="Picture 4" descr="C:\Users\SUMIT\Desktop\dccircuits-dcp16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1" y="2893216"/>
            <a:ext cx="5463003" cy="21002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393017"/>
            <a:ext cx="8301038" cy="482207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 err="1"/>
              <a:t>Isc</a:t>
            </a:r>
            <a:r>
              <a:rPr lang="en-GB" b="1" dirty="0"/>
              <a:t> :</a:t>
            </a:r>
          </a:p>
        </p:txBody>
      </p:sp>
      <p:pic>
        <p:nvPicPr>
          <p:cNvPr id="35842" name="Picture 2" descr="C:\Users\SUMIT\Desktop\dccircuits-dcp16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3" y="1214754"/>
            <a:ext cx="5189840" cy="1995254"/>
          </a:xfrm>
          <a:prstGeom prst="rect">
            <a:avLst/>
          </a:prstGeom>
          <a:noFill/>
        </p:spPr>
      </p:pic>
      <p:pic>
        <p:nvPicPr>
          <p:cNvPr id="35844" name="Picture 4" descr="C:\Users\SUMIT\Desktop\dccircuits-dcp29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1107" y="4286256"/>
            <a:ext cx="4846354" cy="10715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Users\SUMIT\Desktop\dccircuits-dcp1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9" y="1339439"/>
            <a:ext cx="4929223" cy="2480827"/>
          </a:xfrm>
          <a:prstGeom prst="rect">
            <a:avLst/>
          </a:prstGeom>
          <a:noFill/>
        </p:spPr>
      </p:pic>
      <p:pic>
        <p:nvPicPr>
          <p:cNvPr id="36867" name="Picture 3" descr="C:\Users\SUMIT\Desktop\dccircuits-dcp18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0299" y="4339835"/>
            <a:ext cx="5000660" cy="815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:\Users\SUMIT\Desktop\dccircuits-dcp3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3" y="1446596"/>
            <a:ext cx="4806866" cy="1883772"/>
          </a:xfrm>
          <a:prstGeom prst="rect">
            <a:avLst/>
          </a:prstGeom>
          <a:noFill/>
        </p:spPr>
      </p:pic>
      <p:pic>
        <p:nvPicPr>
          <p:cNvPr id="37891" name="Picture 3" descr="C:\Users\SUMIT\Desktop\dccircuits-dcp34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5" y="3804049"/>
            <a:ext cx="6111845" cy="77867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7" y="332656"/>
            <a:ext cx="8229600" cy="85725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3" y="1938898"/>
            <a:ext cx="8115328" cy="514343"/>
          </a:xfrm>
        </p:spPr>
        <p:txBody>
          <a:bodyPr>
            <a:normAutofit/>
          </a:bodyPr>
          <a:lstStyle/>
          <a:p>
            <a:r>
              <a:rPr lang="en-GB" sz="2100" b="1" dirty="0"/>
              <a:t>Find </a:t>
            </a:r>
            <a:r>
              <a:rPr lang="en-GB" sz="2100" b="1" dirty="0" err="1"/>
              <a:t>norton</a:t>
            </a:r>
            <a:r>
              <a:rPr lang="en-GB" sz="2100" b="1" dirty="0"/>
              <a:t> equivalent circuit:</a:t>
            </a:r>
          </a:p>
          <a:p>
            <a:endParaRPr lang="en-GB" sz="2100" b="1" dirty="0"/>
          </a:p>
        </p:txBody>
      </p:sp>
      <p:pic>
        <p:nvPicPr>
          <p:cNvPr id="39938" name="Picture 2" descr="Norton’s Theorem Solved Problem with Dependent Sources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84" y="2672916"/>
            <a:ext cx="8989913" cy="24272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9" y="1393017"/>
            <a:ext cx="8506148" cy="1425177"/>
          </a:xfrm>
        </p:spPr>
        <p:txBody>
          <a:bodyPr>
            <a:normAutofit/>
          </a:bodyPr>
          <a:lstStyle/>
          <a:p>
            <a:r>
              <a:rPr lang="en-GB" sz="1800" b="1" dirty="0"/>
              <a:t>In order to determine the short-circuit current, we’ll short-circuit terminals a and b as shown in the following figure and V</a:t>
            </a:r>
            <a:r>
              <a:rPr lang="en-GB" sz="1800" b="1" baseline="-25000" dirty="0"/>
              <a:t>2</a:t>
            </a:r>
            <a:r>
              <a:rPr lang="en-GB" sz="1800" b="1" dirty="0"/>
              <a:t> = 0.</a:t>
            </a:r>
          </a:p>
          <a:p>
            <a:pPr>
              <a:buNone/>
            </a:pPr>
            <a:endParaRPr lang="en-GB" sz="1800" b="1" dirty="0"/>
          </a:p>
        </p:txBody>
      </p:sp>
      <p:pic>
        <p:nvPicPr>
          <p:cNvPr id="40962" name="Picture 2" descr="Norton’s Theorem Solved Problem with Dependent Sources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3000372"/>
            <a:ext cx="8823324" cy="23728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69061"/>
            <a:ext cx="8329642" cy="148281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1800" b="1" dirty="0"/>
              <a:t>Applying KCL at node 1 :</a:t>
            </a:r>
          </a:p>
          <a:p>
            <a:pPr>
              <a:buFont typeface="Wingdings" pitchFamily="2" charset="2"/>
              <a:buChar char="Ø"/>
            </a:pPr>
            <a:r>
              <a:rPr lang="en-GB" sz="1800" b="1" dirty="0">
                <a:latin typeface="Calibri"/>
              </a:rPr>
              <a:t>̶   0</a:t>
            </a:r>
            <a:r>
              <a:rPr lang="en-GB" sz="1800" b="1" dirty="0"/>
              <a:t>.003 + V</a:t>
            </a:r>
            <a:r>
              <a:rPr lang="en-GB" sz="1800" b="1" baseline="-25000" dirty="0"/>
              <a:t>1</a:t>
            </a:r>
            <a:r>
              <a:rPr lang="en-GB" sz="1800" b="1" dirty="0"/>
              <a:t>/3000 + V</a:t>
            </a:r>
            <a:r>
              <a:rPr lang="en-GB" sz="1800" b="1" baseline="-25000" dirty="0"/>
              <a:t>1</a:t>
            </a:r>
            <a:r>
              <a:rPr lang="en-GB" sz="1800" b="1" dirty="0"/>
              <a:t>/2000 = 0</a:t>
            </a:r>
          </a:p>
          <a:p>
            <a:pPr>
              <a:buFont typeface="Wingdings" pitchFamily="2" charset="2"/>
              <a:buChar char="Ø"/>
            </a:pPr>
            <a:r>
              <a:rPr lang="en-GB" sz="1800" b="1" dirty="0"/>
              <a:t>V</a:t>
            </a:r>
            <a:r>
              <a:rPr lang="en-GB" sz="1800" b="1" baseline="-25000" dirty="0"/>
              <a:t>1</a:t>
            </a:r>
            <a:r>
              <a:rPr lang="en-GB" sz="1800" b="1" dirty="0"/>
              <a:t> = 3.6 V</a:t>
            </a:r>
          </a:p>
          <a:p>
            <a:pPr>
              <a:buFont typeface="Wingdings" pitchFamily="2" charset="2"/>
              <a:buChar char="Ø"/>
            </a:pPr>
            <a:r>
              <a:rPr lang="pt-BR" sz="1800" b="1" dirty="0"/>
              <a:t>i = V</a:t>
            </a:r>
            <a:r>
              <a:rPr lang="pt-BR" sz="1800" b="1" baseline="-25000" dirty="0"/>
              <a:t>1</a:t>
            </a:r>
            <a:r>
              <a:rPr lang="pt-BR" sz="1800" b="1" dirty="0"/>
              <a:t>/3000 = 3.6 V/3000Ω= 0.0012 A</a:t>
            </a:r>
          </a:p>
        </p:txBody>
      </p:sp>
      <p:pic>
        <p:nvPicPr>
          <p:cNvPr id="4" name="Picture 2" descr="Norton’s Theorem Solved Problem with Dependent Sources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34198"/>
            <a:ext cx="8823324" cy="2372844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112728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Example continued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33214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Example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455115"/>
            <a:ext cx="8568952" cy="12882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pt-BR" sz="1800" b="1" dirty="0"/>
              <a:t>CCVS = 2000i = 2.4 V                        i = 0.0012 A</a:t>
            </a:r>
          </a:p>
          <a:p>
            <a:pPr>
              <a:buNone/>
            </a:pPr>
            <a:endParaRPr lang="pt-BR" sz="1800" b="1" dirty="0"/>
          </a:p>
          <a:p>
            <a:pPr>
              <a:buNone/>
            </a:pPr>
            <a:r>
              <a:rPr lang="pt-BR" sz="1800" b="1" dirty="0"/>
              <a:t>I</a:t>
            </a:r>
            <a:r>
              <a:rPr lang="pt-BR" sz="1800" b="1" baseline="-25000" dirty="0"/>
              <a:t>R2  </a:t>
            </a:r>
            <a:r>
              <a:rPr lang="pt-BR" sz="1800" b="1" dirty="0"/>
              <a:t>= V</a:t>
            </a:r>
            <a:r>
              <a:rPr lang="pt-BR" sz="1800" b="1" baseline="-25000" dirty="0"/>
              <a:t>1</a:t>
            </a:r>
            <a:r>
              <a:rPr lang="pt-BR" sz="1800" b="1" dirty="0"/>
              <a:t>/R</a:t>
            </a:r>
            <a:r>
              <a:rPr lang="pt-BR" sz="1800" b="1" baseline="-25000" dirty="0"/>
              <a:t>2 </a:t>
            </a:r>
            <a:r>
              <a:rPr lang="pt-BR" sz="1800" b="1" dirty="0"/>
              <a:t>= 1.8mA</a:t>
            </a:r>
          </a:p>
          <a:p>
            <a:pPr>
              <a:buNone/>
            </a:pPr>
            <a:r>
              <a:rPr lang="pt-BR" sz="1800" b="1" dirty="0"/>
              <a:t>I</a:t>
            </a:r>
            <a:r>
              <a:rPr lang="pt-BR" sz="1800" b="1" baseline="-25000" dirty="0"/>
              <a:t>R3</a:t>
            </a:r>
            <a:r>
              <a:rPr lang="pt-BR" sz="1800" b="1" dirty="0"/>
              <a:t> = CCVS/R</a:t>
            </a:r>
            <a:r>
              <a:rPr lang="pt-BR" sz="1800" b="1" baseline="-25000" dirty="0"/>
              <a:t>3</a:t>
            </a:r>
            <a:r>
              <a:rPr lang="pt-BR" sz="1800" b="1" dirty="0"/>
              <a:t>  =  2.4mA</a:t>
            </a:r>
          </a:p>
        </p:txBody>
      </p:sp>
      <p:pic>
        <p:nvPicPr>
          <p:cNvPr id="4" name="Picture 2" descr="Norton’s Theorem Solved Problem with Dependent Sources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34198"/>
            <a:ext cx="8823324" cy="23728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01109"/>
            <a:ext cx="8229600" cy="105076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1800" b="1" dirty="0"/>
              <a:t>I</a:t>
            </a:r>
            <a:r>
              <a:rPr lang="it-IT" sz="1800" b="1" baseline="-25000" dirty="0"/>
              <a:t>N</a:t>
            </a:r>
            <a:r>
              <a:rPr lang="it-IT" sz="1800" b="1" dirty="0"/>
              <a:t> = I</a:t>
            </a:r>
            <a:r>
              <a:rPr lang="it-IT" sz="1800" b="1" baseline="-25000" dirty="0"/>
              <a:t>R2</a:t>
            </a:r>
            <a:r>
              <a:rPr lang="it-IT" sz="1800" b="1" dirty="0"/>
              <a:t>+ I</a:t>
            </a:r>
            <a:r>
              <a:rPr lang="it-IT" sz="1800" b="1" baseline="-25000" dirty="0"/>
              <a:t>R3</a:t>
            </a:r>
            <a:r>
              <a:rPr lang="it-IT" sz="1800" b="1" dirty="0"/>
              <a:t> = 1.8 mA + 2.4 mA = 4.2 mA</a:t>
            </a:r>
          </a:p>
        </p:txBody>
      </p:sp>
      <p:pic>
        <p:nvPicPr>
          <p:cNvPr id="4" name="Picture 2" descr="Norton’s Theorem Solved Problem with Dependent Sources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434198"/>
            <a:ext cx="8823324" cy="23728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214439"/>
            <a:ext cx="8229600" cy="1482814"/>
          </a:xfrm>
        </p:spPr>
        <p:txBody>
          <a:bodyPr>
            <a:normAutofit/>
          </a:bodyPr>
          <a:lstStyle/>
          <a:p>
            <a:r>
              <a:rPr lang="en-GB" sz="1800" b="1" dirty="0"/>
              <a:t>In order to determine R</a:t>
            </a:r>
            <a:r>
              <a:rPr lang="en-GB" sz="1800" b="1" baseline="-25000" dirty="0"/>
              <a:t>N</a:t>
            </a:r>
            <a:r>
              <a:rPr lang="en-GB" sz="1800" b="1" dirty="0"/>
              <a:t>, deactivate the current source, a test voltage of 1 V is applied across terminals a and b as shown in the following figure.  </a:t>
            </a:r>
          </a:p>
          <a:p>
            <a:r>
              <a:rPr lang="en-GB" sz="1800" b="1" dirty="0" err="1"/>
              <a:t>V</a:t>
            </a:r>
            <a:r>
              <a:rPr lang="en-GB" sz="1800" b="1" baseline="-25000" dirty="0" err="1"/>
              <a:t>t</a:t>
            </a:r>
            <a:r>
              <a:rPr lang="en-GB" sz="1800" b="1" dirty="0"/>
              <a:t> = 1 V.</a:t>
            </a:r>
          </a:p>
        </p:txBody>
      </p:sp>
      <p:pic>
        <p:nvPicPr>
          <p:cNvPr id="4" name="Picture 2" descr="Norton’s Theorem Solved Problem with Dependent Sources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84" y="1487776"/>
            <a:ext cx="8989913" cy="24272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C:\Users\SUMIT\Desktop\Norton’s-Theorem-Solved-Problem-with-Dependent-Sources-3-673x300.gif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l="6507" r="5056"/>
          <a:stretch/>
        </p:blipFill>
        <p:spPr bwMode="auto">
          <a:xfrm>
            <a:off x="683567" y="1052736"/>
            <a:ext cx="7830043" cy="2960070"/>
          </a:xfrm>
          <a:prstGeom prst="rect">
            <a:avLst/>
          </a:prstGeom>
          <a:noFill/>
        </p:spPr>
      </p:pic>
      <p:sp>
        <p:nvSpPr>
          <p:cNvPr id="3" name="Content Placeholder 2"/>
          <p:cNvSpPr txBox="1">
            <a:spLocks/>
          </p:cNvSpPr>
          <p:nvPr/>
        </p:nvSpPr>
        <p:spPr>
          <a:xfrm>
            <a:off x="486375" y="4340046"/>
            <a:ext cx="8406106" cy="124919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685800">
              <a:spcBef>
                <a:spcPct val="20000"/>
              </a:spcBef>
              <a:defRPr/>
            </a:pPr>
            <a:r>
              <a:rPr lang="en-GB" sz="1500" b="1" dirty="0"/>
              <a:t>I</a:t>
            </a:r>
            <a:r>
              <a:rPr lang="en-GB" sz="1500" b="1" baseline="-25000" dirty="0"/>
              <a:t>R2</a:t>
            </a:r>
            <a:r>
              <a:rPr lang="en-GB" sz="1500" b="1" dirty="0"/>
              <a:t> = </a:t>
            </a:r>
            <a:r>
              <a:rPr lang="en-GB" sz="1500" b="1" dirty="0" err="1"/>
              <a:t>i</a:t>
            </a:r>
            <a:r>
              <a:rPr lang="en-GB" sz="1500" b="1" dirty="0"/>
              <a:t> = </a:t>
            </a:r>
            <a:r>
              <a:rPr lang="en-GB" sz="1500" b="1" dirty="0" err="1"/>
              <a:t>V</a:t>
            </a:r>
            <a:r>
              <a:rPr lang="en-GB" sz="1500" b="1" baseline="-25000" dirty="0" err="1"/>
              <a:t>t</a:t>
            </a:r>
            <a:r>
              <a:rPr lang="en-GB" sz="1500" b="1" dirty="0"/>
              <a:t>/(R</a:t>
            </a:r>
            <a:r>
              <a:rPr lang="en-GB" sz="1500" b="1" baseline="-25000" dirty="0"/>
              <a:t>1</a:t>
            </a:r>
            <a:r>
              <a:rPr lang="en-GB" sz="1500" b="1" dirty="0"/>
              <a:t>+ R</a:t>
            </a:r>
            <a:r>
              <a:rPr lang="en-GB" sz="1500" b="1" baseline="-25000" dirty="0"/>
              <a:t>2</a:t>
            </a:r>
            <a:r>
              <a:rPr lang="en-GB" sz="1500" b="1" dirty="0"/>
              <a:t>) = 1 V/5 k</a:t>
            </a:r>
            <a:r>
              <a:rPr lang="el-GR" sz="1500" b="1" dirty="0"/>
              <a:t>Ω</a:t>
            </a:r>
            <a:r>
              <a:rPr lang="en-US" sz="1500" b="1" dirty="0"/>
              <a:t> </a:t>
            </a:r>
            <a:r>
              <a:rPr lang="el-GR" sz="1500" b="1" dirty="0"/>
              <a:t>=</a:t>
            </a:r>
            <a:r>
              <a:rPr lang="en-US" sz="1500" b="1" dirty="0"/>
              <a:t> </a:t>
            </a:r>
            <a:r>
              <a:rPr lang="el-GR" sz="1500" b="1" dirty="0"/>
              <a:t>0.2</a:t>
            </a:r>
            <a:r>
              <a:rPr lang="en-GB" sz="1500" b="1" dirty="0" err="1"/>
              <a:t>mA</a:t>
            </a:r>
            <a:endParaRPr lang="en-GB" sz="1500" b="1" dirty="0"/>
          </a:p>
          <a:p>
            <a:pPr marL="257175" indent="-257175" defTabSz="685800">
              <a:spcBef>
                <a:spcPct val="20000"/>
              </a:spcBef>
              <a:defRPr/>
            </a:pPr>
            <a:r>
              <a:rPr lang="en-GB" sz="1500" b="1" dirty="0"/>
              <a:t>CCVS= 2000i = 0.4 V </a:t>
            </a:r>
          </a:p>
          <a:p>
            <a:pPr marL="257175" indent="-257175" defTabSz="685800">
              <a:spcBef>
                <a:spcPct val="20000"/>
              </a:spcBef>
              <a:defRPr/>
            </a:pPr>
            <a:r>
              <a:rPr lang="en-GB" sz="1500" b="1" dirty="0"/>
              <a:t>I</a:t>
            </a:r>
            <a:r>
              <a:rPr lang="en-GB" sz="1500" b="1" baseline="-25000" dirty="0"/>
              <a:t>R3</a:t>
            </a:r>
            <a:r>
              <a:rPr lang="en-GB" sz="1500" b="1" dirty="0"/>
              <a:t> = (</a:t>
            </a:r>
            <a:r>
              <a:rPr lang="en-GB" sz="1500" b="1" dirty="0" err="1"/>
              <a:t>V</a:t>
            </a:r>
            <a:r>
              <a:rPr lang="en-GB" sz="1500" b="1" baseline="-25000" dirty="0" err="1"/>
              <a:t>t</a:t>
            </a:r>
            <a:r>
              <a:rPr lang="en-GB" sz="1500" b="1" dirty="0"/>
              <a:t>- CCVS)/R</a:t>
            </a:r>
            <a:r>
              <a:rPr lang="en-GB" sz="1500" b="1" baseline="-25000" dirty="0"/>
              <a:t>3 </a:t>
            </a:r>
            <a:r>
              <a:rPr lang="en-GB" sz="1500" b="1" dirty="0"/>
              <a:t>= 0.6mA</a:t>
            </a:r>
          </a:p>
          <a:p>
            <a:pPr marL="257175" indent="-257175" defTabSz="685800">
              <a:spcBef>
                <a:spcPct val="20000"/>
              </a:spcBef>
              <a:defRPr/>
            </a:pPr>
            <a:r>
              <a:rPr lang="en-GB" sz="1500" b="1" dirty="0"/>
              <a:t>I</a:t>
            </a:r>
            <a:r>
              <a:rPr lang="en-GB" sz="1500" b="1" baseline="-25000" dirty="0"/>
              <a:t>R4</a:t>
            </a:r>
            <a:r>
              <a:rPr lang="en-GB" sz="1500" b="1" dirty="0"/>
              <a:t> = V</a:t>
            </a:r>
            <a:r>
              <a:rPr lang="en-GB" sz="1500" b="1" baseline="-25000" dirty="0"/>
              <a:t>t</a:t>
            </a:r>
            <a:r>
              <a:rPr lang="en-GB" sz="1500" b="1" dirty="0"/>
              <a:t>/R</a:t>
            </a:r>
            <a:r>
              <a:rPr lang="en-GB" sz="1500" b="1" baseline="-25000" dirty="0"/>
              <a:t>4</a:t>
            </a:r>
            <a:r>
              <a:rPr lang="en-GB" sz="1500" b="1" dirty="0"/>
              <a:t> = 0.25mA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77073"/>
            <a:ext cx="8229600" cy="13748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1500" b="1" dirty="0"/>
              <a:t>I</a:t>
            </a:r>
            <a:r>
              <a:rPr lang="en-GB" sz="1500" b="1" baseline="-25000" dirty="0"/>
              <a:t>t</a:t>
            </a:r>
            <a:r>
              <a:rPr lang="en-GB" sz="1500" b="1" dirty="0"/>
              <a:t> = I</a:t>
            </a:r>
            <a:r>
              <a:rPr lang="en-GB" sz="1500" b="1" baseline="-25000" dirty="0"/>
              <a:t>R2</a:t>
            </a:r>
            <a:r>
              <a:rPr lang="en-GB" sz="1500" b="1" dirty="0"/>
              <a:t> + I</a:t>
            </a:r>
            <a:r>
              <a:rPr lang="en-GB" sz="1500" b="1" baseline="-25000" dirty="0"/>
              <a:t>R3</a:t>
            </a:r>
            <a:r>
              <a:rPr lang="en-GB" sz="1500" b="1" dirty="0"/>
              <a:t> + I</a:t>
            </a:r>
            <a:r>
              <a:rPr lang="en-GB" sz="1500" b="1" baseline="-25000" dirty="0"/>
              <a:t>R4</a:t>
            </a:r>
            <a:r>
              <a:rPr lang="en-GB" sz="1500" b="1" dirty="0"/>
              <a:t> = 0.2 </a:t>
            </a:r>
            <a:r>
              <a:rPr lang="en-GB" sz="1500" b="1" dirty="0" err="1"/>
              <a:t>mA</a:t>
            </a:r>
            <a:r>
              <a:rPr lang="en-GB" sz="1500" b="1" dirty="0"/>
              <a:t> + 0.6 </a:t>
            </a:r>
            <a:r>
              <a:rPr lang="en-GB" sz="1500" b="1" dirty="0" err="1"/>
              <a:t>mA</a:t>
            </a:r>
            <a:r>
              <a:rPr lang="en-GB" sz="1500" b="1" dirty="0"/>
              <a:t> + 0.25 </a:t>
            </a:r>
            <a:r>
              <a:rPr lang="en-GB" sz="1500" b="1" dirty="0" err="1"/>
              <a:t>mA</a:t>
            </a:r>
            <a:r>
              <a:rPr lang="en-GB" sz="1500" b="1" dirty="0"/>
              <a:t> = 1.05mA</a:t>
            </a:r>
          </a:p>
          <a:p>
            <a:pPr>
              <a:buNone/>
            </a:pPr>
            <a:r>
              <a:rPr lang="en-GB" sz="1500" b="1" dirty="0"/>
              <a:t>Norton’s equivalent resistance can be found as</a:t>
            </a:r>
          </a:p>
          <a:p>
            <a:pPr>
              <a:buNone/>
            </a:pPr>
            <a:r>
              <a:rPr lang="en-GB" sz="1500" b="1" dirty="0"/>
              <a:t>R</a:t>
            </a:r>
            <a:r>
              <a:rPr lang="en-GB" sz="1500" b="1" baseline="-25000" dirty="0"/>
              <a:t>N</a:t>
            </a:r>
            <a:r>
              <a:rPr lang="en-GB" sz="1500" b="1" dirty="0"/>
              <a:t> = </a:t>
            </a:r>
            <a:r>
              <a:rPr lang="en-GB" sz="1500" b="1" dirty="0" err="1"/>
              <a:t>V</a:t>
            </a:r>
            <a:r>
              <a:rPr lang="en-GB" sz="1500" b="1" baseline="-25000" dirty="0" err="1"/>
              <a:t>t</a:t>
            </a:r>
            <a:r>
              <a:rPr lang="en-GB" sz="1500" b="1" dirty="0"/>
              <a:t>/I</a:t>
            </a:r>
            <a:r>
              <a:rPr lang="en-GB" sz="1500" b="1" baseline="-25000" dirty="0"/>
              <a:t>t</a:t>
            </a:r>
            <a:r>
              <a:rPr lang="en-GB" sz="1500" b="1" dirty="0"/>
              <a:t> = 952.381</a:t>
            </a:r>
            <a:r>
              <a:rPr lang="el-GR" sz="1500" b="1" dirty="0"/>
              <a:t>Ω</a:t>
            </a:r>
          </a:p>
        </p:txBody>
      </p:sp>
      <p:pic>
        <p:nvPicPr>
          <p:cNvPr id="4" name="Picture 2" descr="C:\Users\SUMIT\Desktop\Norton’s-Theorem-Solved-Problem-with-Dependent-Sources-3-673x300.gif"/>
          <p:cNvPicPr>
            <a:picLocks noChangeAspect="1" noChangeArrowheads="1"/>
          </p:cNvPicPr>
          <p:nvPr/>
        </p:nvPicPr>
        <p:blipFill rotWithShape="1">
          <a:blip r:embed="rId2" cstate="print"/>
          <a:srcRect l="7319" r="4846"/>
          <a:stretch/>
        </p:blipFill>
        <p:spPr bwMode="auto">
          <a:xfrm>
            <a:off x="755576" y="1052736"/>
            <a:ext cx="7344816" cy="279562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700" y="188640"/>
            <a:ext cx="8610600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cs typeface="Times New Roman" panose="02020603050405020304" pitchFamily="18" charset="0"/>
              </a:rPr>
              <a:t>R.C. </a:t>
            </a:r>
            <a:r>
              <a:rPr lang="en-US" sz="2000" b="1" dirty="0" err="1">
                <a:cs typeface="Times New Roman" panose="02020603050405020304" pitchFamily="18" charset="0"/>
              </a:rPr>
              <a:t>Dorf</a:t>
            </a:r>
            <a:r>
              <a:rPr lang="en-US" sz="2000" b="1" dirty="0">
                <a:cs typeface="Times New Roman" panose="02020603050405020304" pitchFamily="18" charset="0"/>
              </a:rPr>
              <a:t> and James A. Svoboda, “Introduction to Electric Circuits”, 9</a:t>
            </a:r>
            <a:r>
              <a:rPr lang="en-US" sz="2000" b="1" baseline="30000" dirty="0"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ed</a:t>
            </a:r>
            <a:r>
              <a:rPr lang="en-US" sz="2000" b="1" dirty="0">
                <a:cs typeface="Times New Roman" panose="02020603050405020304" pitchFamily="18" charset="0"/>
              </a:rPr>
              <a:t>, John Wiley &amp; Sons, 2013.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cs typeface="Times New Roman" panose="02020603050405020304" pitchFamily="18" charset="0"/>
              </a:rPr>
              <a:t>D.C. </a:t>
            </a:r>
            <a:r>
              <a:rPr lang="en-US" sz="2000" b="1" dirty="0" err="1">
                <a:cs typeface="Times New Roman" panose="02020603050405020304" pitchFamily="18" charset="0"/>
              </a:rPr>
              <a:t>Kulshreshtha</a:t>
            </a:r>
            <a:r>
              <a:rPr lang="en-US" sz="2000" b="1" dirty="0">
                <a:cs typeface="Times New Roman" panose="02020603050405020304" pitchFamily="18" charset="0"/>
              </a:rPr>
              <a:t>, Basic Electrical Engineering, Revised 1</a:t>
            </a:r>
            <a:r>
              <a:rPr lang="en-US" sz="2000" b="1" baseline="30000" dirty="0">
                <a:cs typeface="Times New Roman" panose="02020603050405020304" pitchFamily="18" charset="0"/>
              </a:rPr>
              <a:t>st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ed</a:t>
            </a:r>
            <a:r>
              <a:rPr lang="en-US" sz="2000" b="1" dirty="0">
                <a:cs typeface="Times New Roman" panose="02020603050405020304" pitchFamily="18" charset="0"/>
              </a:rPr>
              <a:t>, Tata Mc </a:t>
            </a:r>
            <a:r>
              <a:rPr lang="en-US" sz="2000" b="1" dirty="0" err="1">
                <a:cs typeface="Times New Roman" panose="02020603050405020304" pitchFamily="18" charset="0"/>
              </a:rPr>
              <a:t>Graw</a:t>
            </a:r>
            <a:r>
              <a:rPr lang="en-US" sz="2000" b="1" dirty="0">
                <a:cs typeface="Times New Roman" panose="02020603050405020304" pitchFamily="18" charset="0"/>
              </a:rPr>
              <a:t> Hill, 2017.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cs typeface="Times New Roman" panose="02020603050405020304" pitchFamily="18" charset="0"/>
              </a:rPr>
              <a:t>V. </a:t>
            </a:r>
            <a:r>
              <a:rPr lang="en-US" sz="2000" b="1" dirty="0" err="1">
                <a:cs typeface="Times New Roman" panose="02020603050405020304" pitchFamily="18" charset="0"/>
              </a:rPr>
              <a:t>K.Mehta</a:t>
            </a:r>
            <a:r>
              <a:rPr lang="en-US" sz="2000" b="1" dirty="0"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cs typeface="Times New Roman" panose="02020603050405020304" pitchFamily="18" charset="0"/>
              </a:rPr>
              <a:t>Rohit</a:t>
            </a:r>
            <a:r>
              <a:rPr lang="en-US" sz="2000" b="1" dirty="0">
                <a:cs typeface="Times New Roman" panose="02020603050405020304" pitchFamily="18" charset="0"/>
              </a:rPr>
              <a:t> Mehta, Basic Electrical Engineering, 6</a:t>
            </a:r>
            <a:r>
              <a:rPr lang="en-US" sz="2000" b="1" baseline="30000" dirty="0">
                <a:cs typeface="Times New Roman" panose="02020603050405020304" pitchFamily="18" charset="0"/>
              </a:rPr>
              <a:t>th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ed</a:t>
            </a:r>
            <a:r>
              <a:rPr lang="en-US" sz="2000" b="1" dirty="0">
                <a:cs typeface="Times New Roman" panose="02020603050405020304" pitchFamily="18" charset="0"/>
              </a:rPr>
              <a:t>, S. </a:t>
            </a:r>
            <a:r>
              <a:rPr lang="en-US" sz="2000" b="1" dirty="0" err="1">
                <a:cs typeface="Times New Roman" panose="02020603050405020304" pitchFamily="18" charset="0"/>
              </a:rPr>
              <a:t>Chand</a:t>
            </a:r>
            <a:r>
              <a:rPr lang="en-US" sz="2000" b="1" dirty="0">
                <a:cs typeface="Times New Roman" panose="02020603050405020304" pitchFamily="18" charset="0"/>
              </a:rPr>
              <a:t> Publishing,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On-screen Show (4:3)</PresentationFormat>
  <Paragraphs>79</Paragraphs>
  <Slides>30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Office Theme</vt:lpstr>
      <vt:lpstr>SmartDraw</vt:lpstr>
      <vt:lpstr>方程式</vt:lpstr>
      <vt:lpstr>Equation</vt:lpstr>
      <vt:lpstr>Slide 1</vt:lpstr>
      <vt:lpstr>CONTENTS</vt:lpstr>
      <vt:lpstr>Norton Theorem</vt:lpstr>
      <vt:lpstr>Norton Equivalent Circuit</vt:lpstr>
      <vt:lpstr>Slide 5</vt:lpstr>
      <vt:lpstr>Example </vt:lpstr>
      <vt:lpstr>Slide 7</vt:lpstr>
      <vt:lpstr>Slide 8</vt:lpstr>
      <vt:lpstr>Alternative Method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Example</vt:lpstr>
      <vt:lpstr>Slide 19</vt:lpstr>
      <vt:lpstr>Slide 20</vt:lpstr>
      <vt:lpstr>Slide 21</vt:lpstr>
      <vt:lpstr>Example</vt:lpstr>
      <vt:lpstr>Slide 23</vt:lpstr>
      <vt:lpstr>Example continued</vt:lpstr>
      <vt:lpstr>Example continued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ankur bhardwaj</dc:creator>
  <cp:lastModifiedBy>ankur.bhardwaj</cp:lastModifiedBy>
  <cp:revision>1</cp:revision>
  <dcterms:created xsi:type="dcterms:W3CDTF">2006-08-16T00:00:00Z</dcterms:created>
  <dcterms:modified xsi:type="dcterms:W3CDTF">2024-08-22T09:18:16Z</dcterms:modified>
</cp:coreProperties>
</file>