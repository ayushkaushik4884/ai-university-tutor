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3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AE9B60-92C7-4BCA-8109-913E1D15DD7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9EB33E-8DB9-4965-B7E7-218BBD672B8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ADFAFA-5C95-4778-B23F-B0E5A512A2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7020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6304" y="908720"/>
            <a:ext cx="5551392" cy="3293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BASIC ELECTRONICS</a:t>
            </a:r>
          </a:p>
          <a:p>
            <a:pPr algn="ctr"/>
            <a:r>
              <a:rPr lang="en-US" sz="4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(24B11EC111)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Unit-1</a:t>
            </a:r>
          </a:p>
          <a:p>
            <a:pPr algn="ctr"/>
            <a:r>
              <a:rPr lang="en-US" sz="4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Lecture-5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Methods of DC Circuit Analysis Contd.)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D6217-2CB0-4899-A90F-D165D154DCA2}" type="slidenum">
              <a:rPr lang="en-IN" smtClean="0">
                <a:latin typeface="Times New Roman" pitchFamily="18" charset="0"/>
                <a:cs typeface="Times New Roman" pitchFamily="18" charset="0"/>
              </a:rPr>
              <a:pPr/>
              <a:t>1</a:t>
            </a:fld>
            <a:endParaRPr lang="en-I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5205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9214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  <a:ea typeface="+mn-ea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8650" y="1463900"/>
            <a:ext cx="7886700" cy="4860700"/>
          </a:xfrm>
        </p:spPr>
        <p:txBody>
          <a:bodyPr>
            <a:normAutofit/>
          </a:bodyPr>
          <a:lstStyle/>
          <a:p>
            <a:r>
              <a:rPr lang="en-IN" sz="2800" b="1" dirty="0">
                <a:cs typeface="Times New Roman" panose="02020603050405020304" pitchFamily="18" charset="0"/>
              </a:rPr>
              <a:t>Node Voltage Analysis of Circuits with Dependent Sources</a:t>
            </a:r>
          </a:p>
          <a:p>
            <a:r>
              <a:rPr lang="en-IN" sz="2800" b="1" dirty="0">
                <a:cs typeface="Times New Roman" panose="02020603050405020304" pitchFamily="18" charset="0"/>
              </a:rPr>
              <a:t>Mesh Current Analysis of Circuits with Independent Voltage Sources</a:t>
            </a:r>
          </a:p>
          <a:p>
            <a:r>
              <a:rPr lang="en-IN" sz="2800" b="1" dirty="0">
                <a:cs typeface="Times New Roman" panose="02020603050405020304" pitchFamily="18" charset="0"/>
              </a:rPr>
              <a:t>Mesh Current Analysis with Current and Voltage Sources</a:t>
            </a:r>
          </a:p>
          <a:p>
            <a:r>
              <a:rPr lang="en-US" sz="2800" b="1" dirty="0">
                <a:cs typeface="Times New Roman" pitchFamily="18" charset="0"/>
              </a:rPr>
              <a:t>Problem</a:t>
            </a:r>
          </a:p>
          <a:p>
            <a:r>
              <a:rPr lang="en-US" sz="2800" b="1" dirty="0"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9BDA3-1F2F-45F2-80B6-CFADEE268BA9}" type="slidenum">
              <a:rPr lang="en-IN" b="1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IN" b="1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35854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228600"/>
            <a:ext cx="8305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Node Voltage Analysis of Circuits with Dependent Sources</a:t>
            </a:r>
            <a:endParaRPr lang="en-US" sz="36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600200"/>
            <a:ext cx="7772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sz="2000" b="1" dirty="0"/>
              <a:t>When a circuit contains a dependent source the controlling current or voltage of that dependent source must be expressed as a function of the node voltages.</a:t>
            </a:r>
          </a:p>
          <a:p>
            <a:pPr marL="342900" indent="-342900">
              <a:buFont typeface="Arial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itchFamily="34" charset="0"/>
              <a:buChar char="•"/>
            </a:pPr>
            <a:r>
              <a:rPr lang="en-IN" sz="2000" b="1" dirty="0"/>
              <a:t>It is then a simple matter to express the controlled current or voltage as a function of the node voltages.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228600"/>
            <a:ext cx="8305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</a:t>
            </a:r>
            <a:endParaRPr lang="en-US" sz="4400" b="1" dirty="0">
              <a:solidFill>
                <a:srgbClr val="C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66800"/>
            <a:ext cx="830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Determine the node voltages for the circuit shown in Figure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1752600"/>
            <a:ext cx="4586287" cy="2716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581400" y="4876800"/>
            <a:ext cx="30986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FIGURE - A circuit with a CCVS.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228600"/>
            <a:ext cx="8305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914400"/>
            <a:ext cx="3124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controlling current of the dependent source is i</a:t>
            </a:r>
            <a:r>
              <a:rPr lang="en-IN" b="1" baseline="-25000" dirty="0"/>
              <a:t>x</a:t>
            </a:r>
            <a:r>
              <a:rPr lang="en-IN" b="1" dirty="0"/>
              <a:t>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066800"/>
            <a:ext cx="4433887" cy="2625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1676400"/>
            <a:ext cx="2095500" cy="816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4038600"/>
            <a:ext cx="1835727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228600" y="2967335"/>
            <a:ext cx="3429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value of the node voltage at node a is set by the 8-V voltage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4102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The node voltage at node c is equal to the voltage of the dependent source, so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88778" y="5867401"/>
            <a:ext cx="4388222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1295400"/>
            <a:ext cx="3230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Next, apply KCL at node b to 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228600"/>
            <a:ext cx="8305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Problem - </a:t>
            </a:r>
            <a:r>
              <a:rPr lang="en-US" altLang="en-US" sz="4400" b="1" dirty="0">
                <a:solidFill>
                  <a:srgbClr val="0066FF"/>
                </a:solidFill>
                <a:latin typeface="+mj-lt"/>
              </a:rPr>
              <a:t>Solution</a:t>
            </a:r>
            <a:endParaRPr lang="en-US" sz="4400" b="1" dirty="0">
              <a:solidFill>
                <a:srgbClr val="C00000"/>
              </a:solidFill>
              <a:latin typeface="+mj-lt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066800"/>
            <a:ext cx="4433887" cy="26259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2133600"/>
            <a:ext cx="32766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81000" y="3352800"/>
            <a:ext cx="147123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/>
              <a:t>eliminate </a:t>
            </a:r>
            <a:r>
              <a:rPr lang="en-IN" sz="2000" b="1" dirty="0" err="1"/>
              <a:t>v</a:t>
            </a:r>
            <a:r>
              <a:rPr lang="en-IN" sz="2000" b="1" baseline="-25000" dirty="0" err="1"/>
              <a:t>c</a:t>
            </a:r>
            <a:endParaRPr lang="en-IN" sz="2000" b="1" baseline="-25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1963" y="3864680"/>
            <a:ext cx="4719637" cy="935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44671" y="4114800"/>
            <a:ext cx="3191429" cy="609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381000" y="5105400"/>
            <a:ext cx="19745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/>
              <a:t>Solving for </a:t>
            </a:r>
            <a:r>
              <a:rPr lang="en-IN" b="1" dirty="0" err="1"/>
              <a:t>v</a:t>
            </a:r>
            <a:r>
              <a:rPr lang="en-IN" b="1" baseline="-25000" dirty="0" err="1"/>
              <a:t>b</a:t>
            </a:r>
            <a:r>
              <a:rPr lang="en-IN" b="1" dirty="0"/>
              <a:t> gives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895600" y="5105400"/>
            <a:ext cx="1638300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819400" y="5867400"/>
            <a:ext cx="2719387" cy="75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533400" y="6019800"/>
            <a:ext cx="129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Then</a:t>
            </a:r>
            <a:endParaRPr lang="en-IN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36525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1371600"/>
            <a:ext cx="8077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we consider the analysis of circuits using </a:t>
            </a:r>
            <a:r>
              <a:rPr lang="en-IN" b="1" dirty="0" err="1"/>
              <a:t>Kirchhoff’s</a:t>
            </a:r>
            <a:r>
              <a:rPr lang="en-IN" b="1" dirty="0"/>
              <a:t> voltage law (KVL) around a closed path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A mesh is a special case of a loop.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A mesh is a loop that does not contain any other loops within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95600"/>
            <a:ext cx="8001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IN" b="1" dirty="0"/>
              <a:t>Mesh current analysis is applicable only to planar networks.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3371671"/>
            <a:ext cx="8382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A planar circuit is one that can be drawn on a plane, without crossovers.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An example of a </a:t>
            </a:r>
            <a:r>
              <a:rPr lang="en-IN" b="1" dirty="0" err="1"/>
              <a:t>nonplanar</a:t>
            </a:r>
            <a:r>
              <a:rPr lang="en-IN" b="1" dirty="0"/>
              <a:t> circuit is shown in Figure, in which the crossover is identified and cannot be removed by redrawing the circuit.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53000" y="4475451"/>
            <a:ext cx="2886075" cy="2230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There are four meshes in the circuit shown in Figure.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2900" y="115615"/>
            <a:ext cx="8458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981200"/>
            <a:ext cx="5986462" cy="3611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2192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Mesh current as the current through the elements constituting the mesh.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Figure shows a circuit having two meshes with the mesh currents </a:t>
            </a:r>
            <a:r>
              <a:rPr lang="en-IN" b="1" dirty="0" err="1"/>
              <a:t>labeled</a:t>
            </a:r>
            <a:r>
              <a:rPr lang="en-IN" b="1" dirty="0"/>
              <a:t> as i</a:t>
            </a:r>
            <a:r>
              <a:rPr lang="en-IN" b="1" baseline="-25000" dirty="0"/>
              <a:t>1</a:t>
            </a:r>
            <a:r>
              <a:rPr lang="en-IN" b="1" dirty="0"/>
              <a:t> and i</a:t>
            </a:r>
            <a:r>
              <a:rPr lang="en-IN" b="1" baseline="-25000" dirty="0"/>
              <a:t>2</a:t>
            </a:r>
            <a:r>
              <a:rPr lang="en-IN" b="1" dirty="0"/>
              <a:t>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We will use the convention of a mesh current in the clockwise direction as shown in Figure.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15615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2362200"/>
            <a:ext cx="3276600" cy="1591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33400" y="4114800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For </a:t>
            </a:r>
            <a:r>
              <a:rPr lang="en-IN" b="1" dirty="0" err="1"/>
              <a:t>analyzing</a:t>
            </a:r>
            <a:r>
              <a:rPr lang="en-IN" b="1" dirty="0"/>
              <a:t> an electric circuit : write and solve a set of simultaneous equations called the mesh equations.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unknown variables in the mesh equations are the mesh currents of the circuit.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We determine the values of the mesh currents by solving the mesh equations.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5629870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/>
            <a:r>
              <a:rPr lang="en-IN" b="1" dirty="0">
                <a:solidFill>
                  <a:srgbClr val="002060"/>
                </a:solidFill>
              </a:rPr>
              <a:t>To write a set of mesh equations, we do two things: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solidFill>
                  <a:srgbClr val="002060"/>
                </a:solidFill>
              </a:rPr>
              <a:t>Express element voltages as functions of the mesh currents.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solidFill>
                  <a:srgbClr val="002060"/>
                </a:solidFill>
              </a:rPr>
              <a:t>Apply </a:t>
            </a:r>
            <a:r>
              <a:rPr lang="en-IN" b="1" dirty="0" err="1">
                <a:solidFill>
                  <a:srgbClr val="002060"/>
                </a:solidFill>
              </a:rPr>
              <a:t>Kirchhoff’s</a:t>
            </a:r>
            <a:r>
              <a:rPr lang="en-IN" b="1" dirty="0">
                <a:solidFill>
                  <a:srgbClr val="002060"/>
                </a:solidFill>
              </a:rPr>
              <a:t> voltage law (KVL) to each of the meshes of the circuit.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75337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219200"/>
            <a:ext cx="8610600" cy="188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1000" y="3581400"/>
            <a:ext cx="8305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Figure  shows a circuit element that is in two meshes.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4114800"/>
            <a:ext cx="8305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The reference directions for 3 A and i1  i2 are different (one points up, the other points down)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0" y="4876800"/>
            <a:ext cx="2405062" cy="4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12693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1025" y="1376364"/>
            <a:ext cx="3762375" cy="193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04800" y="3657600"/>
            <a:ext cx="2286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The resistor currents are expressed as functions of the mesh currents, and then the resistor voltages are expressed as functions of the mesh currents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0" y="1219200"/>
            <a:ext cx="3967160" cy="204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33384" y="3810000"/>
            <a:ext cx="471424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54700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82720" y="1066800"/>
            <a:ext cx="500888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71600"/>
            <a:ext cx="4551484" cy="870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04800" y="289560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/>
              <a:t>Rewriting the two equations, we have</a:t>
            </a: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3581400"/>
            <a:ext cx="3505200" cy="1062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1000" y="4876800"/>
            <a:ext cx="3871912" cy="368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24400" y="4800600"/>
            <a:ext cx="22098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05200" y="6019800"/>
            <a:ext cx="2523692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81000" y="1219200"/>
            <a:ext cx="8305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Consider a circuit with three meshes, as shown in Figure.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IN" b="1" dirty="0"/>
              <a:t>Assign the clockwise direction to all of the mesh currents. Using KVL, we obtain the three mesh equations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112693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209800"/>
            <a:ext cx="5943600" cy="1622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4343400"/>
            <a:ext cx="810577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228600" y="6135469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These three mesh equations can be rewritten by collecting coefficients for each mesh current 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12693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of Circuits with Independent Voltage Sources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3429000"/>
            <a:ext cx="7391400" cy="1413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1219200"/>
            <a:ext cx="5943600" cy="1622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112693"/>
            <a:ext cx="84582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Mesh Current Analysis with Current and Voltage Sources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371600"/>
            <a:ext cx="5218624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81000" y="3429000"/>
            <a:ext cx="8305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second mesh current is equal to the negative of the current source current.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19400" y="3962400"/>
            <a:ext cx="1614487" cy="43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33400" y="4495800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and we need only determine the first mesh current i1. Writing KVL for the first mesh, we obtain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5105400"/>
            <a:ext cx="3671887" cy="436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5867400"/>
            <a:ext cx="3309942" cy="35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91000" y="5638800"/>
            <a:ext cx="2409825" cy="997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304800"/>
            <a:ext cx="8610600" cy="4365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400" b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References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R.C.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Dorf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and James A. Svoboda, “Introduction to Electric Circuits”, 9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John Wiley &amp; Sons, 2013.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D.C.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Kulshreshtha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Basic Electrical Engineering, Revised 1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st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Tata Mc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Graw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Hill, 2017.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K.Mehta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Rohit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Mehta, Basic Electrical Engineering, 6</a:t>
            </a:r>
            <a:r>
              <a:rPr lang="en-US" sz="2400" baseline="30000" dirty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ed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, S.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Chand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Publishing, 2012.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fld id="{B6F15528-21DE-4FAA-801E-634DDDAF4B2B}" type="slidenum">
              <a:rPr lang="en-US" smtClean="0">
                <a:latin typeface="Times New Roman" pitchFamily="18" charset="0"/>
                <a:cs typeface="Times New Roman" pitchFamily="18" charset="0"/>
              </a:rPr>
              <a:pPr>
                <a:lnSpc>
                  <a:spcPct val="150000"/>
                </a:lnSpc>
              </a:pPr>
              <a:t>16</a:t>
            </a:fld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730</Words>
  <Application>Microsoft Office PowerPoint</Application>
  <PresentationFormat>On-screen Show (4:3)</PresentationFormat>
  <Paragraphs>82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CONTENTS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ankur bhardwaj</dc:creator>
  <cp:lastModifiedBy>ankur.bhardwaj</cp:lastModifiedBy>
  <cp:revision>1</cp:revision>
  <dcterms:created xsi:type="dcterms:W3CDTF">2006-08-16T00:00:00Z</dcterms:created>
  <dcterms:modified xsi:type="dcterms:W3CDTF">2024-08-07T04:24:03Z</dcterms:modified>
</cp:coreProperties>
</file>