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82"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3.bin"/><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6.xml"/><Relationship Id="rId1" Type="http://schemas.openxmlformats.org/officeDocument/2006/relationships/vmlDrawing" Target="../drawings/vmlDrawing6.vml"/><Relationship Id="rId5" Type="http://schemas.openxmlformats.org/officeDocument/2006/relationships/oleObject" Target="../embeddings/oleObject6.bin"/><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image" Target="../media/image18.png"/><Relationship Id="rId4"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50352" y="908720"/>
            <a:ext cx="5243295" cy="3293209"/>
          </a:xfrm>
          <a:prstGeom prst="rect">
            <a:avLst/>
          </a:prstGeom>
        </p:spPr>
        <p:txBody>
          <a:bodyPr wrap="none">
            <a:spAutoFit/>
          </a:bodyPr>
          <a:lstStyle/>
          <a:p>
            <a:pPr algn="ctr"/>
            <a:r>
              <a:rPr lang="en-US" sz="4800" b="1" dirty="0">
                <a:solidFill>
                  <a:srgbClr val="C00000"/>
                </a:solidFill>
                <a:latin typeface="+mj-lt"/>
              </a:rPr>
              <a:t>BASIC ELECTRONICS</a:t>
            </a:r>
          </a:p>
          <a:p>
            <a:pPr algn="ctr"/>
            <a:r>
              <a:rPr lang="en-US" sz="4800" b="1" dirty="0">
                <a:solidFill>
                  <a:srgbClr val="C00000"/>
                </a:solidFill>
                <a:latin typeface="Times New Roman" pitchFamily="18" charset="0"/>
                <a:cs typeface="Times New Roman" pitchFamily="18" charset="0"/>
              </a:rPr>
              <a:t>(24B11EC111)</a:t>
            </a:r>
          </a:p>
          <a:p>
            <a:pPr algn="ctr"/>
            <a:r>
              <a:rPr lang="en-US" sz="4400" b="1" dirty="0">
                <a:solidFill>
                  <a:srgbClr val="002060"/>
                </a:solidFill>
                <a:latin typeface="Times New Roman" pitchFamily="18" charset="0"/>
                <a:cs typeface="Times New Roman" pitchFamily="18" charset="0"/>
              </a:rPr>
              <a:t>Unit-1</a:t>
            </a:r>
          </a:p>
          <a:p>
            <a:pPr algn="ctr"/>
            <a:r>
              <a:rPr lang="en-US" sz="4400" b="1" dirty="0">
                <a:solidFill>
                  <a:srgbClr val="002060"/>
                </a:solidFill>
                <a:latin typeface="Times New Roman" pitchFamily="18" charset="0"/>
                <a:cs typeface="Times New Roman" pitchFamily="18" charset="0"/>
              </a:rPr>
              <a:t>Lecture-8</a:t>
            </a:r>
          </a:p>
          <a:p>
            <a:pPr algn="ctr"/>
            <a:r>
              <a:rPr lang="en-IN" sz="2400" b="1" dirty="0">
                <a:latin typeface="Times New Roman" panose="02020603050405020304" pitchFamily="18" charset="0"/>
                <a:cs typeface="Times New Roman" panose="02020603050405020304" pitchFamily="18" charset="0"/>
              </a:rPr>
              <a:t>(</a:t>
            </a:r>
            <a:r>
              <a:rPr lang="en-US" sz="2400" b="1" dirty="0">
                <a:latin typeface="Times New Roman" pitchFamily="18" charset="0"/>
                <a:cs typeface="Times New Roman" pitchFamily="18" charset="0"/>
              </a:rPr>
              <a:t>Thevenin’s Theorem)</a:t>
            </a:r>
            <a:endParaRPr lang="en-US" sz="2400" b="1" dirty="0">
              <a:solidFill>
                <a:srgbClr val="00206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7C7D6217-2CB0-4899-A90F-D165D154DCA2}" type="slidenum">
              <a:rPr lang="en-IN" smtClean="0">
                <a:latin typeface="Times New Roman" pitchFamily="18" charset="0"/>
                <a:cs typeface="Times New Roman" pitchFamily="18" charset="0"/>
              </a:rPr>
              <a:pPr/>
              <a:t>1</a:t>
            </a:fld>
            <a:endParaRPr lang="en-IN">
              <a:latin typeface="Times New Roman" pitchFamily="18" charset="0"/>
              <a:cs typeface="Times New Roman" pitchFamily="18" charset="0"/>
            </a:endParaRPr>
          </a:p>
        </p:txBody>
      </p:sp>
    </p:spTree>
    <p:extLst>
      <p:ext uri="{BB962C8B-B14F-4D97-AF65-F5344CB8AC3E}">
        <p14:creationId xmlns:p14="http://schemas.microsoft.com/office/powerpoint/2010/main" xmlns="" val="2235094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ea typeface="+mn-ea"/>
                <a:cs typeface="Times New Roman" panose="02020603050405020304" pitchFamily="18" charset="0"/>
              </a:rPr>
              <a:t>CONTENTS</a:t>
            </a:r>
          </a:p>
        </p:txBody>
      </p:sp>
      <p:sp>
        <p:nvSpPr>
          <p:cNvPr id="3" name="TextBox 2"/>
          <p:cNvSpPr txBox="1"/>
          <p:nvPr/>
        </p:nvSpPr>
        <p:spPr>
          <a:xfrm>
            <a:off x="685800" y="1943101"/>
            <a:ext cx="7391400" cy="3208571"/>
          </a:xfrm>
          <a:prstGeom prst="rect">
            <a:avLst/>
          </a:prstGeom>
          <a:noFill/>
        </p:spPr>
        <p:txBody>
          <a:bodyPr wrap="square" rtlCol="0">
            <a:spAutoFit/>
          </a:bodyPr>
          <a:lstStyle/>
          <a:p>
            <a:pPr marL="214313" indent="-214313">
              <a:buFont typeface="Arial" pitchFamily="34" charset="0"/>
              <a:buChar char="•"/>
            </a:pPr>
            <a:r>
              <a:rPr lang="en-US" sz="2400" b="1" dirty="0">
                <a:cs typeface="Times New Roman" pitchFamily="18" charset="0"/>
              </a:rPr>
              <a:t>Basics of  Thevenin’s theorem.</a:t>
            </a:r>
          </a:p>
          <a:p>
            <a:pPr marL="214313" indent="-214313">
              <a:buFont typeface="Arial" pitchFamily="34" charset="0"/>
              <a:buChar char="•"/>
            </a:pPr>
            <a:r>
              <a:rPr lang="en-US" sz="2400" b="1" dirty="0">
                <a:cs typeface="Times New Roman" pitchFamily="18" charset="0"/>
              </a:rPr>
              <a:t>Finding the Thevenin's equivalent circuit.</a:t>
            </a:r>
          </a:p>
          <a:p>
            <a:pPr marL="214313" indent="-214313">
              <a:buFont typeface="Arial" pitchFamily="34" charset="0"/>
              <a:buChar char="•"/>
            </a:pPr>
            <a:r>
              <a:rPr lang="en-US" sz="2400" b="1" dirty="0">
                <a:cs typeface="Times New Roman" pitchFamily="18" charset="0"/>
              </a:rPr>
              <a:t>Procedure for solving a circuit using Thevenin’s Theorem</a:t>
            </a:r>
          </a:p>
          <a:p>
            <a:pPr marL="214313" indent="-214313">
              <a:buFont typeface="Arial" pitchFamily="34" charset="0"/>
              <a:buChar char="•"/>
            </a:pPr>
            <a:r>
              <a:rPr lang="en-US" sz="2400" b="1" dirty="0">
                <a:cs typeface="Times New Roman" pitchFamily="18" charset="0"/>
              </a:rPr>
              <a:t>Problems.</a:t>
            </a:r>
          </a:p>
          <a:p>
            <a:pPr marL="214313" indent="-214313">
              <a:buFont typeface="Arial" pitchFamily="34" charset="0"/>
              <a:buChar char="•"/>
            </a:pPr>
            <a:r>
              <a:rPr lang="en-US" sz="2400" b="1" dirty="0">
                <a:cs typeface="Times New Roman" pitchFamily="18" charset="0"/>
              </a:rPr>
              <a:t>Practice Problems</a:t>
            </a:r>
          </a:p>
          <a:p>
            <a:pPr marL="214313" indent="-214313">
              <a:buFont typeface="Arial" pitchFamily="34" charset="0"/>
              <a:buChar char="•"/>
            </a:pPr>
            <a:r>
              <a:rPr lang="en-US" sz="2400" b="1" dirty="0">
                <a:cs typeface="Times New Roman" pitchFamily="18" charset="0"/>
              </a:rPr>
              <a:t>References</a:t>
            </a:r>
            <a:r>
              <a:rPr lang="en-US" sz="2100" b="1" dirty="0">
                <a:latin typeface="Times New Roman" pitchFamily="18" charset="0"/>
                <a:cs typeface="Times New Roman" pitchFamily="18" charset="0"/>
              </a:rPr>
              <a:t/>
            </a:r>
            <a:br>
              <a:rPr lang="en-US" sz="2100" b="1" dirty="0">
                <a:latin typeface="Times New Roman" pitchFamily="18" charset="0"/>
                <a:cs typeface="Times New Roman" pitchFamily="18" charset="0"/>
              </a:rPr>
            </a:br>
            <a:endParaRPr lang="en-US" sz="2100" b="1" dirty="0">
              <a:latin typeface="Times New Roman" pitchFamily="18" charset="0"/>
              <a:cs typeface="Times New Roman" pitchFamily="18" charset="0"/>
            </a:endParaRPr>
          </a:p>
          <a:p>
            <a:pPr marL="214313" indent="-214313">
              <a:buFont typeface="Arial" pitchFamily="34" charset="0"/>
              <a:buChar char="•"/>
            </a:pPr>
            <a:endParaRPr lang="en-US" sz="1350" b="1" dirty="0"/>
          </a:p>
        </p:txBody>
      </p:sp>
    </p:spTree>
    <p:extLst>
      <p:ext uri="{BB962C8B-B14F-4D97-AF65-F5344CB8AC3E}">
        <p14:creationId xmlns:p14="http://schemas.microsoft.com/office/powerpoint/2010/main" xmlns="" val="3063758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2900" y="232353"/>
            <a:ext cx="8458200" cy="769441"/>
          </a:xfrm>
          <a:prstGeom prst="rect">
            <a:avLst/>
          </a:prstGeom>
          <a:noFill/>
        </p:spPr>
        <p:txBody>
          <a:bodyPr wrap="square" rtlCol="0">
            <a:spAutoFit/>
          </a:bodyPr>
          <a:lstStyle/>
          <a:p>
            <a:pPr algn="ctr"/>
            <a:r>
              <a:rPr lang="en-US" sz="4400" b="1" dirty="0">
                <a:solidFill>
                  <a:srgbClr val="C00000"/>
                </a:solidFill>
                <a:latin typeface="+mj-lt"/>
                <a:cs typeface="Times New Roman" panose="02020603050405020304" pitchFamily="18" charset="0"/>
              </a:rPr>
              <a:t>Thevenin’s Theorem</a:t>
            </a:r>
          </a:p>
        </p:txBody>
      </p:sp>
      <p:sp>
        <p:nvSpPr>
          <p:cNvPr id="3" name="TextBox 2"/>
          <p:cNvSpPr txBox="1"/>
          <p:nvPr/>
        </p:nvSpPr>
        <p:spPr>
          <a:xfrm>
            <a:off x="228600" y="1258891"/>
            <a:ext cx="8686800" cy="3139321"/>
          </a:xfrm>
          <a:prstGeom prst="rect">
            <a:avLst/>
          </a:prstGeom>
          <a:noFill/>
        </p:spPr>
        <p:txBody>
          <a:bodyPr wrap="square" rtlCol="0">
            <a:spAutoFit/>
          </a:bodyPr>
          <a:lstStyle/>
          <a:p>
            <a:pPr marL="214313" indent="-214313">
              <a:buFont typeface="Arial" pitchFamily="34" charset="0"/>
              <a:buChar char="•"/>
            </a:pPr>
            <a:r>
              <a:rPr lang="en-US" sz="1600" dirty="0">
                <a:latin typeface="Times New Roman" pitchFamily="18" charset="0"/>
                <a:cs typeface="Times New Roman" pitchFamily="18" charset="0"/>
              </a:rPr>
              <a:t>M. L. Thevenin, a French engineer, introduced the Thevenin  theorem and its equivalent circuit in 1883. </a:t>
            </a:r>
          </a:p>
          <a:p>
            <a:pPr marL="214313" indent="-214313" algn="just">
              <a:buFont typeface="Arial" pitchFamily="34" charset="0"/>
              <a:buChar char="•"/>
            </a:pPr>
            <a:r>
              <a:rPr lang="en-US" sz="1600" b="1" dirty="0">
                <a:latin typeface="Times New Roman" pitchFamily="18" charset="0"/>
                <a:cs typeface="Times New Roman" pitchFamily="18" charset="0"/>
              </a:rPr>
              <a:t>Statement: Thevenin’s Theorem states that “</a:t>
            </a:r>
            <a:r>
              <a:rPr lang="en-US" sz="1600" b="1" i="1" dirty="0">
                <a:latin typeface="Times New Roman" pitchFamily="18" charset="0"/>
                <a:cs typeface="Times New Roman" pitchFamily="18" charset="0"/>
              </a:rPr>
              <a:t>Any linear circuit containing several independent or dependent voltages sources and resistances can be replaced by just one single voltage in series with a single resistance connected across the load</a:t>
            </a:r>
            <a:r>
              <a:rPr lang="en-US" sz="1600" b="1" dirty="0">
                <a:latin typeface="Times New Roman" pitchFamily="18" charset="0"/>
                <a:cs typeface="Times New Roman" pitchFamily="18" charset="0"/>
              </a:rPr>
              <a:t>”</a:t>
            </a:r>
            <a:r>
              <a:rPr lang="en-US" sz="1600" dirty="0">
                <a:latin typeface="Times New Roman" pitchFamily="18" charset="0"/>
                <a:cs typeface="Times New Roman" pitchFamily="18" charset="0"/>
              </a:rPr>
              <a:t>. In other words, it is possible to simplify any electrical circuit, no matter how complex, to an equivalent two-terminal circuit with just a single constant voltage source  known as Thevenin’s equivalent voltage (</a:t>
            </a:r>
            <a:r>
              <a:rPr lang="en-US" sz="1600" dirty="0" err="1">
                <a:latin typeface="Times New Roman" pitchFamily="18" charset="0"/>
                <a:cs typeface="Times New Roman" pitchFamily="18" charset="0"/>
              </a:rPr>
              <a:t>Vth</a:t>
            </a:r>
            <a:r>
              <a:rPr lang="en-US" sz="1600" dirty="0">
                <a:latin typeface="Times New Roman" pitchFamily="18" charset="0"/>
                <a:cs typeface="Times New Roman" pitchFamily="18" charset="0"/>
              </a:rPr>
              <a:t>) or open circuit voltage (</a:t>
            </a:r>
            <a:r>
              <a:rPr lang="en-US" sz="1600" dirty="0" err="1">
                <a:latin typeface="Times New Roman" pitchFamily="18" charset="0"/>
                <a:cs typeface="Times New Roman" pitchFamily="18" charset="0"/>
              </a:rPr>
              <a:t>Voc</a:t>
            </a:r>
            <a:r>
              <a:rPr lang="en-US" sz="1600" dirty="0">
                <a:latin typeface="Times New Roman" pitchFamily="18" charset="0"/>
                <a:cs typeface="Times New Roman" pitchFamily="18" charset="0"/>
              </a:rPr>
              <a:t>) in series with a resistance or impedance (Thevenin’s equivalent resistance, </a:t>
            </a:r>
            <a:r>
              <a:rPr lang="en-US" sz="1600" dirty="0" err="1">
                <a:latin typeface="Times New Roman" pitchFamily="18" charset="0"/>
                <a:cs typeface="Times New Roman" pitchFamily="18" charset="0"/>
              </a:rPr>
              <a:t>Rth</a:t>
            </a:r>
            <a:r>
              <a:rPr lang="en-US" sz="1600" dirty="0">
                <a:latin typeface="Times New Roman" pitchFamily="18" charset="0"/>
                <a:cs typeface="Times New Roman" pitchFamily="18" charset="0"/>
              </a:rPr>
              <a:t>)) connected to a load as shown below.</a:t>
            </a:r>
          </a:p>
          <a:p>
            <a:pPr marL="214313" indent="-214313">
              <a:buFont typeface="Wingdings" pitchFamily="2" charset="2"/>
              <a:buChar char="Ø"/>
            </a:pPr>
            <a:endParaRPr lang="en-US" sz="1350" dirty="0"/>
          </a:p>
          <a:p>
            <a:pPr marL="214313" indent="-214313">
              <a:buFont typeface="Wingdings" pitchFamily="2" charset="2"/>
              <a:buChar char="Ø"/>
            </a:pPr>
            <a:endParaRPr lang="en-US" sz="1350" dirty="0"/>
          </a:p>
          <a:p>
            <a:r>
              <a:rPr lang="en-US" sz="1350" dirty="0"/>
              <a:t/>
            </a:r>
            <a:br>
              <a:rPr lang="en-US" sz="1350" dirty="0"/>
            </a:br>
            <a:endParaRPr lang="en-US" sz="1350" dirty="0"/>
          </a:p>
        </p:txBody>
      </p:sp>
      <p:grpSp>
        <p:nvGrpSpPr>
          <p:cNvPr id="5" name="Group 9"/>
          <p:cNvGrpSpPr/>
          <p:nvPr/>
        </p:nvGrpSpPr>
        <p:grpSpPr>
          <a:xfrm>
            <a:off x="1426906" y="3754048"/>
            <a:ext cx="6421694" cy="2155487"/>
            <a:chOff x="1426906" y="3788318"/>
            <a:chExt cx="6421694" cy="2873983"/>
          </a:xfrm>
        </p:grpSpPr>
        <p:grpSp>
          <p:nvGrpSpPr>
            <p:cNvPr id="6" name="Group 8"/>
            <p:cNvGrpSpPr/>
            <p:nvPr/>
          </p:nvGrpSpPr>
          <p:grpSpPr>
            <a:xfrm>
              <a:off x="1426906" y="3788318"/>
              <a:ext cx="6421694" cy="2460082"/>
              <a:chOff x="1162665" y="3886017"/>
              <a:chExt cx="6553200" cy="2649999"/>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62665" y="3886017"/>
                <a:ext cx="6553200" cy="2649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8" name="Group 7"/>
              <p:cNvGrpSpPr/>
              <p:nvPr/>
            </p:nvGrpSpPr>
            <p:grpSpPr>
              <a:xfrm>
                <a:off x="5105400" y="4557252"/>
                <a:ext cx="2289687" cy="1143214"/>
                <a:chOff x="5105400" y="4557252"/>
                <a:chExt cx="2289687" cy="1143214"/>
              </a:xfrm>
            </p:grpSpPr>
            <p:sp>
              <p:nvSpPr>
                <p:cNvPr id="4" name="TextBox 3"/>
                <p:cNvSpPr txBox="1"/>
                <p:nvPr/>
              </p:nvSpPr>
              <p:spPr>
                <a:xfrm>
                  <a:off x="5105400" y="5269468"/>
                  <a:ext cx="1526458" cy="430998"/>
                </a:xfrm>
                <a:prstGeom prst="rect">
                  <a:avLst/>
                </a:prstGeom>
                <a:noFill/>
              </p:spPr>
              <p:txBody>
                <a:bodyPr wrap="square" rtlCol="0">
                  <a:spAutoFit/>
                </a:bodyPr>
                <a:lstStyle/>
                <a:p>
                  <a:r>
                    <a:rPr lang="en-US" sz="1350" b="1" dirty="0" err="1"/>
                    <a:t>Vth</a:t>
                  </a:r>
                  <a:r>
                    <a:rPr lang="en-US" sz="1350" b="1" dirty="0"/>
                    <a:t> or </a:t>
                  </a:r>
                  <a:r>
                    <a:rPr lang="en-US" sz="1350" b="1" dirty="0" err="1"/>
                    <a:t>Voc</a:t>
                  </a:r>
                  <a:endParaRPr lang="en-US" sz="1350" b="1" dirty="0"/>
                </a:p>
              </p:txBody>
            </p:sp>
            <p:sp>
              <p:nvSpPr>
                <p:cNvPr id="7" name="TextBox 6"/>
                <p:cNvSpPr txBox="1"/>
                <p:nvPr/>
              </p:nvSpPr>
              <p:spPr>
                <a:xfrm>
                  <a:off x="5868629" y="4557252"/>
                  <a:ext cx="1526458" cy="430998"/>
                </a:xfrm>
                <a:prstGeom prst="rect">
                  <a:avLst/>
                </a:prstGeom>
                <a:noFill/>
              </p:spPr>
              <p:txBody>
                <a:bodyPr wrap="square" rtlCol="0">
                  <a:spAutoFit/>
                </a:bodyPr>
                <a:lstStyle/>
                <a:p>
                  <a:r>
                    <a:rPr lang="en-US" sz="1350" b="1" dirty="0" err="1"/>
                    <a:t>Rth</a:t>
                  </a:r>
                  <a:endParaRPr lang="en-US" sz="1350" b="1" dirty="0"/>
                </a:p>
              </p:txBody>
            </p:sp>
          </p:grpSp>
        </p:grpSp>
        <p:sp>
          <p:nvSpPr>
            <p:cNvPr id="11" name="TextBox 10"/>
            <p:cNvSpPr txBox="1"/>
            <p:nvPr/>
          </p:nvSpPr>
          <p:spPr>
            <a:xfrm>
              <a:off x="1981200" y="6247444"/>
              <a:ext cx="1264073" cy="400109"/>
            </a:xfrm>
            <a:prstGeom prst="rect">
              <a:avLst/>
            </a:prstGeom>
            <a:noFill/>
          </p:spPr>
          <p:txBody>
            <a:bodyPr wrap="square" rtlCol="0">
              <a:spAutoFit/>
            </a:bodyPr>
            <a:lstStyle/>
            <a:p>
              <a:r>
                <a:rPr lang="en-US" sz="1350" b="1" dirty="0"/>
                <a:t>Fig. 1 (a)</a:t>
              </a:r>
            </a:p>
          </p:txBody>
        </p:sp>
        <p:sp>
          <p:nvSpPr>
            <p:cNvPr id="12" name="TextBox 11"/>
            <p:cNvSpPr txBox="1"/>
            <p:nvPr/>
          </p:nvSpPr>
          <p:spPr>
            <a:xfrm>
              <a:off x="5715000" y="6262192"/>
              <a:ext cx="1264073" cy="400109"/>
            </a:xfrm>
            <a:prstGeom prst="rect">
              <a:avLst/>
            </a:prstGeom>
            <a:noFill/>
          </p:spPr>
          <p:txBody>
            <a:bodyPr wrap="square" rtlCol="0">
              <a:spAutoFit/>
            </a:bodyPr>
            <a:lstStyle/>
            <a:p>
              <a:r>
                <a:rPr lang="en-US" sz="1350" b="1" dirty="0"/>
                <a:t>Fig. 1 (b)</a:t>
              </a:r>
            </a:p>
          </p:txBody>
        </p:sp>
      </p:grpSp>
    </p:spTree>
    <p:extLst>
      <p:ext uri="{BB962C8B-B14F-4D97-AF65-F5344CB8AC3E}">
        <p14:creationId xmlns:p14="http://schemas.microsoft.com/office/powerpoint/2010/main" xmlns="" val="2554129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700" y="237383"/>
            <a:ext cx="8229600" cy="886638"/>
          </a:xfrm>
        </p:spPr>
        <p:txBody>
          <a:bodyPr>
            <a:normAutofit fontScale="90000"/>
          </a:bodyPr>
          <a:lstStyle/>
          <a:p>
            <a:r>
              <a:rPr lang="en-US" sz="4000" b="1" dirty="0">
                <a:solidFill>
                  <a:srgbClr val="C00000"/>
                </a:solidFill>
                <a:ea typeface="+mn-ea"/>
                <a:cs typeface="Times New Roman" panose="02020603050405020304" pitchFamily="18" charset="0"/>
              </a:rPr>
              <a:t>Finding the Thevenin equivalent circuit </a:t>
            </a:r>
            <a:endParaRPr lang="en-US" dirty="0"/>
          </a:p>
        </p:txBody>
      </p:sp>
      <p:sp>
        <p:nvSpPr>
          <p:cNvPr id="3" name="Content Placeholder 2"/>
          <p:cNvSpPr>
            <a:spLocks noGrp="1"/>
          </p:cNvSpPr>
          <p:nvPr>
            <p:ph idx="1"/>
          </p:nvPr>
        </p:nvSpPr>
        <p:spPr>
          <a:xfrm>
            <a:off x="0" y="1485900"/>
            <a:ext cx="9115000" cy="2857500"/>
          </a:xfrm>
        </p:spPr>
        <p:txBody>
          <a:bodyPr>
            <a:noAutofit/>
          </a:bodyPr>
          <a:lstStyle/>
          <a:p>
            <a:pPr algn="just"/>
            <a:r>
              <a:rPr lang="en-US" sz="1350" b="1" dirty="0" err="1">
                <a:latin typeface="Times New Roman" pitchFamily="18" charset="0"/>
                <a:cs typeface="Times New Roman" pitchFamily="18" charset="0"/>
              </a:rPr>
              <a:t>Thevenin</a:t>
            </a:r>
            <a:r>
              <a:rPr lang="en-US" sz="1350" b="1" dirty="0">
                <a:latin typeface="Times New Roman" pitchFamily="18" charset="0"/>
                <a:cs typeface="Times New Roman" pitchFamily="18" charset="0"/>
              </a:rPr>
              <a:t> equivalent voltage </a:t>
            </a:r>
            <a:r>
              <a:rPr lang="en-US" sz="1350" b="1" dirty="0" err="1">
                <a:latin typeface="Times New Roman" pitchFamily="18" charset="0"/>
                <a:cs typeface="Times New Roman" pitchFamily="18" charset="0"/>
              </a:rPr>
              <a:t>Vth</a:t>
            </a:r>
            <a:r>
              <a:rPr lang="en-US" sz="1350" b="1" dirty="0">
                <a:latin typeface="Times New Roman" pitchFamily="18" charset="0"/>
                <a:cs typeface="Times New Roman" pitchFamily="18" charset="0"/>
              </a:rPr>
              <a:t> or Open circuit voltage , </a:t>
            </a:r>
            <a:r>
              <a:rPr lang="en-US" sz="1350" b="1" dirty="0" err="1">
                <a:latin typeface="Times New Roman" pitchFamily="18" charset="0"/>
                <a:cs typeface="Times New Roman" pitchFamily="18" charset="0"/>
              </a:rPr>
              <a:t>Voc</a:t>
            </a:r>
            <a:r>
              <a:rPr lang="en-US" sz="1350" b="1" dirty="0">
                <a:latin typeface="Times New Roman" pitchFamily="18" charset="0"/>
                <a:cs typeface="Times New Roman" pitchFamily="18" charset="0"/>
              </a:rPr>
              <a:t> :</a:t>
            </a:r>
            <a:r>
              <a:rPr lang="en-US" sz="1350" dirty="0">
                <a:latin typeface="Times New Roman" pitchFamily="18" charset="0"/>
                <a:cs typeface="Times New Roman" pitchFamily="18" charset="0"/>
              </a:rPr>
              <a:t>  In Fig.  2, an open circuit is connected across the terminals  A – B  of circuit shown in Fig. 1(a) or removing the load resistance R</a:t>
            </a:r>
            <a:r>
              <a:rPr lang="en-US" sz="1350" baseline="-25000" dirty="0">
                <a:latin typeface="Times New Roman" pitchFamily="18" charset="0"/>
                <a:cs typeface="Times New Roman" pitchFamily="18" charset="0"/>
              </a:rPr>
              <a:t>L</a:t>
            </a:r>
            <a:r>
              <a:rPr lang="en-US" sz="1350" dirty="0">
                <a:latin typeface="Times New Roman" pitchFamily="18" charset="0"/>
                <a:cs typeface="Times New Roman" pitchFamily="18" charset="0"/>
              </a:rPr>
              <a:t>  from A - B terminals. The voltage across that open circuit is  the open-circuit voltage, Voc.</a:t>
            </a:r>
          </a:p>
          <a:p>
            <a:pPr algn="just"/>
            <a:endParaRPr lang="en-US" sz="1350" dirty="0">
              <a:latin typeface="Times New Roman" pitchFamily="18" charset="0"/>
              <a:cs typeface="Times New Roman" pitchFamily="18" charset="0"/>
            </a:endParaRPr>
          </a:p>
          <a:p>
            <a:endParaRPr lang="en-US" sz="1350" dirty="0"/>
          </a:p>
          <a:p>
            <a:endParaRPr lang="en-US" sz="1350" dirty="0"/>
          </a:p>
          <a:p>
            <a:endParaRPr lang="en-US" sz="1350" dirty="0"/>
          </a:p>
          <a:p>
            <a:pPr marL="0" indent="0">
              <a:buNone/>
            </a:pPr>
            <a:endParaRPr lang="en-US" sz="1350" dirty="0"/>
          </a:p>
          <a:p>
            <a:pPr marL="0" indent="0">
              <a:buNone/>
            </a:pPr>
            <a:endParaRPr lang="en-US" sz="1350" dirty="0"/>
          </a:p>
          <a:p>
            <a:pPr algn="just"/>
            <a:r>
              <a:rPr lang="en-US" sz="1350" b="1" dirty="0">
                <a:latin typeface="Times New Roman" pitchFamily="18" charset="0"/>
                <a:cs typeface="Times New Roman" pitchFamily="18" charset="0"/>
              </a:rPr>
              <a:t>Short circuit current, </a:t>
            </a:r>
            <a:r>
              <a:rPr lang="en-US" sz="1350" b="1" dirty="0" err="1">
                <a:latin typeface="Times New Roman" pitchFamily="18" charset="0"/>
                <a:cs typeface="Times New Roman" pitchFamily="18" charset="0"/>
              </a:rPr>
              <a:t>Isc</a:t>
            </a:r>
            <a:r>
              <a:rPr lang="en-US" sz="1350" b="1" dirty="0">
                <a:latin typeface="Times New Roman" pitchFamily="18" charset="0"/>
                <a:cs typeface="Times New Roman" pitchFamily="18" charset="0"/>
              </a:rPr>
              <a:t>:  </a:t>
            </a:r>
            <a:r>
              <a:rPr lang="en-US" sz="1350" dirty="0">
                <a:latin typeface="Times New Roman" pitchFamily="18" charset="0"/>
                <a:cs typeface="Times New Roman" pitchFamily="18" charset="0"/>
              </a:rPr>
              <a:t>In Fig. 3,  a short circuit is connected across the terminals A - B. The current in that short circuit is the short-circuit current, </a:t>
            </a:r>
            <a:r>
              <a:rPr lang="en-US" sz="1350" dirty="0" err="1">
                <a:latin typeface="Times New Roman" pitchFamily="18" charset="0"/>
                <a:cs typeface="Times New Roman" pitchFamily="18" charset="0"/>
              </a:rPr>
              <a:t>Isc</a:t>
            </a:r>
            <a:r>
              <a:rPr lang="en-US" sz="1350" dirty="0">
                <a:latin typeface="Times New Roman" pitchFamily="18" charset="0"/>
                <a:cs typeface="Times New Roman" pitchFamily="18" charset="0"/>
              </a:rPr>
              <a:t>.</a:t>
            </a:r>
          </a:p>
          <a:p>
            <a:endParaRPr lang="en-US" sz="1350" dirty="0"/>
          </a:p>
          <a:p>
            <a:pPr marL="0" indent="0">
              <a:buNone/>
            </a:pPr>
            <a:r>
              <a:rPr lang="en-US" sz="1350" dirty="0"/>
              <a:t> </a:t>
            </a:r>
            <a:br>
              <a:rPr lang="en-US" sz="1350" dirty="0"/>
            </a:br>
            <a:endParaRPr lang="en-US" sz="1200" dirty="0"/>
          </a:p>
        </p:txBody>
      </p:sp>
      <p:grpSp>
        <p:nvGrpSpPr>
          <p:cNvPr id="4" name="Group 7"/>
          <p:cNvGrpSpPr/>
          <p:nvPr/>
        </p:nvGrpSpPr>
        <p:grpSpPr>
          <a:xfrm>
            <a:off x="3218603" y="2203177"/>
            <a:ext cx="3213525" cy="1568723"/>
            <a:chOff x="3352800" y="1828800"/>
            <a:chExt cx="3429000" cy="2349500"/>
          </a:xfrm>
        </p:grpSpPr>
        <p:graphicFrame>
          <p:nvGraphicFramePr>
            <p:cNvPr id="5" name="Object 4"/>
            <p:cNvGraphicFramePr>
              <a:graphicFrameLocks noChangeAspect="1"/>
            </p:cNvGraphicFramePr>
            <p:nvPr/>
          </p:nvGraphicFramePr>
          <p:xfrm>
            <a:off x="4572000" y="3962400"/>
            <a:ext cx="114300" cy="215900"/>
          </p:xfrm>
          <a:graphic>
            <a:graphicData uri="http://schemas.openxmlformats.org/presentationml/2006/ole">
              <p:oleObj spid="_x0000_s1026" name="Equation" r:id="rId3" imgW="2743200" imgH="5181600" progId="Equation.3">
                <p:embed/>
              </p:oleObj>
            </a:graphicData>
          </a:graphic>
        </p:graphicFrame>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352800" y="1828800"/>
              <a:ext cx="2590800" cy="21687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p:cNvSpPr txBox="1"/>
            <p:nvPr/>
          </p:nvSpPr>
          <p:spPr>
            <a:xfrm>
              <a:off x="5105400" y="2728518"/>
              <a:ext cx="1676400" cy="449437"/>
            </a:xfrm>
            <a:prstGeom prst="rect">
              <a:avLst/>
            </a:prstGeom>
            <a:noFill/>
          </p:spPr>
          <p:txBody>
            <a:bodyPr wrap="square" rtlCol="0">
              <a:spAutoFit/>
            </a:bodyPr>
            <a:lstStyle/>
            <a:p>
              <a:pPr algn="ctr"/>
              <a:r>
                <a:rPr lang="en-US" sz="1350" b="1" dirty="0" err="1"/>
                <a:t>Voc</a:t>
              </a:r>
              <a:r>
                <a:rPr lang="en-US" sz="1350" b="1" dirty="0"/>
                <a:t> or </a:t>
              </a:r>
              <a:r>
                <a:rPr lang="en-US" sz="1350" b="1" dirty="0" err="1"/>
                <a:t>Vth</a:t>
              </a:r>
              <a:endParaRPr lang="en-US" sz="1350" b="1" dirty="0"/>
            </a:p>
          </p:txBody>
        </p:sp>
        <p:sp>
          <p:nvSpPr>
            <p:cNvPr id="7" name="TextBox 6"/>
            <p:cNvSpPr txBox="1"/>
            <p:nvPr/>
          </p:nvSpPr>
          <p:spPr>
            <a:xfrm>
              <a:off x="5486400" y="2352057"/>
              <a:ext cx="381000" cy="449437"/>
            </a:xfrm>
            <a:prstGeom prst="rect">
              <a:avLst/>
            </a:prstGeom>
            <a:noFill/>
          </p:spPr>
          <p:txBody>
            <a:bodyPr wrap="square" rtlCol="0">
              <a:spAutoFit/>
            </a:bodyPr>
            <a:lstStyle/>
            <a:p>
              <a:pPr algn="ctr"/>
              <a:r>
                <a:rPr lang="en-US" sz="1350" b="1" dirty="0"/>
                <a:t>+</a:t>
              </a:r>
            </a:p>
          </p:txBody>
        </p:sp>
        <p:sp>
          <p:nvSpPr>
            <p:cNvPr id="10" name="TextBox 9"/>
            <p:cNvSpPr txBox="1"/>
            <p:nvPr/>
          </p:nvSpPr>
          <p:spPr>
            <a:xfrm>
              <a:off x="5486400" y="3135868"/>
              <a:ext cx="381000" cy="449437"/>
            </a:xfrm>
            <a:prstGeom prst="rect">
              <a:avLst/>
            </a:prstGeom>
            <a:noFill/>
          </p:spPr>
          <p:txBody>
            <a:bodyPr wrap="square" rtlCol="0">
              <a:spAutoFit/>
            </a:bodyPr>
            <a:lstStyle/>
            <a:p>
              <a:pPr algn="ctr"/>
              <a:r>
                <a:rPr lang="en-US" sz="1350" b="1" dirty="0"/>
                <a:t>-</a:t>
              </a:r>
            </a:p>
          </p:txBody>
        </p:sp>
      </p:grpSp>
      <p:grpSp>
        <p:nvGrpSpPr>
          <p:cNvPr id="8" name="Group 13"/>
          <p:cNvGrpSpPr/>
          <p:nvPr/>
        </p:nvGrpSpPr>
        <p:grpSpPr>
          <a:xfrm>
            <a:off x="3218604" y="4343400"/>
            <a:ext cx="3213524" cy="1371600"/>
            <a:chOff x="3218602" y="4648200"/>
            <a:chExt cx="3213525" cy="2092652"/>
          </a:xfrm>
        </p:grpSpPr>
        <p:pic>
          <p:nvPicPr>
            <p:cNvPr id="2055" name="Picture 7"/>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218602" y="4648200"/>
              <a:ext cx="2877397" cy="20926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11" name="Straight Connector 10"/>
            <p:cNvCxnSpPr/>
            <p:nvPr/>
          </p:nvCxnSpPr>
          <p:spPr>
            <a:xfrm>
              <a:off x="5680287" y="5029200"/>
              <a:ext cx="0" cy="13716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680287" y="5257800"/>
              <a:ext cx="0" cy="4572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892883" y="5544539"/>
              <a:ext cx="539244" cy="457836"/>
            </a:xfrm>
            <a:prstGeom prst="rect">
              <a:avLst/>
            </a:prstGeom>
            <a:noFill/>
          </p:spPr>
          <p:txBody>
            <a:bodyPr wrap="square" rtlCol="0">
              <a:spAutoFit/>
            </a:bodyPr>
            <a:lstStyle/>
            <a:p>
              <a:r>
                <a:rPr lang="en-US" sz="1350" b="1" dirty="0" err="1"/>
                <a:t>Isc</a:t>
              </a:r>
              <a:endParaRPr lang="en-US" sz="1350" b="1" dirty="0"/>
            </a:p>
          </p:txBody>
        </p:sp>
      </p:grpSp>
      <p:sp>
        <p:nvSpPr>
          <p:cNvPr id="15" name="TextBox 14"/>
          <p:cNvSpPr txBox="1"/>
          <p:nvPr/>
        </p:nvSpPr>
        <p:spPr>
          <a:xfrm>
            <a:off x="3765128" y="3543300"/>
            <a:ext cx="1264073" cy="300082"/>
          </a:xfrm>
          <a:prstGeom prst="rect">
            <a:avLst/>
          </a:prstGeom>
          <a:noFill/>
        </p:spPr>
        <p:txBody>
          <a:bodyPr wrap="square" rtlCol="0">
            <a:spAutoFit/>
          </a:bodyPr>
          <a:lstStyle/>
          <a:p>
            <a:r>
              <a:rPr lang="en-US" sz="1350" b="1" dirty="0"/>
              <a:t>Fig. 2</a:t>
            </a:r>
          </a:p>
        </p:txBody>
      </p:sp>
      <p:sp>
        <p:nvSpPr>
          <p:cNvPr id="20" name="TextBox 19"/>
          <p:cNvSpPr txBox="1"/>
          <p:nvPr/>
        </p:nvSpPr>
        <p:spPr>
          <a:xfrm>
            <a:off x="3886201" y="5666601"/>
            <a:ext cx="1264073" cy="300082"/>
          </a:xfrm>
          <a:prstGeom prst="rect">
            <a:avLst/>
          </a:prstGeom>
          <a:noFill/>
        </p:spPr>
        <p:txBody>
          <a:bodyPr wrap="square" rtlCol="0">
            <a:spAutoFit/>
          </a:bodyPr>
          <a:lstStyle/>
          <a:p>
            <a:r>
              <a:rPr lang="en-US" sz="1350" b="1" dirty="0"/>
              <a:t>Fig. 3</a:t>
            </a:r>
          </a:p>
        </p:txBody>
      </p:sp>
    </p:spTree>
    <p:extLst>
      <p:ext uri="{BB962C8B-B14F-4D97-AF65-F5344CB8AC3E}">
        <p14:creationId xmlns:p14="http://schemas.microsoft.com/office/powerpoint/2010/main" xmlns="" val="340991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43050"/>
            <a:ext cx="8610600" cy="3829050"/>
          </a:xfrm>
        </p:spPr>
        <p:txBody>
          <a:bodyPr>
            <a:normAutofit/>
          </a:bodyPr>
          <a:lstStyle/>
          <a:p>
            <a:r>
              <a:rPr lang="en-US" sz="1400" b="1" dirty="0" err="1">
                <a:cs typeface="Times New Roman" pitchFamily="18" charset="0"/>
              </a:rPr>
              <a:t>Thevenin</a:t>
            </a:r>
            <a:r>
              <a:rPr lang="en-US" sz="1400" b="1" dirty="0">
                <a:cs typeface="Times New Roman" pitchFamily="18" charset="0"/>
              </a:rPr>
              <a:t> equivalent resistance: </a:t>
            </a:r>
            <a:r>
              <a:rPr lang="en-US" sz="1400" dirty="0">
                <a:cs typeface="Times New Roman" pitchFamily="18" charset="0"/>
              </a:rPr>
              <a:t>Fig 4. indicates that </a:t>
            </a:r>
            <a:r>
              <a:rPr lang="en-US" sz="1400" dirty="0" err="1">
                <a:cs typeface="Times New Roman" pitchFamily="18" charset="0"/>
              </a:rPr>
              <a:t>Rth</a:t>
            </a:r>
            <a:r>
              <a:rPr lang="en-US" sz="1400" dirty="0">
                <a:cs typeface="Times New Roman" pitchFamily="18" charset="0"/>
              </a:rPr>
              <a:t>, is the </a:t>
            </a:r>
            <a:r>
              <a:rPr lang="en-US" sz="1400" dirty="0" err="1">
                <a:cs typeface="Times New Roman" pitchFamily="18" charset="0"/>
              </a:rPr>
              <a:t>thevenin</a:t>
            </a:r>
            <a:r>
              <a:rPr lang="en-US" sz="1400" dirty="0">
                <a:cs typeface="Times New Roman" pitchFamily="18" charset="0"/>
              </a:rPr>
              <a:t> equivalent resistance looking back into the circuit when all the independent voltage sources are replaced by short circuits and current sources by open circuits. However, dependent current and voltage sources are not replaced with open circuits or short circuits. </a:t>
            </a:r>
          </a:p>
          <a:p>
            <a:endParaRPr lang="en-US" sz="1350" dirty="0">
              <a:cs typeface="Times New Roman" pitchFamily="18" charset="0"/>
            </a:endParaRPr>
          </a:p>
          <a:p>
            <a:endParaRPr lang="en-US" sz="1350" dirty="0">
              <a:cs typeface="Times New Roman" pitchFamily="18" charset="0"/>
            </a:endParaRPr>
          </a:p>
          <a:p>
            <a:endParaRPr lang="en-US" sz="1350" dirty="0">
              <a:cs typeface="Times New Roman" pitchFamily="18" charset="0"/>
            </a:endParaRPr>
          </a:p>
          <a:p>
            <a:endParaRPr lang="en-US" sz="1350" dirty="0">
              <a:cs typeface="Times New Roman" pitchFamily="18" charset="0"/>
            </a:endParaRPr>
          </a:p>
          <a:p>
            <a:endParaRPr lang="en-US" sz="1350" dirty="0">
              <a:cs typeface="Times New Roman" pitchFamily="18" charset="0"/>
            </a:endParaRPr>
          </a:p>
          <a:p>
            <a:endParaRPr lang="en-US" sz="1350" dirty="0">
              <a:cs typeface="Times New Roman" pitchFamily="18" charset="0"/>
            </a:endParaRPr>
          </a:p>
          <a:p>
            <a:endParaRPr lang="en-US" sz="1350" dirty="0">
              <a:cs typeface="Times New Roman" pitchFamily="18" charset="0"/>
            </a:endParaRPr>
          </a:p>
          <a:p>
            <a:r>
              <a:rPr lang="en-US" sz="1400" dirty="0" err="1">
                <a:cs typeface="Times New Roman" pitchFamily="18" charset="0"/>
              </a:rPr>
              <a:t>Thevenin</a:t>
            </a:r>
            <a:r>
              <a:rPr lang="en-US" sz="1400" dirty="0">
                <a:cs typeface="Times New Roman" pitchFamily="18" charset="0"/>
              </a:rPr>
              <a:t> resistance, </a:t>
            </a:r>
            <a:r>
              <a:rPr lang="en-US" sz="1400" dirty="0" err="1">
                <a:cs typeface="Times New Roman" pitchFamily="18" charset="0"/>
              </a:rPr>
              <a:t>Rth</a:t>
            </a:r>
            <a:r>
              <a:rPr lang="en-US" sz="1400" dirty="0">
                <a:cs typeface="Times New Roman" pitchFamily="18" charset="0"/>
              </a:rPr>
              <a:t>, can be determined by repeatedly replacing series or parallel resistors by equivalent resistors.  Sometimes, a more formal method is required where,  a current source having current </a:t>
            </a:r>
            <a:r>
              <a:rPr lang="en-US" sz="1400" i="1" dirty="0">
                <a:cs typeface="Times New Roman" pitchFamily="18" charset="0"/>
              </a:rPr>
              <a:t>I</a:t>
            </a:r>
            <a:r>
              <a:rPr lang="en-US" sz="1400" i="1" baseline="-25000" dirty="0">
                <a:cs typeface="Times New Roman" pitchFamily="18" charset="0"/>
              </a:rPr>
              <a:t>t</a:t>
            </a:r>
            <a:r>
              <a:rPr lang="en-US" sz="1400" dirty="0">
                <a:cs typeface="Times New Roman" pitchFamily="18" charset="0"/>
              </a:rPr>
              <a:t>, is connected across the terminals of circuit and the voltage, </a:t>
            </a:r>
            <a:r>
              <a:rPr lang="en-US" sz="1400" i="1" dirty="0" err="1">
                <a:cs typeface="Times New Roman" pitchFamily="18" charset="0"/>
              </a:rPr>
              <a:t>V</a:t>
            </a:r>
            <a:r>
              <a:rPr lang="en-US" sz="1400" i="1" baseline="-25000" dirty="0" err="1">
                <a:cs typeface="Times New Roman" pitchFamily="18" charset="0"/>
              </a:rPr>
              <a:t>t</a:t>
            </a:r>
            <a:r>
              <a:rPr lang="en-US" sz="1400" dirty="0">
                <a:cs typeface="Times New Roman" pitchFamily="18" charset="0"/>
              </a:rPr>
              <a:t>, across the current source is calculated or measured. </a:t>
            </a:r>
          </a:p>
          <a:p>
            <a:pPr lvl="1"/>
            <a:r>
              <a:rPr lang="en-US" sz="1275" b="1" dirty="0">
                <a:cs typeface="Times New Roman" pitchFamily="18" charset="0"/>
              </a:rPr>
              <a:t>Then </a:t>
            </a:r>
            <a:r>
              <a:rPr lang="en-US" sz="1275" b="1" dirty="0" err="1">
                <a:cs typeface="Times New Roman" pitchFamily="18" charset="0"/>
              </a:rPr>
              <a:t>Thevenin</a:t>
            </a:r>
            <a:r>
              <a:rPr lang="en-US" sz="1275" b="1" dirty="0">
                <a:cs typeface="Times New Roman" pitchFamily="18" charset="0"/>
              </a:rPr>
              <a:t> equivalent resistance can be calculated as</a:t>
            </a:r>
          </a:p>
          <a:p>
            <a:endParaRPr lang="en-US" dirty="0"/>
          </a:p>
          <a:p>
            <a:endParaRPr lang="en-US" dirty="0"/>
          </a:p>
        </p:txBody>
      </p:sp>
      <p:graphicFrame>
        <p:nvGraphicFramePr>
          <p:cNvPr id="4" name="Object 3"/>
          <p:cNvGraphicFramePr>
            <a:graphicFrameLocks noChangeAspect="1"/>
          </p:cNvGraphicFramePr>
          <p:nvPr/>
        </p:nvGraphicFramePr>
        <p:xfrm>
          <a:off x="3962400" y="5306616"/>
          <a:ext cx="1066800" cy="636985"/>
        </p:xfrm>
        <a:graphic>
          <a:graphicData uri="http://schemas.openxmlformats.org/presentationml/2006/ole">
            <p:oleObj spid="_x0000_s2050" name="Equation" r:id="rId3" imgW="13411200" imgH="10668000" progId="Equation.3">
              <p:embed/>
            </p:oleObj>
          </a:graphicData>
        </a:graphic>
      </p:graphicFrame>
      <p:grpSp>
        <p:nvGrpSpPr>
          <p:cNvPr id="2" name="Group 11"/>
          <p:cNvGrpSpPr/>
          <p:nvPr/>
        </p:nvGrpSpPr>
        <p:grpSpPr>
          <a:xfrm>
            <a:off x="3124201" y="2400300"/>
            <a:ext cx="2808313" cy="1485900"/>
            <a:chOff x="3124200" y="2057400"/>
            <a:chExt cx="2808313" cy="1981200"/>
          </a:xfrm>
        </p:grpSpPr>
        <p:pic>
          <p:nvPicPr>
            <p:cNvPr id="3075"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124200" y="2057400"/>
              <a:ext cx="2724150" cy="198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p:cNvSpPr txBox="1"/>
            <p:nvPr/>
          </p:nvSpPr>
          <p:spPr>
            <a:xfrm>
              <a:off x="5393269" y="2667000"/>
              <a:ext cx="539244" cy="400109"/>
            </a:xfrm>
            <a:prstGeom prst="rect">
              <a:avLst/>
            </a:prstGeom>
            <a:noFill/>
          </p:spPr>
          <p:txBody>
            <a:bodyPr wrap="square" rtlCol="0">
              <a:spAutoFit/>
            </a:bodyPr>
            <a:lstStyle/>
            <a:p>
              <a:r>
                <a:rPr lang="en-US" sz="1350" b="1" dirty="0" err="1"/>
                <a:t>Rth</a:t>
              </a:r>
              <a:endParaRPr lang="en-US" sz="1350" b="1" dirty="0"/>
            </a:p>
          </p:txBody>
        </p:sp>
        <p:cxnSp>
          <p:nvCxnSpPr>
            <p:cNvPr id="9" name="Straight Arrow Connector 8"/>
            <p:cNvCxnSpPr/>
            <p:nvPr/>
          </p:nvCxnSpPr>
          <p:spPr>
            <a:xfrm flipH="1">
              <a:off x="5181600" y="3200400"/>
              <a:ext cx="666750"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848350" y="3200400"/>
              <a:ext cx="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3733801" y="3829050"/>
            <a:ext cx="1264073" cy="300082"/>
          </a:xfrm>
          <a:prstGeom prst="rect">
            <a:avLst/>
          </a:prstGeom>
          <a:noFill/>
        </p:spPr>
        <p:txBody>
          <a:bodyPr wrap="square" rtlCol="0">
            <a:spAutoFit/>
          </a:bodyPr>
          <a:lstStyle/>
          <a:p>
            <a:r>
              <a:rPr lang="en-US" sz="1350" b="1" dirty="0"/>
              <a:t>Fig. 4</a:t>
            </a:r>
          </a:p>
        </p:txBody>
      </p:sp>
      <p:sp>
        <p:nvSpPr>
          <p:cNvPr id="10" name="Title 1">
            <a:extLst>
              <a:ext uri="{FF2B5EF4-FFF2-40B4-BE49-F238E27FC236}">
                <a16:creationId xmlns:a16="http://schemas.microsoft.com/office/drawing/2014/main" xmlns="" id="{16276AEE-0856-4929-1490-242654C635BA}"/>
              </a:ext>
            </a:extLst>
          </p:cNvPr>
          <p:cNvSpPr txBox="1">
            <a:spLocks/>
          </p:cNvSpPr>
          <p:nvPr/>
        </p:nvSpPr>
        <p:spPr>
          <a:xfrm>
            <a:off x="442700" y="237383"/>
            <a:ext cx="8229600" cy="886638"/>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b="1" dirty="0">
                <a:solidFill>
                  <a:srgbClr val="C00000"/>
                </a:solidFill>
                <a:ea typeface="+mn-ea"/>
                <a:cs typeface="Times New Roman" panose="02020603050405020304" pitchFamily="18" charset="0"/>
              </a:rPr>
              <a:t>Finding the Thevenin equivalent circuit </a:t>
            </a:r>
            <a:endParaRPr lang="en-US" dirty="0"/>
          </a:p>
        </p:txBody>
      </p:sp>
    </p:spTree>
    <p:extLst>
      <p:ext uri="{BB962C8B-B14F-4D97-AF65-F5344CB8AC3E}">
        <p14:creationId xmlns:p14="http://schemas.microsoft.com/office/powerpoint/2010/main" xmlns="" val="1954823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63228"/>
            <a:ext cx="8686800" cy="651272"/>
          </a:xfrm>
        </p:spPr>
        <p:txBody>
          <a:bodyPr>
            <a:noAutofit/>
          </a:bodyPr>
          <a:lstStyle/>
          <a:p>
            <a:r>
              <a:rPr lang="en-US" sz="2400" b="1" dirty="0">
                <a:latin typeface="Times New Roman" pitchFamily="18" charset="0"/>
                <a:cs typeface="Times New Roman" pitchFamily="18" charset="0"/>
              </a:rPr>
              <a:t>Procedure for solving a circuit using Thevenin’s Theorem</a:t>
            </a:r>
          </a:p>
        </p:txBody>
      </p:sp>
      <p:sp>
        <p:nvSpPr>
          <p:cNvPr id="3" name="Content Placeholder 2"/>
          <p:cNvSpPr>
            <a:spLocks noGrp="1"/>
          </p:cNvSpPr>
          <p:nvPr>
            <p:ph idx="1"/>
          </p:nvPr>
        </p:nvSpPr>
        <p:spPr/>
        <p:txBody>
          <a:bodyPr/>
          <a:lstStyle/>
          <a:p>
            <a:r>
              <a:rPr lang="en-US" sz="2100" b="1" dirty="0"/>
              <a:t>Remove the load resistor R</a:t>
            </a:r>
            <a:r>
              <a:rPr lang="en-US" sz="2100" b="1" baseline="-25000" dirty="0"/>
              <a:t>L</a:t>
            </a:r>
            <a:r>
              <a:rPr lang="en-US" sz="2100" b="1" dirty="0"/>
              <a:t> or component concerned.</a:t>
            </a:r>
          </a:p>
          <a:p>
            <a:r>
              <a:rPr lang="en-US" sz="2100" b="1" dirty="0"/>
              <a:t>Find </a:t>
            </a:r>
            <a:r>
              <a:rPr lang="en-US" sz="2100" b="1" dirty="0" err="1"/>
              <a:t>R</a:t>
            </a:r>
            <a:r>
              <a:rPr lang="en-US" sz="2100" b="1" baseline="-25000" dirty="0" err="1"/>
              <a:t>th</a:t>
            </a:r>
            <a:r>
              <a:rPr lang="en-US" sz="2100" b="1" dirty="0"/>
              <a:t> by shorting all voltage sources or by open circuiting all the current sources.</a:t>
            </a:r>
          </a:p>
          <a:p>
            <a:r>
              <a:rPr lang="en-US" sz="2100" b="1" dirty="0"/>
              <a:t>Find V</a:t>
            </a:r>
            <a:r>
              <a:rPr lang="en-US" sz="2100" b="1" baseline="-25000" dirty="0"/>
              <a:t>oc</a:t>
            </a:r>
            <a:r>
              <a:rPr lang="en-US" sz="2100" b="1" dirty="0"/>
              <a:t> by the usual circuit analysis methods.</a:t>
            </a:r>
          </a:p>
          <a:p>
            <a:r>
              <a:rPr lang="en-US" sz="2100" b="1" dirty="0"/>
              <a:t>Find the current flowing through the load resistor R</a:t>
            </a:r>
            <a:r>
              <a:rPr lang="en-US" sz="2100" b="1" baseline="-25000" dirty="0"/>
              <a:t>L</a:t>
            </a:r>
            <a:r>
              <a:rPr lang="en-US" sz="2100" b="1" dirty="0"/>
              <a:t>.</a:t>
            </a:r>
          </a:p>
          <a:p>
            <a:endParaRPr lang="en-US" b="1" dirty="0"/>
          </a:p>
        </p:txBody>
      </p:sp>
    </p:spTree>
    <p:extLst>
      <p:ext uri="{BB962C8B-B14F-4D97-AF65-F5344CB8AC3E}">
        <p14:creationId xmlns:p14="http://schemas.microsoft.com/office/powerpoint/2010/main" xmlns="" val="1886876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82910"/>
          </a:xfrm>
        </p:spPr>
        <p:txBody>
          <a:bodyPr>
            <a:noAutofit/>
          </a:bodyPr>
          <a:lstStyle/>
          <a:p>
            <a:r>
              <a:rPr lang="en-US" b="1" dirty="0">
                <a:solidFill>
                  <a:srgbClr val="C00000"/>
                </a:solidFill>
                <a:ea typeface="+mn-ea"/>
                <a:cs typeface="Times New Roman" panose="02020603050405020304" pitchFamily="18" charset="0"/>
              </a:rPr>
              <a:t>Problems</a:t>
            </a:r>
          </a:p>
        </p:txBody>
      </p:sp>
      <p:sp>
        <p:nvSpPr>
          <p:cNvPr id="3" name="Content Placeholder 2"/>
          <p:cNvSpPr>
            <a:spLocks noGrp="1"/>
          </p:cNvSpPr>
          <p:nvPr>
            <p:ph idx="1"/>
          </p:nvPr>
        </p:nvSpPr>
        <p:spPr>
          <a:xfrm>
            <a:off x="0" y="1428750"/>
            <a:ext cx="9144000" cy="1257300"/>
          </a:xfrm>
        </p:spPr>
        <p:txBody>
          <a:bodyPr>
            <a:normAutofit/>
          </a:bodyPr>
          <a:lstStyle/>
          <a:p>
            <a:pPr>
              <a:buNone/>
            </a:pPr>
            <a:r>
              <a:rPr lang="en-US" sz="1800" b="1" dirty="0"/>
              <a:t>Q1. For the given circuit, calculate the current in 40 </a:t>
            </a:r>
            <a:r>
              <a:rPr lang="el-GR" sz="1800" b="1" dirty="0"/>
              <a:t>Ω</a:t>
            </a:r>
            <a:r>
              <a:rPr lang="en-US" sz="1800" b="1" dirty="0"/>
              <a:t> resistor using </a:t>
            </a:r>
            <a:r>
              <a:rPr lang="en-US" sz="1800" b="1" dirty="0" err="1"/>
              <a:t>Thevenin</a:t>
            </a:r>
            <a:r>
              <a:rPr lang="en-US" sz="1800" b="1" dirty="0"/>
              <a:t> theorem.</a:t>
            </a:r>
          </a:p>
          <a:p>
            <a:endParaRPr lang="en-US" sz="1800" b="1" dirty="0"/>
          </a:p>
          <a:p>
            <a:endParaRPr lang="en-US" sz="1800" b="1"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09801" y="2343150"/>
            <a:ext cx="4314265" cy="1714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18888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526" y="437554"/>
            <a:ext cx="8229600" cy="594122"/>
          </a:xfrm>
        </p:spPr>
        <p:txBody>
          <a:bodyPr>
            <a:noAutofit/>
          </a:bodyPr>
          <a:lstStyle/>
          <a:p>
            <a:r>
              <a:rPr lang="en-US" b="1" dirty="0">
                <a:solidFill>
                  <a:srgbClr val="C00000"/>
                </a:solidFill>
                <a:ea typeface="+mn-ea"/>
                <a:cs typeface="Times New Roman" panose="02020603050405020304" pitchFamily="18" charset="0"/>
              </a:rPr>
              <a:t>Problem-1 Solution</a:t>
            </a: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953001" y="1485900"/>
            <a:ext cx="3667125" cy="1457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extBox 3"/>
          <p:cNvSpPr txBox="1"/>
          <p:nvPr/>
        </p:nvSpPr>
        <p:spPr>
          <a:xfrm>
            <a:off x="228600" y="3028950"/>
            <a:ext cx="7467600" cy="300082"/>
          </a:xfrm>
          <a:prstGeom prst="rect">
            <a:avLst/>
          </a:prstGeom>
          <a:noFill/>
        </p:spPr>
        <p:txBody>
          <a:bodyPr wrap="square" rtlCol="0">
            <a:spAutoFit/>
          </a:bodyPr>
          <a:lstStyle/>
          <a:p>
            <a:r>
              <a:rPr lang="en-US" sz="1350" b="1" dirty="0"/>
              <a:t>Sol.  Step 1:  Calculate </a:t>
            </a:r>
            <a:r>
              <a:rPr lang="en-US" sz="1350" b="1" dirty="0" err="1"/>
              <a:t>Rth</a:t>
            </a:r>
            <a:endParaRPr lang="en-US" sz="1350" b="1" dirty="0"/>
          </a:p>
        </p:txBody>
      </p:sp>
      <p:pic>
        <p:nvPicPr>
          <p:cNvPr id="4099"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952999" y="3257551"/>
            <a:ext cx="4071741" cy="1974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7" name="Object 6"/>
          <p:cNvGraphicFramePr>
            <a:graphicFrameLocks noChangeAspect="1"/>
          </p:cNvGraphicFramePr>
          <p:nvPr/>
        </p:nvGraphicFramePr>
        <p:xfrm>
          <a:off x="609600" y="3600450"/>
          <a:ext cx="3018348" cy="632222"/>
        </p:xfrm>
        <a:graphic>
          <a:graphicData uri="http://schemas.openxmlformats.org/presentationml/2006/ole">
            <p:oleObj spid="_x0000_s3074" name="Equation" r:id="rId5" imgW="33832800" imgH="9448800" progId="Equation.3">
              <p:embed/>
            </p:oleObj>
          </a:graphicData>
        </a:graphic>
      </p:graphicFrame>
    </p:spTree>
    <p:extLst>
      <p:ext uri="{BB962C8B-B14F-4D97-AF65-F5344CB8AC3E}">
        <p14:creationId xmlns:p14="http://schemas.microsoft.com/office/powerpoint/2010/main" xmlns="" val="359133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466" y="240162"/>
            <a:ext cx="8229600" cy="857250"/>
          </a:xfrm>
        </p:spPr>
        <p:txBody>
          <a:bodyPr/>
          <a:lstStyle/>
          <a:p>
            <a:r>
              <a:rPr lang="en-US" b="1" dirty="0">
                <a:solidFill>
                  <a:srgbClr val="C00000"/>
                </a:solidFill>
                <a:ea typeface="+mn-ea"/>
                <a:cs typeface="Times New Roman" panose="02020603050405020304" pitchFamily="18" charset="0"/>
              </a:rPr>
              <a:t>Problem-1 continues </a:t>
            </a:r>
          </a:p>
        </p:txBody>
      </p:sp>
      <p:sp>
        <p:nvSpPr>
          <p:cNvPr id="3" name="TextBox 2"/>
          <p:cNvSpPr txBox="1"/>
          <p:nvPr/>
        </p:nvSpPr>
        <p:spPr>
          <a:xfrm>
            <a:off x="226142" y="1943100"/>
            <a:ext cx="8915400" cy="300082"/>
          </a:xfrm>
          <a:prstGeom prst="rect">
            <a:avLst/>
          </a:prstGeom>
          <a:noFill/>
        </p:spPr>
        <p:txBody>
          <a:bodyPr wrap="square" rtlCol="0">
            <a:spAutoFit/>
          </a:bodyPr>
          <a:lstStyle/>
          <a:p>
            <a:r>
              <a:rPr lang="en-US" sz="1350" b="1" dirty="0"/>
              <a:t>Sol.  Step 2:  Calculate </a:t>
            </a:r>
            <a:r>
              <a:rPr lang="en-US" sz="1350" b="1" dirty="0" err="1"/>
              <a:t>Vth</a:t>
            </a:r>
            <a:endParaRPr lang="en-US" sz="1350" b="1" dirty="0"/>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953000" y="2081601"/>
            <a:ext cx="3619500" cy="14358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5" name="Object 4"/>
          <p:cNvGraphicFramePr>
            <a:graphicFrameLocks noChangeAspect="1"/>
          </p:cNvGraphicFramePr>
          <p:nvPr/>
        </p:nvGraphicFramePr>
        <p:xfrm>
          <a:off x="478466" y="2343150"/>
          <a:ext cx="4474535" cy="1543050"/>
        </p:xfrm>
        <a:graphic>
          <a:graphicData uri="http://schemas.openxmlformats.org/presentationml/2006/ole">
            <p:oleObj spid="_x0000_s4098" name="Equation" r:id="rId4" imgW="61569600" imgH="26212800" progId="Equation.3">
              <p:embed/>
            </p:oleObj>
          </a:graphicData>
        </a:graphic>
      </p:graphicFrame>
    </p:spTree>
    <p:extLst>
      <p:ext uri="{BB962C8B-B14F-4D97-AF65-F5344CB8AC3E}">
        <p14:creationId xmlns:p14="http://schemas.microsoft.com/office/powerpoint/2010/main" xmlns="" val="1910707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28600" y="2057400"/>
            <a:ext cx="8915400" cy="300082"/>
          </a:xfrm>
          <a:prstGeom prst="rect">
            <a:avLst/>
          </a:prstGeom>
          <a:noFill/>
        </p:spPr>
        <p:txBody>
          <a:bodyPr wrap="square" rtlCol="0">
            <a:spAutoFit/>
          </a:bodyPr>
          <a:lstStyle/>
          <a:p>
            <a:r>
              <a:rPr lang="en-US" sz="1350" b="1" dirty="0"/>
              <a:t>Step 3:  Calculate  current across 40</a:t>
            </a:r>
            <a:r>
              <a:rPr lang="el-GR" sz="1350" b="1" dirty="0"/>
              <a:t> Ω</a:t>
            </a:r>
            <a:endParaRPr lang="en-US" sz="1350" b="1" dirty="0"/>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24400" y="2167731"/>
            <a:ext cx="3944178" cy="18899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8" name="Object 7"/>
          <p:cNvGraphicFramePr>
            <a:graphicFrameLocks noChangeAspect="1"/>
          </p:cNvGraphicFramePr>
          <p:nvPr/>
        </p:nvGraphicFramePr>
        <p:xfrm>
          <a:off x="457201" y="2971801"/>
          <a:ext cx="3812643" cy="676672"/>
        </p:xfrm>
        <a:graphic>
          <a:graphicData uri="http://schemas.openxmlformats.org/presentationml/2006/ole">
            <p:oleObj spid="_x0000_s5122" name="Equation" r:id="rId4" imgW="39928800" imgH="9448800" progId="Equation.3">
              <p:embed/>
            </p:oleObj>
          </a:graphicData>
        </a:graphic>
      </p:graphicFrame>
      <p:sp>
        <p:nvSpPr>
          <p:cNvPr id="5" name="Title 1">
            <a:extLst>
              <a:ext uri="{FF2B5EF4-FFF2-40B4-BE49-F238E27FC236}">
                <a16:creationId xmlns:a16="http://schemas.microsoft.com/office/drawing/2014/main" xmlns="" id="{19D3E44F-49CF-57A0-E8D7-774A9BEA01AC}"/>
              </a:ext>
            </a:extLst>
          </p:cNvPr>
          <p:cNvSpPr txBox="1">
            <a:spLocks/>
          </p:cNvSpPr>
          <p:nvPr/>
        </p:nvSpPr>
        <p:spPr>
          <a:xfrm>
            <a:off x="478466" y="240162"/>
            <a:ext cx="8229600" cy="857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solidFill>
                  <a:srgbClr val="C00000"/>
                </a:solidFill>
                <a:ea typeface="+mn-ea"/>
                <a:cs typeface="Times New Roman" panose="02020603050405020304" pitchFamily="18" charset="0"/>
              </a:rPr>
              <a:t>Problem-1 continues </a:t>
            </a:r>
          </a:p>
        </p:txBody>
      </p:sp>
    </p:spTree>
    <p:extLst>
      <p:ext uri="{BB962C8B-B14F-4D97-AF65-F5344CB8AC3E}">
        <p14:creationId xmlns:p14="http://schemas.microsoft.com/office/powerpoint/2010/main" xmlns="" val="1000649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741107"/>
          </a:xfrm>
        </p:spPr>
        <p:txBody>
          <a:bodyPr>
            <a:normAutofit fontScale="90000"/>
          </a:bodyPr>
          <a:lstStyle/>
          <a:p>
            <a:r>
              <a:rPr lang="en-US" sz="4900" b="1" dirty="0">
                <a:solidFill>
                  <a:srgbClr val="C00000"/>
                </a:solidFill>
                <a:ea typeface="+mn-ea"/>
                <a:cs typeface="Times New Roman" panose="02020603050405020304" pitchFamily="18" charset="0"/>
              </a:rPr>
              <a:t>Problem 2</a:t>
            </a:r>
          </a:p>
        </p:txBody>
      </p:sp>
      <p:sp>
        <p:nvSpPr>
          <p:cNvPr id="3" name="TextBox 2"/>
          <p:cNvSpPr txBox="1"/>
          <p:nvPr/>
        </p:nvSpPr>
        <p:spPr>
          <a:xfrm>
            <a:off x="228600" y="1543051"/>
            <a:ext cx="8915400" cy="707886"/>
          </a:xfrm>
          <a:prstGeom prst="rect">
            <a:avLst/>
          </a:prstGeom>
          <a:noFill/>
        </p:spPr>
        <p:txBody>
          <a:bodyPr wrap="square" rtlCol="0">
            <a:spAutoFit/>
          </a:bodyPr>
          <a:lstStyle/>
          <a:p>
            <a:r>
              <a:rPr lang="en-US" sz="2000" b="1" dirty="0"/>
              <a:t>Q2. Determine the </a:t>
            </a:r>
            <a:r>
              <a:rPr lang="en-US" sz="2000" b="1" dirty="0" err="1"/>
              <a:t>Thevenin</a:t>
            </a:r>
            <a:r>
              <a:rPr lang="en-US" sz="2000" b="1" dirty="0"/>
              <a:t> equivalent circuit for the circuit shown in Figure. </a:t>
            </a:r>
            <a:br>
              <a:rPr lang="en-US" sz="2000" b="1" dirty="0"/>
            </a:br>
            <a:endParaRPr lang="en-US" sz="2000" b="1"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35696" y="2132856"/>
            <a:ext cx="4801975" cy="18664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50456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32656"/>
            <a:ext cx="8229600" cy="741107"/>
          </a:xfrm>
        </p:spPr>
        <p:txBody>
          <a:bodyPr>
            <a:normAutofit fontScale="90000"/>
          </a:bodyPr>
          <a:lstStyle/>
          <a:p>
            <a:r>
              <a:rPr lang="en-US" sz="4900" b="1" dirty="0">
                <a:solidFill>
                  <a:srgbClr val="C00000"/>
                </a:solidFill>
                <a:ea typeface="+mn-ea"/>
                <a:cs typeface="Times New Roman" panose="02020603050405020304" pitchFamily="18" charset="0"/>
              </a:rPr>
              <a:t>Problem</a:t>
            </a:r>
            <a:r>
              <a:rPr lang="en-US" b="1" dirty="0"/>
              <a:t> </a:t>
            </a:r>
            <a:r>
              <a:rPr lang="en-US" sz="4900" b="1" dirty="0">
                <a:solidFill>
                  <a:srgbClr val="C00000"/>
                </a:solidFill>
                <a:ea typeface="+mn-ea"/>
                <a:cs typeface="Times New Roman" panose="02020603050405020304" pitchFamily="18" charset="0"/>
              </a:rPr>
              <a:t>2</a:t>
            </a:r>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81790" y="1771650"/>
            <a:ext cx="3528810" cy="1371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p:cNvSpPr txBox="1"/>
          <p:nvPr/>
        </p:nvSpPr>
        <p:spPr>
          <a:xfrm>
            <a:off x="228600" y="3028950"/>
            <a:ext cx="8915400" cy="300082"/>
          </a:xfrm>
          <a:prstGeom prst="rect">
            <a:avLst/>
          </a:prstGeom>
          <a:noFill/>
        </p:spPr>
        <p:txBody>
          <a:bodyPr wrap="square" rtlCol="0">
            <a:spAutoFit/>
          </a:bodyPr>
          <a:lstStyle/>
          <a:p>
            <a:r>
              <a:rPr lang="en-US" sz="1350" b="1" dirty="0"/>
              <a:t>Sol.  Step 1:  Calculate </a:t>
            </a:r>
            <a:r>
              <a:rPr lang="en-US" sz="1350" b="1" dirty="0" err="1"/>
              <a:t>Rth</a:t>
            </a:r>
            <a:endParaRPr lang="en-US" sz="1350" b="1" dirty="0"/>
          </a:p>
        </p:txBody>
      </p:sp>
      <p:pic>
        <p:nvPicPr>
          <p:cNvPr id="6147"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051323" y="3486151"/>
            <a:ext cx="3819591"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7" name="Object 6"/>
          <p:cNvGraphicFramePr>
            <a:graphicFrameLocks noChangeAspect="1"/>
          </p:cNvGraphicFramePr>
          <p:nvPr/>
        </p:nvGraphicFramePr>
        <p:xfrm>
          <a:off x="381000" y="3714751"/>
          <a:ext cx="3581400" cy="763922"/>
        </p:xfrm>
        <a:graphic>
          <a:graphicData uri="http://schemas.openxmlformats.org/presentationml/2006/ole">
            <p:oleObj spid="_x0000_s6146" name="Equation" r:id="rId5" imgW="33223200" imgH="9448800" progId="Equation.3">
              <p:embed/>
            </p:oleObj>
          </a:graphicData>
        </a:graphic>
      </p:graphicFrame>
    </p:spTree>
    <p:extLst>
      <p:ext uri="{BB962C8B-B14F-4D97-AF65-F5344CB8AC3E}">
        <p14:creationId xmlns:p14="http://schemas.microsoft.com/office/powerpoint/2010/main" xmlns="" val="225115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28632"/>
            <a:ext cx="8229600" cy="922963"/>
          </a:xfrm>
        </p:spPr>
        <p:txBody>
          <a:bodyPr>
            <a:noAutofit/>
          </a:bodyPr>
          <a:lstStyle/>
          <a:p>
            <a:r>
              <a:rPr lang="en-US" b="1" dirty="0">
                <a:solidFill>
                  <a:srgbClr val="C00000"/>
                </a:solidFill>
                <a:ea typeface="+mn-ea"/>
                <a:cs typeface="Times New Roman" panose="02020603050405020304" pitchFamily="18" charset="0"/>
              </a:rPr>
              <a:t>Problem 2 continues </a:t>
            </a:r>
          </a:p>
        </p:txBody>
      </p:sp>
      <p:sp>
        <p:nvSpPr>
          <p:cNvPr id="3" name="TextBox 2"/>
          <p:cNvSpPr txBox="1"/>
          <p:nvPr/>
        </p:nvSpPr>
        <p:spPr>
          <a:xfrm>
            <a:off x="226142" y="1600200"/>
            <a:ext cx="8915400" cy="300082"/>
          </a:xfrm>
          <a:prstGeom prst="rect">
            <a:avLst/>
          </a:prstGeom>
          <a:noFill/>
        </p:spPr>
        <p:txBody>
          <a:bodyPr wrap="square" rtlCol="0">
            <a:spAutoFit/>
          </a:bodyPr>
          <a:lstStyle/>
          <a:p>
            <a:r>
              <a:rPr lang="en-US" sz="1350" b="1" dirty="0"/>
              <a:t>Sol.  Step 2:  Calculate </a:t>
            </a:r>
            <a:r>
              <a:rPr lang="en-US" sz="1350" b="1" dirty="0" err="1"/>
              <a:t>Vth</a:t>
            </a:r>
            <a:endParaRPr lang="en-US" sz="1350" b="1" dirty="0"/>
          </a:p>
        </p:txBody>
      </p:sp>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377939" y="1738699"/>
            <a:ext cx="3453134" cy="12902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5" name="Object 4"/>
          <p:cNvGraphicFramePr>
            <a:graphicFrameLocks noChangeAspect="1"/>
          </p:cNvGraphicFramePr>
          <p:nvPr/>
        </p:nvGraphicFramePr>
        <p:xfrm>
          <a:off x="914400" y="2107600"/>
          <a:ext cx="2362669" cy="807050"/>
        </p:xfrm>
        <a:graphic>
          <a:graphicData uri="http://schemas.openxmlformats.org/presentationml/2006/ole">
            <p:oleObj spid="_x0000_s7170" name="Equation" r:id="rId4" imgW="30784800" imgH="14020800" progId="Equation.3">
              <p:embed/>
            </p:oleObj>
          </a:graphicData>
        </a:graphic>
      </p:graphicFrame>
      <p:sp>
        <p:nvSpPr>
          <p:cNvPr id="7" name="TextBox 6"/>
          <p:cNvSpPr txBox="1"/>
          <p:nvPr/>
        </p:nvSpPr>
        <p:spPr>
          <a:xfrm>
            <a:off x="228600" y="3371850"/>
            <a:ext cx="7543800" cy="300082"/>
          </a:xfrm>
          <a:prstGeom prst="rect">
            <a:avLst/>
          </a:prstGeom>
          <a:noFill/>
        </p:spPr>
        <p:txBody>
          <a:bodyPr wrap="square" rtlCol="0">
            <a:spAutoFit/>
          </a:bodyPr>
          <a:lstStyle/>
          <a:p>
            <a:r>
              <a:rPr lang="en-US" sz="1350" b="1" dirty="0"/>
              <a:t>Step 3:  </a:t>
            </a:r>
            <a:r>
              <a:rPr lang="en-US" sz="1350" b="1" dirty="0" err="1"/>
              <a:t>Thevenin</a:t>
            </a:r>
            <a:r>
              <a:rPr lang="en-US" sz="1350" b="1" dirty="0"/>
              <a:t> equivalent circuit</a:t>
            </a:r>
          </a:p>
        </p:txBody>
      </p:sp>
      <p:pic>
        <p:nvPicPr>
          <p:cNvPr id="7171" name="Picture 3"/>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267200" y="3771900"/>
            <a:ext cx="2405584" cy="14287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7635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826" y="325867"/>
            <a:ext cx="8229600" cy="857250"/>
          </a:xfrm>
        </p:spPr>
        <p:txBody>
          <a:bodyPr>
            <a:normAutofit/>
          </a:bodyPr>
          <a:lstStyle/>
          <a:p>
            <a:r>
              <a:rPr lang="en-US" b="1" dirty="0">
                <a:solidFill>
                  <a:srgbClr val="C00000"/>
                </a:solidFill>
                <a:ea typeface="+mn-ea"/>
                <a:cs typeface="Times New Roman" panose="02020603050405020304" pitchFamily="18" charset="0"/>
              </a:rPr>
              <a:t>Practice Problems</a:t>
            </a:r>
          </a:p>
        </p:txBody>
      </p:sp>
      <p:sp>
        <p:nvSpPr>
          <p:cNvPr id="3" name="TextBox 2"/>
          <p:cNvSpPr txBox="1"/>
          <p:nvPr/>
        </p:nvSpPr>
        <p:spPr>
          <a:xfrm>
            <a:off x="152400" y="1771651"/>
            <a:ext cx="8839200" cy="507831"/>
          </a:xfrm>
          <a:prstGeom prst="rect">
            <a:avLst/>
          </a:prstGeom>
          <a:noFill/>
        </p:spPr>
        <p:txBody>
          <a:bodyPr wrap="square" rtlCol="0">
            <a:spAutoFit/>
          </a:bodyPr>
          <a:lstStyle/>
          <a:p>
            <a:r>
              <a:rPr lang="en-US" sz="1350" b="1" dirty="0"/>
              <a:t>Q1.  Determine the </a:t>
            </a:r>
            <a:r>
              <a:rPr lang="en-US" sz="1350" b="1" dirty="0" err="1"/>
              <a:t>Thevenin</a:t>
            </a:r>
            <a:r>
              <a:rPr lang="en-US" sz="1350" b="1" dirty="0"/>
              <a:t> equivalent network for the following circuit. </a:t>
            </a:r>
            <a:br>
              <a:rPr lang="en-US" sz="1350" b="1" dirty="0"/>
            </a:br>
            <a:endParaRPr lang="en-US" sz="1350" b="1" dirty="0"/>
          </a:p>
        </p:txBody>
      </p:sp>
      <p:sp>
        <p:nvSpPr>
          <p:cNvPr id="4" name="TextBox 3"/>
          <p:cNvSpPr txBox="1"/>
          <p:nvPr/>
        </p:nvSpPr>
        <p:spPr>
          <a:xfrm>
            <a:off x="5562600" y="2400300"/>
            <a:ext cx="2667000" cy="300082"/>
          </a:xfrm>
          <a:prstGeom prst="rect">
            <a:avLst/>
          </a:prstGeom>
          <a:noFill/>
        </p:spPr>
        <p:txBody>
          <a:bodyPr wrap="square" rtlCol="0">
            <a:spAutoFit/>
          </a:bodyPr>
          <a:lstStyle/>
          <a:p>
            <a:r>
              <a:rPr lang="en-US" sz="1350" b="1" dirty="0"/>
              <a:t>Ans.  </a:t>
            </a:r>
            <a:r>
              <a:rPr lang="en-US" sz="1350" b="1" dirty="0" err="1"/>
              <a:t>V</a:t>
            </a:r>
            <a:r>
              <a:rPr lang="en-US" sz="1350" b="1" baseline="-25000" dirty="0" err="1"/>
              <a:t>th</a:t>
            </a:r>
            <a:r>
              <a:rPr lang="en-US" sz="1350" b="1" dirty="0"/>
              <a:t> = 2V, </a:t>
            </a:r>
            <a:r>
              <a:rPr lang="en-US" sz="1350" b="1" dirty="0" err="1"/>
              <a:t>R</a:t>
            </a:r>
            <a:r>
              <a:rPr lang="en-US" sz="1350" b="1" baseline="-25000" dirty="0" err="1"/>
              <a:t>th</a:t>
            </a:r>
            <a:r>
              <a:rPr lang="en-US" sz="1350" b="1" dirty="0"/>
              <a:t> = 4</a:t>
            </a:r>
            <a:r>
              <a:rPr lang="el-GR" sz="1350" b="1" dirty="0"/>
              <a:t>Ω</a:t>
            </a:r>
            <a:endParaRPr lang="en-US" sz="1350" b="1" dirty="0"/>
          </a:p>
        </p:txBody>
      </p:sp>
      <p:sp>
        <p:nvSpPr>
          <p:cNvPr id="6" name="TextBox 5"/>
          <p:cNvSpPr txBox="1"/>
          <p:nvPr/>
        </p:nvSpPr>
        <p:spPr>
          <a:xfrm>
            <a:off x="145026" y="3437752"/>
            <a:ext cx="8839200" cy="300082"/>
          </a:xfrm>
          <a:prstGeom prst="rect">
            <a:avLst/>
          </a:prstGeom>
          <a:noFill/>
        </p:spPr>
        <p:txBody>
          <a:bodyPr wrap="square" rtlCol="0">
            <a:spAutoFit/>
          </a:bodyPr>
          <a:lstStyle/>
          <a:p>
            <a:r>
              <a:rPr lang="en-US" sz="1350" b="1" dirty="0"/>
              <a:t>Q2.  Calculate the value of </a:t>
            </a:r>
            <a:r>
              <a:rPr lang="en-US" sz="1350" b="1" i="1" dirty="0"/>
              <a:t>I</a:t>
            </a:r>
            <a:r>
              <a:rPr lang="en-US" sz="1350" b="1" dirty="0"/>
              <a:t>, using </a:t>
            </a:r>
            <a:r>
              <a:rPr lang="en-US" sz="1350" b="1" dirty="0" err="1"/>
              <a:t>Thevenin</a:t>
            </a:r>
            <a:r>
              <a:rPr lang="en-US" sz="1350" b="1" dirty="0"/>
              <a:t> theorem. Also find </a:t>
            </a:r>
            <a:r>
              <a:rPr lang="en-US" sz="1350" b="1" dirty="0" err="1"/>
              <a:t>Thevenin</a:t>
            </a:r>
            <a:r>
              <a:rPr lang="en-US" sz="1350" b="1" dirty="0"/>
              <a:t> equivalent network</a:t>
            </a:r>
          </a:p>
        </p:txBody>
      </p:sp>
      <p:pic>
        <p:nvPicPr>
          <p:cNvPr id="32770" name="Picture 2"/>
          <p:cNvPicPr>
            <a:picLocks noChangeAspect="1" noChangeArrowheads="1"/>
          </p:cNvPicPr>
          <p:nvPr/>
        </p:nvPicPr>
        <p:blipFill>
          <a:blip r:embed="rId2" cstate="print"/>
          <a:srcRect/>
          <a:stretch>
            <a:fillRect/>
          </a:stretch>
        </p:blipFill>
        <p:spPr bwMode="auto">
          <a:xfrm>
            <a:off x="1905001" y="2057400"/>
            <a:ext cx="3199976" cy="1380182"/>
          </a:xfrm>
          <a:prstGeom prst="rect">
            <a:avLst/>
          </a:prstGeom>
          <a:noFill/>
          <a:ln w="9525">
            <a:noFill/>
            <a:miter lim="800000"/>
            <a:headEnd/>
            <a:tailEnd/>
          </a:ln>
        </p:spPr>
      </p:pic>
      <p:pic>
        <p:nvPicPr>
          <p:cNvPr id="32771" name="Picture 3"/>
          <p:cNvPicPr>
            <a:picLocks noChangeAspect="1" noChangeArrowheads="1"/>
          </p:cNvPicPr>
          <p:nvPr/>
        </p:nvPicPr>
        <p:blipFill>
          <a:blip r:embed="rId3" cstate="print"/>
          <a:srcRect/>
          <a:stretch>
            <a:fillRect/>
          </a:stretch>
        </p:blipFill>
        <p:spPr bwMode="auto">
          <a:xfrm>
            <a:off x="1447801" y="3943351"/>
            <a:ext cx="4872037" cy="1491440"/>
          </a:xfrm>
          <a:prstGeom prst="rect">
            <a:avLst/>
          </a:prstGeom>
          <a:noFill/>
          <a:ln w="9525">
            <a:noFill/>
            <a:miter lim="800000"/>
            <a:headEnd/>
            <a:tailEnd/>
          </a:ln>
        </p:spPr>
      </p:pic>
      <p:sp>
        <p:nvSpPr>
          <p:cNvPr id="10" name="Rectangle 9"/>
          <p:cNvSpPr/>
          <p:nvPr/>
        </p:nvSpPr>
        <p:spPr>
          <a:xfrm>
            <a:off x="762001" y="5486400"/>
            <a:ext cx="2916311" cy="300082"/>
          </a:xfrm>
          <a:prstGeom prst="rect">
            <a:avLst/>
          </a:prstGeom>
        </p:spPr>
        <p:txBody>
          <a:bodyPr wrap="none">
            <a:spAutoFit/>
          </a:bodyPr>
          <a:lstStyle/>
          <a:p>
            <a:r>
              <a:rPr lang="en-IN" sz="1350" b="1" dirty="0"/>
              <a:t>Answer: </a:t>
            </a:r>
            <a:r>
              <a:rPr lang="en-IN" sz="1350" b="1" dirty="0" err="1"/>
              <a:t>V</a:t>
            </a:r>
            <a:r>
              <a:rPr lang="en-IN" sz="1350" b="1" baseline="-25000" dirty="0" err="1"/>
              <a:t>Th</a:t>
            </a:r>
            <a:r>
              <a:rPr lang="en-IN" sz="1350" b="1" dirty="0"/>
              <a:t> = 9 V, </a:t>
            </a:r>
            <a:r>
              <a:rPr lang="en-IN" sz="1350" b="1" dirty="0" err="1"/>
              <a:t>R</a:t>
            </a:r>
            <a:r>
              <a:rPr lang="en-IN" sz="1350" b="1" baseline="-25000" dirty="0" err="1"/>
              <a:t>Th</a:t>
            </a:r>
            <a:r>
              <a:rPr lang="en-IN" sz="1350" b="1" dirty="0"/>
              <a:t> = 3 </a:t>
            </a:r>
            <a:r>
              <a:rPr lang="el-GR" sz="1350" b="1" dirty="0"/>
              <a:t>Ω</a:t>
            </a:r>
            <a:r>
              <a:rPr lang="en-IN" sz="1350" b="1" dirty="0"/>
              <a:t>, I = 2.25 A.</a:t>
            </a:r>
          </a:p>
        </p:txBody>
      </p:sp>
    </p:spTree>
    <p:extLst>
      <p:ext uri="{BB962C8B-B14F-4D97-AF65-F5344CB8AC3E}">
        <p14:creationId xmlns:p14="http://schemas.microsoft.com/office/powerpoint/2010/main" xmlns="" val="328151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ea typeface="+mn-ea"/>
                <a:cs typeface="Times New Roman" panose="02020603050405020304" pitchFamily="18" charset="0"/>
              </a:rPr>
              <a:t>References</a:t>
            </a:r>
          </a:p>
        </p:txBody>
      </p:sp>
      <p:sp>
        <p:nvSpPr>
          <p:cNvPr id="4" name="TextBox 3"/>
          <p:cNvSpPr txBox="1"/>
          <p:nvPr/>
        </p:nvSpPr>
        <p:spPr>
          <a:xfrm>
            <a:off x="457200" y="2057401"/>
            <a:ext cx="8153400" cy="507831"/>
          </a:xfrm>
          <a:prstGeom prst="rect">
            <a:avLst/>
          </a:prstGeom>
          <a:noFill/>
        </p:spPr>
        <p:txBody>
          <a:bodyPr wrap="square" rtlCol="0">
            <a:spAutoFit/>
          </a:bodyPr>
          <a:lstStyle/>
          <a:p>
            <a:r>
              <a:rPr lang="en-US" sz="1350" b="1" dirty="0">
                <a:latin typeface="Times New Roman" pitchFamily="18" charset="0"/>
                <a:cs typeface="Times New Roman" pitchFamily="18" charset="0"/>
              </a:rPr>
              <a:t>[1] R.C. </a:t>
            </a:r>
            <a:r>
              <a:rPr lang="en-US" sz="1350" b="1" dirty="0" err="1">
                <a:latin typeface="Times New Roman" pitchFamily="18" charset="0"/>
                <a:cs typeface="Times New Roman" pitchFamily="18" charset="0"/>
              </a:rPr>
              <a:t>Dorf</a:t>
            </a:r>
            <a:r>
              <a:rPr lang="en-US" sz="1350" b="1" dirty="0">
                <a:latin typeface="Times New Roman" pitchFamily="18" charset="0"/>
                <a:cs typeface="Times New Roman" pitchFamily="18" charset="0"/>
              </a:rPr>
              <a:t> and James A. Svoboda, “Introduction to Electric Circuits”, 9</a:t>
            </a:r>
            <a:r>
              <a:rPr lang="en-US" sz="1350" b="1" baseline="30000" dirty="0">
                <a:latin typeface="Times New Roman" pitchFamily="18" charset="0"/>
                <a:cs typeface="Times New Roman" pitchFamily="18" charset="0"/>
              </a:rPr>
              <a:t>th</a:t>
            </a:r>
            <a:r>
              <a:rPr lang="en-US" sz="1350" b="1" dirty="0">
                <a:latin typeface="Times New Roman" pitchFamily="18" charset="0"/>
                <a:cs typeface="Times New Roman" pitchFamily="18" charset="0"/>
              </a:rPr>
              <a:t> </a:t>
            </a:r>
            <a:r>
              <a:rPr lang="en-US" sz="1350" b="1" dirty="0" err="1">
                <a:latin typeface="Times New Roman" pitchFamily="18" charset="0"/>
                <a:cs typeface="Times New Roman" pitchFamily="18" charset="0"/>
              </a:rPr>
              <a:t>ed</a:t>
            </a:r>
            <a:r>
              <a:rPr lang="en-US" sz="1350" b="1" dirty="0">
                <a:latin typeface="Times New Roman" pitchFamily="18" charset="0"/>
                <a:cs typeface="Times New Roman" pitchFamily="18" charset="0"/>
              </a:rPr>
              <a:t>, John Wiley &amp; Sons, 2013.</a:t>
            </a:r>
          </a:p>
          <a:p>
            <a:endParaRPr lang="en-US" sz="1350" b="1" dirty="0"/>
          </a:p>
        </p:txBody>
      </p:sp>
    </p:spTree>
    <p:extLst>
      <p:ext uri="{BB962C8B-B14F-4D97-AF65-F5344CB8AC3E}">
        <p14:creationId xmlns:p14="http://schemas.microsoft.com/office/powerpoint/2010/main" xmlns="" val="702450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503</Words>
  <Application>Microsoft Office PowerPoint</Application>
  <PresentationFormat>On-screen Show (4:3)</PresentationFormat>
  <Paragraphs>80</Paragraphs>
  <Slides>15</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17" baseType="lpstr">
      <vt:lpstr>Office Theme</vt:lpstr>
      <vt:lpstr>Equation</vt:lpstr>
      <vt:lpstr>Slide 1</vt:lpstr>
      <vt:lpstr>CONTENTS</vt:lpstr>
      <vt:lpstr>Slide 3</vt:lpstr>
      <vt:lpstr>Finding the Thevenin equivalent circuit </vt:lpstr>
      <vt:lpstr>Slide 5</vt:lpstr>
      <vt:lpstr>Procedure for solving a circuit using Thevenin’s Theorem</vt:lpstr>
      <vt:lpstr>Problems</vt:lpstr>
      <vt:lpstr>Problem-1 Solution</vt:lpstr>
      <vt:lpstr>Problem-1 continues </vt:lpstr>
      <vt:lpstr>Slide 10</vt:lpstr>
      <vt:lpstr>Problem 2</vt:lpstr>
      <vt:lpstr>Problem 2</vt:lpstr>
      <vt:lpstr>Problem 2 continues </vt:lpstr>
      <vt:lpstr>Practice Problems</vt:lpstr>
      <vt:lpstr>References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ankur bhardwaj</dc:creator>
  <cp:lastModifiedBy>ankur.bhardwaj</cp:lastModifiedBy>
  <cp:revision>1</cp:revision>
  <dcterms:created xsi:type="dcterms:W3CDTF">2006-08-16T00:00:00Z</dcterms:created>
  <dcterms:modified xsi:type="dcterms:W3CDTF">2024-08-14T03:48:21Z</dcterms:modified>
</cp:coreProperties>
</file>