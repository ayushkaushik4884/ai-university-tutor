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8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5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1-02-02T07:30:07.50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231 5 8,'1'0'10,"-1"0"4,0 0 2,0 0 4,0 0-1,0 0 6,0-2 1,0 1 5,0 0 3,0 0-1,0 3 2,0-1-2,0-1-1,0 2-3,0-1-6,0-1-6,0 0-1,0 0-5,0 0-5,0 0-4,0 0 1,0 0-3,0 0 1,0 0 2,0 0-3,0 0 4,1 0-3,-1 0 2,0 0 1,0 0 1,0 0 1,0 0 0,0 0 0,0 0-1,0 0 5,0 0-3,0 0-2,0 0 0,0 0-1,0 0 0,0 0 0,1 0 1,-1 0-1,0 2 0,1-1 3,-1 0-1,0-1 3,0-1 4,0 1 0,0 0 4,0 0 0,0 0 4,0 0-3,0 0 1,0 0-3,0 0-4,0 0-2,0 0-1,-1 0-2,1 0-3,0 0 0,0 0-4,-1 0 1,0 0-1,0 0 0,0 0 2,1 0-2,0 0 0,0 0 2,0 0 1,0 0 2,0 0 1,-1 0 1,1 0 2,0 0 6,0 0-1,0 0 0,-1 0-1,0 0 2,0 0-1,0 0-4,1 0-1,0 0-3,0 0 0,0 0-2,-1 0-1,0 0-1,0 0 0,-1 0-2,1 0 2,0 0-2,-1 0 0,1 0 0,0 0 0,-1 0 0,1 0 0,0 0 1,0 0-1,0 0 0,0 0 0,0-1-1,0 1 1,0 0 0,0 0-1,0 0 0,0 0 1,0 0 1,0 0-1,0 0 1,0 0 0,0 0-1,0 0 2,0-2-1,1 2-1,-1 0 1,0-1-1,-1 1-1,0 0 1,0 0 1,0 0-1,1 0 0,0 0 0,-1 0 0,1-2 2,0 2-2,0-1 4,0 0-3,0 1-1,0 0 0,0 0 1,0 0 2,0 0-1,0 0 2,-1 0-3,1 0 1,0 0 3,0 0-2,0 0-3,0 0 0,1 0 0,-1 0 0,0 0 0,1 0 0,0 0 0,0 0 0,-2 0 0,1 0 0,0 0 0,0 0 2,0 0-1,0 0 0,-1 0-1,1 0 0,0 0 0,0 0 0,0 0 0,0-1 0,0 1 0,0 0 0,0 0 0,0 0 3,0 0-3,0 0 0,0 0 0,0 0 0,0 0 0,0 0 0,-1 0-1,0 0-1,0 0 2,-1 0 0,1 0 0,-1 1 0,1-1-4,0 1 4,0 0-2,0-1 2,0 0 2,0 0-2,0 0 0,0 0 0,0 0 3,0 0-2,0 0 1,-1 0-2,1 0-2,0 0 2,0 0 0,0 2-2,0-1 0,1-1 2,0 0 0,0 2 0,0-2 0,0 0 0,-2 0 0,2 0-2,-1 1 2,1-1 0,0 1 2,0-1-2,0 0 3,0 1-3,0 0 1,0-1-1,-2 1 0,1-1 0,0 0-2,1 0 0,0 0 0,0 1 2,0-1 0,0 1 0,0 0-1,0 0 0,0-1-1,0 2 0,0-1 0,0-1 2,0 1 0,0 0-1,0-1 0,-1 1 1,0 0 0,1 0 0,0 0 0,0 0 0,0 0 0,0 0 2,-1-1 0,1 1-2,-1 0 0,1-1 3,1 2-1,0-2-2,0 0-2,0 1 2,0-1 0,0 1 0,0 1 0,0-2 0,0 1 0,0 0 3,0 0-1,0 0-2,0 0 0,1 0 0,-1 0 0,2 0 0,-1 0 0,1 1 0,-1-2 0,0 3 2,0-3 0,0 1-2,0 0 2,1 1-1,0-1-1,0 1 4,0 0-1,0 0-2,1-2-1,0 1 1,0 1 1,0-2-1,0 2-1,-1-1-1,0 0 1,0 0 1,0 1 1,0-1-1,1 0 0,-1 2-1,1-3 0,0 2 1,-1-1-1,0 0-1,0 1 1,0 0 0,1-1 0,-1 1 0,0-2 0,0 2-2,0-1 2,0-1 0,1 1-1,0 1 1,0-2-2,0 1-1,1 1 1,1-1 2,-1 0 0,0 0 1,0 0-1,0 0-3,-1 0 3,0-1 0,1 2 3,0-2-3,0 1-1,0 1-1,0-2 2,0 1 2,0 0-1,0 0 0,1 0 0,-1 0 2,0 0-1,0-1-2,0 2 0,0-1-2,1-1 1,0 2-2,-1-1 3,-1 0-1,0 0-2,0 0 2,0 0-2,0 0 0,-1 0 3,0 0-1,0 0 2,0 0-1,1 0 0,-1 0 0,-1-1 0,0 2 0,0-1 0,1-1-1,-1 1-2,0 0 3,0 0-2,0 0 1,0 0 2,0 0-1,0 0 0,0 0-1,0 0 0,0 1 0,0-2 2,0 3 0,0-2-1,0 0 0,0 1 1,0-1 1,0 0-2,0 0 3,0 0-2,-1 0-1,1 1-4,0-1 0,-1-1 2,1 2 0,1-2 2,-2 2 0,1 0-2,-1 0 2,0 0 4,0-1-2,0 2 0,0-1-2,1-1 0,-1 1 0,0 0 0,0 0-1,0-1 1,0 1 1,0 0-1,0-1 0,0 1 0,0-1 0,0 1 2,-1 0-2,0 0 3,-1 0-3,1 0 0,0-1 0,0 1 0,0 0-3,-1 0 3,1 0 0,-1 0 0,1-1 0,-1-1 0,0 2 0,1-1 0,-1 1 3,0-1-3,0 1 1,-1-1 1,1 1-1,0-1-1,-2 0 0,2 0 1,-1 2 1,0-1-1,0-2-1,0 1 0,0 0 0,-1 0 0,0 0 0,-1 0 0,1 0 0,-1 0 3,0 0-2,0 0 0,0-1 2,-1 1-3,2 0 0,0 0 0,0-1 0,0 1-3,-1-1 2,2 0 1,0 0 0,-1 0 0,1 0 1,0 0 3,0 0 1,1 0 6,0 0 1,1 0 4,0 0-2,0 0 7,0 0 1,0-1-2,-1 1-7,1-1 1,0 0-6,-1 0-1,0 0 0,-1 0-6,1 0 2,-1 0-1,0 0 4,0 0-4,0 0 1,1 0-1,0 0-1,0 1-1,0 0 0,0-2 0,0 2 1,0 0-1,-1-1 1,1 1 2,0 0-5,1-2 1,0 2 2,0-1 3,0 0-1,0 0 4,-1 0 1,0 0-3,1 0 6,0 0-1,-2 0-3,1 0 0,-1 1-3,-8-3 0,7 1-2,0 2-2,0 0 0,0-1 0,0 0 0,1 0 2,-1 0 1,1 0 4,0-1 2,1 1 1,-1 0 3,0-2 3,1 2 3,0-1-1,0 0 0,0 0-2,0 1-4,0 0-1,-1 0-3,2 0-2,0 1-2,0-3-2,0 3 0,0-1-2,0 0 4,0 1-2,0 0 0,1 0-1,0-1-1,0 0-2,0 1 1,0 0-1,0 0-2,1 0-1,-1 0-7,1 0-9,0 0-12,0-1-16,1 0-27,2-1-43,0-2-61,0 1-100,-1-1-54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5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1-02-02T07:30:11.653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231 27 32,'0'0'75,"0"0"-13,0 0-10,0 0-13,0 0-11,0 0-6,1 0-6,-1 0-2,0 0-6,0 0-2,0 0 1,0 0-2,0 0 1,0 0 0,1 0-2,-1 0-2,0 0 4,0 0-2,0 0 2,0 0 3,0 0 2,0 0 2,0 1 1,0-1 1,0 2 0,0-2 0,0 0-2,-1 0 0,1 0-5,0 0-1,0 0-3,0 0 0,0 0-3,0 0 1,0 0-1,0 0 0,0 0 0,0 0 4,0 0-1,0 0 1,0 1 1,0-1 0,0 0 1,0 0-1,0 0 2,0 0-4,0 0 0,-1 0 0,0 0-1,0 0-1,1 0-2,1 0 0,-1 0 2,0 0-1,0 0 1,0 0-1,0 0 5,0 0-1,0 0 4,0 1 2,0-1 3,0 0-1,0 0 4,0 0-1,0 0-2,0 2 4,-1-2-3,1 0-4,0 0-2,0 0-1,0 0 0,0 0-4,-1 0-1,1 0-3,0 0 0,0 0 0,0 0 0,0 0 0,0 0-1,-1 0 2,0 0 0,0 0 3,0 0 3,1 0-1,-1 0 3,-2 0 4,2 0 2,0 0 1,1-2 1,0 1-2,-1 1 1,0 0-3,0 0-2,0 0-1,0-1-3,0-1-4,0 2 1,0-1-4,0 0 2,0 0 1,0 0-3,0 0 0,0 0-1,0 1 1,0-1-2,0 0 4,0 0-2,0 0-2,-1 1 4,0 0-2,0-1 1,-1 1-1,1-1 1,0-1-1,0 2 0,0-1 2,0 0-2,0 0-1,-1 0 1,2 0 1,0 0-1,0 0-3,0 0 0,0 1 1,-1-1 2,0 1-2,0 0 1,0 0 1,-1 0 0,1 0 1,0 0-1,0 0 0,0 0 0,0 0 0,0 0-1,-1-2 1,1 2-1,0-1 1,0 1 0,0 0 0,0 0 0,0 0 1,1 0-2,-1 0 0,1 0 1,0 0 0,0 0 1,0 0 0,1 0 2,0 0-3,0-2 2,0 2 0,-1 0-4,1 0 0,0 2 2,0-1 0,-1-1-3,0 2 3,0-4-1,0 2 1,0 0 2,0 0-2,0 0 2,0 0-2,-1 0 0,0 0 0,0 0 2,0 0-2,0 0-4,1 0 2,-1 0 1,1 0 1,0 0 1,-1 0 0,1 0-2,0 0 1,0 2 4,0-2-2,0 0 0,1 0-4,0 0 0,-1 0 2,1 1 0,0 0 0,0-1 0,0 0 0,0 0 0,0 0 0,-1 1 0,1 0 0,-1-1 0,1 1 0,0-1 0,-1 1 0,1-1 0,-1 1 0,-1 0 0,1 0 0,0-1 2,0 2-2,0-1 2,0-1-2,0 1 0,0 0 0,0 0 2,0 1-2,1 0 1,0 0 0,0-1 0,-1 0 2,0 1 0,0-1-2,1-1 1,0 1 1,0 1-3,0-2 0,0 1 3,0 0-2,0 0 0,-1 1 1,1 0-2,0 0 0,0 0 3,0-1-1,0 1 0,0 0-2,0 0 2,0 0 1,0 0 0,0-1 4,1 1-1,0 1-2,-1-2 0,1 1-1,0 0 2,0 0 1,0 0-5,3 1-2,-2-1 1,1-1 0,-1 1 0,4 2-4,-2-2 4,-1-1 1,0 1-1,0-1 0,0 1 3,0 0-3,0 0 0,0 0-1,0-1-2,0 0 0,1 0 3,-1 1 0,0-1 0,0 1 0,0 0 4,0 0-1,0-1-3,0 0 0,0 2 1,2-1 1,-1-1-2,0 1-2,0-1 0,1 0-1,-1 1 4,0-1 1,0 0-2,1 1 0,-1-1-3,-1 1 3,0-1 0,0 0 1,0 0-1,-1 0 2,0 0-2,0 1 0,0-1 1,1 0-1,-2 0 0,0 0 0,0 0 0,0-1 0,0 1 0,0 1 0,0-2 0,0 1 0,-1 0 0,0 0 0,1 0 0,-1 1 0,1 0 0,0 0 0,-1-1 0,0 0 0,0-1 0,0 2 0,1-1 0,-1 0 0,0 1 0,0 0 0,0-1-1,0 1 1,0 0 0,0-1 0,0 1 0,0 0-2,0 0 4,0 0-2,0 0 0,0 0-3,0 0 3,-1 1 0,0-2 0,1 2 0,-1 0-3,1-1 3,0 0 1,0-1 1,0 1-2,-1 0 0,0 0 0,0 1 0,1-1 0,0 0 0,0-1 1,0 1 1,0 0-1,-1 0 2,0 0-2,0 0-2,0-1-1,0 2 1,0-1 0,-2-1 1,2 1-3,0 0 3,-1 0-2,0 1 4,0-1-1,0 1 2,0-2-2,0 1 1,0 0-1,0 0 2,0-1-2,1 0 2,-1 0-2,0 0-1,0-1 0,-1 1 2,1 1 0,-1-2 0,0 1 0,0 0-1,-2 0 2,0 0 1,0 0-1,-2 0 1,1 0-2,1 0 1,0 0-3,0-1 1,-3 0 2,2 0 1,0 0-3,1 0-1,1 0 6,1 0 1,-1 0 9,1 0-1,0 0 2,0 0-1,0-1 2,0 0 3,1-1-1,-1 0-2,0 0-11,1-1 4,-1 1-1,-1-1 0,1 1 0,1 0-2,-1 0-3,0 1-3,0-2 1,0 2-3,0-1 0,-1 0-2,1 1 1,-1 0-3,1 0 1,0 0 3,0 0 0,0 0 2,1 0-2,0 1 0,0-2 1,1 2 1,0-1 0,0-1-2,0 2 1,1-1 1,-1 0 1,0 0 1,1 0 4,0 0 1,0 0 3,0 0-1,0 0 2,0 0 2,0 1-2,0-2 1,-1 2-4,1-3-4,-1 2 2,-1-1-4,2-1 0,0 0-2,-1 0-2,0 1 0,0 0 1,0 0 0,0 0 1,0 0 0,0 1 0,-1-1-1,2 1 0,0 1 0,0-1-1,0 1 0,0-1 0,0 1 0,0 0 0,0 0-2,0 0 0,2 0-1,-1 0-1,-1 0 0,1 1-4,0 0-7,-1-1-11,1 1-19,1 1-35,1-4-54,-1 1-131,-1 0-72,-2 0-36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19D3B6-6258-4BDB-B993-0F5AE2CA06BC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D0AA70-3E6F-4E28-B63B-8B162CB23E3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ADFAFA-5C95-4778-B23F-B0E5A512A27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84958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34.png"/><Relationship Id="rId4" Type="http://schemas.openxmlformats.org/officeDocument/2006/relationships/customXml" Target="../ink/ink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50351" y="908720"/>
            <a:ext cx="5243295" cy="3293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  <a:latin typeface="+mj-lt"/>
              </a:rPr>
              <a:t>BASIC ELECTRONICS</a:t>
            </a:r>
          </a:p>
          <a:p>
            <a:pPr algn="ctr"/>
            <a:r>
              <a:rPr lang="en-US" sz="4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(24B11EC111)</a:t>
            </a:r>
          </a:p>
          <a:p>
            <a:pPr algn="ctr"/>
            <a:r>
              <a:rPr lang="en-US" sz="4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Unit-1</a:t>
            </a:r>
          </a:p>
          <a:p>
            <a:pPr algn="ctr"/>
            <a:r>
              <a:rPr lang="en-US" sz="4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Lecture-3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(Voltage Divider Rule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>
                <a:latin typeface="Times New Roman" pitchFamily="18" charset="0"/>
                <a:cs typeface="Times New Roman" pitchFamily="18" charset="0"/>
              </a:rPr>
              <a:pPr/>
              <a:t>1</a:t>
            </a:fld>
            <a:endParaRPr lang="en-IN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75531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33400" y="0"/>
            <a:ext cx="77724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304800" y="1295400"/>
            <a:ext cx="8229600" cy="4572000"/>
          </a:xfrm>
        </p:spPr>
        <p:txBody>
          <a:bodyPr>
            <a:normAutofit lnSpcReduction="10000"/>
          </a:bodyPr>
          <a:lstStyle/>
          <a:p>
            <a:r>
              <a:rPr lang="en-IN" sz="2800" b="1" dirty="0">
                <a:latin typeface="+mj-lt"/>
              </a:rPr>
              <a:t>Voltage Divider Rule</a:t>
            </a:r>
          </a:p>
          <a:p>
            <a:r>
              <a:rPr lang="en-IN" sz="2800" b="1" dirty="0">
                <a:latin typeface="+mj-lt"/>
              </a:rPr>
              <a:t>Voltage Divider Calculation for two series resistors</a:t>
            </a:r>
          </a:p>
          <a:p>
            <a:r>
              <a:rPr lang="en-US" sz="2800" b="1" dirty="0">
                <a:latin typeface="+mj-lt"/>
              </a:rPr>
              <a:t>Voltage Divider Rule Using more than two Resistor</a:t>
            </a:r>
          </a:p>
          <a:p>
            <a:r>
              <a:rPr lang="en-US" sz="2800" b="1" dirty="0">
                <a:latin typeface="+mj-lt"/>
                <a:cs typeface="Times New Roman" pitchFamily="18" charset="0"/>
              </a:rPr>
              <a:t>Practice Problem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Parallel resistors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Current division rule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Numerical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Practice Problems</a:t>
            </a:r>
            <a:endParaRPr lang="en-US" sz="2800" b="1" dirty="0">
              <a:latin typeface="+mj-lt"/>
              <a:cs typeface="Times New Roman" pitchFamily="18" charset="0"/>
            </a:endParaRPr>
          </a:p>
          <a:p>
            <a:r>
              <a:rPr lang="en-US" sz="2800" b="1" dirty="0">
                <a:latin typeface="+mj-lt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28119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8A71B4-A2B8-47BF-9D10-F2F3D1C5A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C00000"/>
                </a:solidFill>
                <a:cs typeface="Times New Roman" panose="02020603050405020304" pitchFamily="18" charset="0"/>
              </a:rPr>
              <a:t>Voltage Divider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ACDF8EE-E754-4C52-85B6-DAA48AA09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voltage divider is a basic circuit, used to generate a part of its input voltage like an output. This circuit can be designed with two resistors otherwise any passive components along with a voltage source. </a:t>
            </a:r>
          </a:p>
          <a:p>
            <a:endParaRPr lang="en-US" sz="2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resistors in the circuit can be connected in series whereas a voltage source is connected across these resistors. This circuit is also called a potential divider. </a:t>
            </a:r>
          </a:p>
          <a:p>
            <a:endParaRPr lang="en-US" sz="2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input voltage can be transmitted between the two resistors in the circuit so that the division of voltage takes place.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03256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5B9F49-0B9B-436F-9383-0BB98AF1C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76200"/>
            <a:ext cx="8915400" cy="1143000"/>
          </a:xfrm>
        </p:spPr>
        <p:txBody>
          <a:bodyPr anchor="ctr">
            <a:noAutofit/>
          </a:bodyPr>
          <a:lstStyle/>
          <a:p>
            <a:r>
              <a:rPr lang="en-IN" sz="3200" b="1" dirty="0">
                <a:solidFill>
                  <a:srgbClr val="C00000"/>
                </a:solidFill>
                <a:cs typeface="Times New Roman" panose="02020603050405020304" pitchFamily="18" charset="0"/>
              </a:rPr>
              <a:t>Voltage Divider Calculation for two series resistor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C1D084CE-14EC-4341-889E-0A6E4CD4279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sz="half" idx="1"/>
          </p:nvPr>
        </p:nvSpPr>
        <p:spPr>
          <a:blipFill>
            <a:blip r:embed="rId2" cstate="print"/>
            <a:stretch>
              <a:fillRect l="-1357" t="-809"/>
            </a:stretch>
          </a:blipFill>
        </p:spPr>
        <p:txBody>
          <a:bodyPr/>
          <a:lstStyle/>
          <a:p>
            <a:r>
              <a:rPr lang="en-IN" b="1">
                <a:noFill/>
              </a:rPr>
              <a:t> </a:t>
            </a:r>
          </a:p>
        </p:txBody>
      </p:sp>
      <p:pic>
        <p:nvPicPr>
          <p:cNvPr id="13" name="Content Placeholder 12" descr="Diagram, schematic&#10;&#10;Description automatically generated">
            <a:extLst>
              <a:ext uri="{FF2B5EF4-FFF2-40B4-BE49-F238E27FC236}">
                <a16:creationId xmlns:a16="http://schemas.microsoft.com/office/drawing/2014/main" xmlns="" id="{BA3DE093-A93C-4D55-97F6-C2F5A3CDAC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724400" y="1524000"/>
            <a:ext cx="3886200" cy="3113933"/>
          </a:xfr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7E6DF02-C745-4679-B2B2-D792E25DF4B9}"/>
              </a:ext>
            </a:extLst>
          </p:cNvPr>
          <p:cNvSpPr txBox="1"/>
          <p:nvPr/>
        </p:nvSpPr>
        <p:spPr>
          <a:xfrm>
            <a:off x="5715000" y="2743200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i1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1B418102-8987-494C-8631-307836A08CFD}"/>
              </a:ext>
            </a:extLst>
          </p:cNvPr>
          <p:cNvSpPr txBox="1"/>
          <p:nvPr/>
        </p:nvSpPr>
        <p:spPr>
          <a:xfrm>
            <a:off x="6069584" y="4866533"/>
            <a:ext cx="883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Figure1</a:t>
            </a:r>
          </a:p>
        </p:txBody>
      </p:sp>
    </p:spTree>
    <p:extLst>
      <p:ext uri="{BB962C8B-B14F-4D97-AF65-F5344CB8AC3E}">
        <p14:creationId xmlns:p14="http://schemas.microsoft.com/office/powerpoint/2010/main" xmlns="" val="1425164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12" descr="Diagram, schematic&#10;&#10;Description automatically generated">
            <a:extLst>
              <a:ext uri="{FF2B5EF4-FFF2-40B4-BE49-F238E27FC236}">
                <a16:creationId xmlns:a16="http://schemas.microsoft.com/office/drawing/2014/main" xmlns="" id="{BA3DE093-A93C-4D55-97F6-C2F5A3CDAC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43600" y="2144842"/>
            <a:ext cx="3124200" cy="25033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C310BB-FC31-4CDE-843C-1CB48F120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solidFill>
                  <a:srgbClr val="C00000"/>
                </a:solidFill>
                <a:cs typeface="Times New Roman" panose="02020603050405020304" pitchFamily="18" charset="0"/>
              </a:rPr>
              <a:t>Contd..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B20391-78A7-478D-BD4C-6A6F84D1943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>
            <a:blip r:embed="rId3" cstate="print"/>
            <a:stretch>
              <a:fillRect l="-963" t="-1078"/>
            </a:stretch>
          </a:blipFill>
        </p:spPr>
        <p:txBody>
          <a:bodyPr/>
          <a:lstStyle/>
          <a:p>
            <a:r>
              <a:rPr lang="en-IN" b="1">
                <a:noFill/>
              </a:rPr>
              <a:t>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92046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Diagram, schematic&#10;&#10;Description automatically generated">
            <a:extLst>
              <a:ext uri="{FF2B5EF4-FFF2-40B4-BE49-F238E27FC236}">
                <a16:creationId xmlns:a16="http://schemas.microsoft.com/office/drawing/2014/main" xmlns="" id="{FCB72994-43A2-4142-8D1B-9D86842C3C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246139" y="914400"/>
            <a:ext cx="3745461" cy="4472376"/>
          </a:xfrm>
        </p:spPr>
      </p:pic>
      <p:sp>
        <p:nvSpPr>
          <p:cNvPr id="1030" name="Title 1">
            <a:extLst>
              <a:ext uri="{FF2B5EF4-FFF2-40B4-BE49-F238E27FC236}">
                <a16:creationId xmlns:a16="http://schemas.microsoft.com/office/drawing/2014/main" xmlns="" id="{B48690B8-DA4D-4C84-A418-3ED684682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76200"/>
            <a:ext cx="8382000" cy="718582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cs typeface="Times New Roman" panose="02020603050405020304" pitchFamily="18" charset="0"/>
              </a:rPr>
              <a:t>Voltage Divider Rule Using more than two Resistor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BD669C0-4A84-4CA3-A0BE-FF64AFB5533C}"/>
              </a:ext>
            </a:extLst>
          </p:cNvPr>
          <p:cNvSpPr txBox="1"/>
          <p:nvPr/>
        </p:nvSpPr>
        <p:spPr>
          <a:xfrm>
            <a:off x="6858000" y="5410200"/>
            <a:ext cx="93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Figure 2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371600"/>
            <a:ext cx="4729316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09720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905000"/>
            <a:ext cx="8248650" cy="454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Content Placeholder 10" descr="Diagram, schematic&#10;&#10;Description automatically generated">
            <a:extLst>
              <a:ext uri="{FF2B5EF4-FFF2-40B4-BE49-F238E27FC236}">
                <a16:creationId xmlns:a16="http://schemas.microsoft.com/office/drawing/2014/main" xmlns="" id="{FCB72994-43A2-4142-8D1B-9D86842C3C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24600" y="76200"/>
            <a:ext cx="2743200" cy="32755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410514-B21D-4320-85D3-3B1A8DA32F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00" y="152400"/>
            <a:ext cx="8229600" cy="838200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solidFill>
                  <a:srgbClr val="C00000"/>
                </a:solidFill>
                <a:cs typeface="Times New Roman" panose="02020603050405020304" pitchFamily="18" charset="0"/>
              </a:rPr>
              <a:t>Contd..</a:t>
            </a:r>
            <a:endParaRPr lang="en-IN" sz="3600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45553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3C1336-53F9-4251-8A8C-11535B60A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609600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rgbClr val="C00000"/>
                </a:solidFill>
                <a:cs typeface="Times New Roman" panose="02020603050405020304" pitchFamily="18" charset="0"/>
              </a:rPr>
              <a:t>Example-1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371600"/>
            <a:ext cx="42672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676400"/>
            <a:ext cx="3048000" cy="409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457200" y="762000"/>
            <a:ext cx="800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Find the voltages across each resisters.</a:t>
            </a:r>
            <a:endParaRPr lang="en-IN" sz="2000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92475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xmlns="" id="{BA0F7357-4FD6-41EE-A836-4EBCCCC7EE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191000" y="1600200"/>
            <a:ext cx="4899660" cy="26670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5397BF-1567-4F18-A7D1-E9F87E775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 anchor="ctr">
            <a:noAutofit/>
          </a:bodyPr>
          <a:lstStyle/>
          <a:p>
            <a:r>
              <a:rPr lang="en-IN" b="1" dirty="0">
                <a:solidFill>
                  <a:srgbClr val="C00000"/>
                </a:solidFill>
                <a:cs typeface="Times New Roman" panose="02020603050405020304" pitchFamily="18" charset="0"/>
              </a:rPr>
              <a:t>Practice</a:t>
            </a:r>
            <a:r>
              <a:rPr lang="en-IN" b="1" dirty="0"/>
              <a:t> </a:t>
            </a:r>
            <a:r>
              <a:rPr lang="en-IN" b="1" dirty="0">
                <a:solidFill>
                  <a:srgbClr val="C00000"/>
                </a:solidFill>
                <a:cs typeface="Times New Roman" panose="02020603050405020304" pitchFamily="18" charset="0"/>
              </a:rPr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15A3A0-D76E-45FF-84F7-B4217A40417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  <a:blipFill>
            <a:blip r:embed="rId3" cstate="print"/>
            <a:stretch>
              <a:fillRect l="-2262" t="-1078"/>
            </a:stretch>
          </a:blipFill>
        </p:spPr>
        <p:txBody>
          <a:bodyPr/>
          <a:lstStyle/>
          <a:p>
            <a:r>
              <a:rPr lang="en-IN" b="1">
                <a:noFill/>
              </a:rPr>
              <a:t>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3203043-45F1-4926-987F-A980B1F07435}"/>
              </a:ext>
            </a:extLst>
          </p:cNvPr>
          <p:cNvSpPr txBox="1"/>
          <p:nvPr/>
        </p:nvSpPr>
        <p:spPr>
          <a:xfrm>
            <a:off x="6172200" y="4267200"/>
            <a:ext cx="93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Figure 3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0727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F122BD-AB79-42B0-B991-BB482E33C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C00000"/>
                </a:solidFill>
                <a:cs typeface="Times New Roman" panose="02020603050405020304" pitchFamily="18" charset="0"/>
              </a:rPr>
              <a:t>Example 2</a:t>
            </a:r>
          </a:p>
        </p:txBody>
      </p:sp>
      <p:sp>
        <p:nvSpPr>
          <p:cNvPr id="5" name="AutoShape 2" descr="R_2">
            <a:extLst>
              <a:ext uri="{FF2B5EF4-FFF2-40B4-BE49-F238E27FC236}">
                <a16:creationId xmlns:a16="http://schemas.microsoft.com/office/drawing/2014/main" xmlns="" id="{CD211D42-5C48-41CB-8645-B0F2701655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3511" y="1618920"/>
            <a:ext cx="190500" cy="200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b="1"/>
          </a:p>
        </p:txBody>
      </p:sp>
      <p:sp>
        <p:nvSpPr>
          <p:cNvPr id="6" name="AutoShape 3" descr="R_4">
            <a:extLst>
              <a:ext uri="{FF2B5EF4-FFF2-40B4-BE49-F238E27FC236}">
                <a16:creationId xmlns:a16="http://schemas.microsoft.com/office/drawing/2014/main" xmlns="" id="{0DFE089E-6828-4797-A1F1-E6C183324F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06923" y="1618920"/>
            <a:ext cx="190500" cy="200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b="1"/>
          </a:p>
        </p:txBody>
      </p:sp>
      <p:sp>
        <p:nvSpPr>
          <p:cNvPr id="7" name="AutoShape 4" descr="V_1=20 V">
            <a:extLst>
              <a:ext uri="{FF2B5EF4-FFF2-40B4-BE49-F238E27FC236}">
                <a16:creationId xmlns:a16="http://schemas.microsoft.com/office/drawing/2014/main" xmlns="" id="{DA1275F4-20DB-43D1-AD97-63DBD53B98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8173" y="2106283"/>
            <a:ext cx="704850" cy="200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b="1"/>
          </a:p>
        </p:txBody>
      </p:sp>
      <p:sp>
        <p:nvSpPr>
          <p:cNvPr id="8" name="AutoShape 5" descr="R_1=10 \Omega">
            <a:extLst>
              <a:ext uri="{FF2B5EF4-FFF2-40B4-BE49-F238E27FC236}">
                <a16:creationId xmlns:a16="http://schemas.microsoft.com/office/drawing/2014/main" xmlns="" id="{38333A59-6047-4232-B5EA-4C96D6C852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76536" y="2106283"/>
            <a:ext cx="714375" cy="200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b="1"/>
          </a:p>
        </p:txBody>
      </p:sp>
      <p:sp>
        <p:nvSpPr>
          <p:cNvPr id="9" name="AutoShape 6" descr="R_2=5 \Omega">
            <a:extLst>
              <a:ext uri="{FF2B5EF4-FFF2-40B4-BE49-F238E27FC236}">
                <a16:creationId xmlns:a16="http://schemas.microsoft.com/office/drawing/2014/main" xmlns="" id="{25046AF6-94BC-499E-A8B1-981F9A229C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44898" y="2102450"/>
            <a:ext cx="628650" cy="21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b="1"/>
          </a:p>
        </p:txBody>
      </p:sp>
      <p:sp>
        <p:nvSpPr>
          <p:cNvPr id="10" name="AutoShape 7" descr="R_3=30 \Omega">
            <a:extLst>
              <a:ext uri="{FF2B5EF4-FFF2-40B4-BE49-F238E27FC236}">
                <a16:creationId xmlns:a16="http://schemas.microsoft.com/office/drawing/2014/main" xmlns="" id="{95FC7D00-4E93-45D0-BAF0-4E609E679D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18011" y="2106283"/>
            <a:ext cx="714375" cy="200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b="1"/>
          </a:p>
        </p:txBody>
      </p:sp>
      <p:sp>
        <p:nvSpPr>
          <p:cNvPr id="11" name="AutoShape 8" descr="R_4=10 \Omega">
            <a:extLst>
              <a:ext uri="{FF2B5EF4-FFF2-40B4-BE49-F238E27FC236}">
                <a16:creationId xmlns:a16="http://schemas.microsoft.com/office/drawing/2014/main" xmlns="" id="{A6ED4680-3578-463B-AFAC-5716401ED2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91173" y="2106283"/>
            <a:ext cx="714375" cy="200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3FD9B561-F7D7-4F09-9568-0D90F82CE1E9}"/>
              </a:ext>
            </a:extLst>
          </p:cNvPr>
          <p:cNvSpPr txBox="1"/>
          <p:nvPr/>
        </p:nvSpPr>
        <p:spPr>
          <a:xfrm>
            <a:off x="6553200" y="4114800"/>
            <a:ext cx="93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Figure 4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1143000"/>
            <a:ext cx="3743325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295400"/>
            <a:ext cx="4029075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5325" y="3657600"/>
            <a:ext cx="4257675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73713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1">
            <a:extLst>
              <a:ext uri="{FF2B5EF4-FFF2-40B4-BE49-F238E27FC236}">
                <a16:creationId xmlns:a16="http://schemas.microsoft.com/office/drawing/2014/main" xmlns="" id="{9ED7F335-7E59-41E1-AE3A-2AD8EAB78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C00000"/>
                </a:solidFill>
                <a:cs typeface="Times New Roman" panose="02020603050405020304" pitchFamily="18" charset="0"/>
              </a:rPr>
              <a:t>Contd..</a:t>
            </a:r>
            <a:endParaRPr lang="en-US" sz="48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5318FF-6D6E-42C4-AE0C-D8945FBC230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417638"/>
                <a:ext cx="4419600" cy="4708527"/>
              </a:xfrm>
            </p:spPr>
            <p:txBody>
              <a:bodyPr>
                <a:normAutofit/>
              </a:bodyPr>
              <a:lstStyle/>
              <a:p>
                <a:r>
                  <a:rPr lang="en-IN" dirty="0"/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24</m:t>
                        </m:r>
                      </m:sub>
                    </m:sSub>
                    <m:r>
                      <a:rPr lang="en-IN" dirty="0">
                        <a:latin typeface="Cambria Math" panose="02040503050406030204" pitchFamily="18" charset="0"/>
                      </a:rPr>
                      <m:t>ǁ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324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ǁ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Ω 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US" b="0" i="0" dirty="0">
                    <a:solidFill>
                      <a:srgbClr val="111111"/>
                    </a:solidFill>
                    <a:effectLst/>
                    <a:latin typeface="NonBreakingSpaceOverride"/>
                  </a:rPr>
                  <a:t>So, the circuit is simplified to the level shown in figure</a:t>
                </a:r>
              </a:p>
              <a:p>
                <a:pPr marL="0" indent="0">
                  <a:buNone/>
                </a:pPr>
                <a:r>
                  <a:rPr lang="en-US" b="0" i="0" dirty="0">
                    <a:solidFill>
                      <a:srgbClr val="111111"/>
                    </a:solidFill>
                    <a:effectLst/>
                    <a:latin typeface="NonBreakingSpaceOverride"/>
                  </a:rPr>
                  <a:t>And the voltage division rule can be applied directly: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324</m:t>
                              </m:r>
                            </m:sub>
                          </m:sSub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324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324</m:t>
                              </m:r>
                            </m:sub>
                          </m:s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>
                  <a:solidFill>
                    <a:srgbClr val="111111"/>
                  </a:solidFill>
                  <a:latin typeface="NonBreakingSpaceOverride"/>
                </a:endParaRP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405318FF-6D6E-42C4-AE0C-D8945FBC23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417638"/>
                <a:ext cx="4419600" cy="4708527"/>
              </a:xfrm>
              <a:blipFill>
                <a:blip r:embed="rId2" cstate="print"/>
                <a:stretch>
                  <a:fillRect l="-2759" t="-1295" r="-23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09386" y="990600"/>
            <a:ext cx="318219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29939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1">
            <a:extLst>
              <a:ext uri="{FF2B5EF4-FFF2-40B4-BE49-F238E27FC236}">
                <a16:creationId xmlns:a16="http://schemas.microsoft.com/office/drawing/2014/main" xmlns="" id="{08FBA874-2FA7-458F-B1D7-E4D0C769C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930275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C00000"/>
                </a:solidFill>
                <a:cs typeface="Times New Roman" panose="02020603050405020304" pitchFamily="18" charset="0"/>
              </a:rPr>
              <a:t>Contd..</a:t>
            </a:r>
            <a:endParaRPr lang="en-US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44090" y="685800"/>
            <a:ext cx="390463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9918" y="3657600"/>
            <a:ext cx="2533458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1447800"/>
            <a:ext cx="4362450" cy="454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92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39552" y="381000"/>
            <a:ext cx="84249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+mj-lt"/>
                <a:ea typeface="+mj-ea"/>
                <a:cs typeface="Times New Roman" panose="02020603050405020304" pitchFamily="18" charset="0"/>
              </a:rPr>
              <a:t>Parallel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dirty="0">
                <a:solidFill>
                  <a:srgbClr val="C00000"/>
                </a:solidFill>
                <a:latin typeface="+mj-lt"/>
                <a:ea typeface="+mj-ea"/>
                <a:cs typeface="Times New Roman" panose="02020603050405020304" pitchFamily="18" charset="0"/>
              </a:rPr>
              <a:t>resistors</a:t>
            </a:r>
            <a:r>
              <a:rPr lang="en-US" sz="2000" b="1" dirty="0">
                <a:solidFill>
                  <a:srgbClr val="C00000"/>
                </a:solidFill>
                <a:latin typeface="+mj-lt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C00000"/>
                </a:solidFill>
                <a:latin typeface="+mj-lt"/>
                <a:ea typeface="+mj-ea"/>
                <a:cs typeface="Times New Roman" panose="02020603050405020304" pitchFamily="18" charset="0"/>
              </a:rPr>
              <a:t>and</a:t>
            </a:r>
            <a:r>
              <a:rPr lang="en-US" sz="2000" b="1" dirty="0">
                <a:solidFill>
                  <a:srgbClr val="C00000"/>
                </a:solidFill>
                <a:latin typeface="+mj-lt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C00000"/>
                </a:solidFill>
                <a:latin typeface="+mj-lt"/>
                <a:ea typeface="+mj-ea"/>
                <a:cs typeface="Times New Roman" panose="02020603050405020304" pitchFamily="18" charset="0"/>
              </a:rPr>
              <a:t>Current</a:t>
            </a:r>
            <a:r>
              <a:rPr lang="en-US" sz="2000" b="1" dirty="0">
                <a:solidFill>
                  <a:srgbClr val="C00000"/>
                </a:solidFill>
                <a:latin typeface="+mj-lt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C00000"/>
                </a:solidFill>
                <a:latin typeface="+mj-lt"/>
                <a:ea typeface="+mj-ea"/>
                <a:cs typeface="Times New Roman" panose="02020603050405020304" pitchFamily="18" charset="0"/>
              </a:rPr>
              <a:t>division rule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2362200"/>
            <a:ext cx="3693496" cy="26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685800" y="1219200"/>
            <a:ext cx="7848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The circuit with two resistors and a current source shown in Figure.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Note that both resistors are connected to terminals a and b and that the voltage v appears across each parallel element.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75666" y="838201"/>
            <a:ext cx="3247029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683568" y="153769"/>
            <a:ext cx="82024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+mj-lt"/>
                <a:ea typeface="+mj-ea"/>
                <a:cs typeface="Times New Roman" panose="02020603050405020304" pitchFamily="18" charset="0"/>
              </a:rPr>
              <a:t>Parallel resistors and Current division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066800"/>
            <a:ext cx="1472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KCL at node a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1600200"/>
            <a:ext cx="2743200" cy="1191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81000" y="3276600"/>
            <a:ext cx="17300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From Ohm’s law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4600" y="3657600"/>
            <a:ext cx="3171825" cy="1867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57200" y="12192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/>
              <a:t>Conductance G can be defined as the inverse of resistance R.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75666" y="838201"/>
            <a:ext cx="3247029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57199" y="228600"/>
            <a:ext cx="82654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+mj-lt"/>
                <a:ea typeface="+mj-ea"/>
                <a:cs typeface="Times New Roman" panose="02020603050405020304" pitchFamily="18" charset="0"/>
              </a:rPr>
              <a:t>Parallel resistors and Current division rule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9036" y="2057401"/>
            <a:ext cx="354676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228600" y="2743200"/>
            <a:ext cx="5791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Equivalent circuit for this parallel circuit is a conductance </a:t>
            </a:r>
            <a:r>
              <a:rPr lang="en-IN" b="1" dirty="0" err="1"/>
              <a:t>Gp</a:t>
            </a:r>
            <a:r>
              <a:rPr lang="en-IN" b="1" dirty="0"/>
              <a:t>, as shown in Figure , </a:t>
            </a:r>
          </a:p>
          <a:p>
            <a:pPr marL="342900" indent="-342900">
              <a:buFont typeface="Arial" pitchFamily="34" charset="0"/>
              <a:buChar char="•"/>
            </a:pPr>
            <a:endParaRPr lang="en-IN" b="1" dirty="0"/>
          </a:p>
          <a:p>
            <a:pPr marL="342900" indent="-342900"/>
            <a:r>
              <a:rPr lang="en-IN" b="1" dirty="0"/>
              <a:t>where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10200" y="3276600"/>
            <a:ext cx="2728913" cy="139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52600" y="3886200"/>
            <a:ext cx="2009775" cy="418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381000" y="4800600"/>
            <a:ext cx="762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The equivalent resistance for the two-resistor circuit is found from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828800" y="5334000"/>
            <a:ext cx="2057400" cy="809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75666" y="838201"/>
            <a:ext cx="3247029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34087" y="3200400"/>
            <a:ext cx="2728913" cy="139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33400" y="1371600"/>
            <a:ext cx="28900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Because </a:t>
            </a:r>
            <a:r>
              <a:rPr lang="en-IN" b="1" dirty="0" err="1"/>
              <a:t>Gp</a:t>
            </a:r>
            <a:r>
              <a:rPr lang="en-IN" b="1" dirty="0"/>
              <a:t> = 1/Rp, we have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19200" y="2133600"/>
            <a:ext cx="2057400" cy="915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95400" y="3352800"/>
            <a:ext cx="2315287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609600" y="4953000"/>
            <a:ext cx="7543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IN" sz="2000" b="1" dirty="0"/>
              <a:t>The circuit shown in Figure is called a current divider circuit because it divides the source current.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5E9AD76-A3D1-7ED1-B4E4-6A27D38D5B1A}"/>
              </a:ext>
            </a:extLst>
          </p:cNvPr>
          <p:cNvSpPr/>
          <p:nvPr/>
        </p:nvSpPr>
        <p:spPr>
          <a:xfrm>
            <a:off x="457199" y="228600"/>
            <a:ext cx="82654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+mj-lt"/>
                <a:ea typeface="+mj-ea"/>
                <a:cs typeface="Times New Roman" panose="02020603050405020304" pitchFamily="18" charset="0"/>
              </a:rPr>
              <a:t>Parallel resistors and Current division rule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9600" y="1219200"/>
            <a:ext cx="11014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Note that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75666" y="838201"/>
            <a:ext cx="3247029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1295400"/>
            <a:ext cx="1233487" cy="392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2057400"/>
            <a:ext cx="3000375" cy="337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609600" y="2819400"/>
            <a:ext cx="25104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we solve for v, obtaining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28800" y="3429000"/>
            <a:ext cx="2066925" cy="877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304800" y="464820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/>
              <a:t>Substituting v, we obtain</a:t>
            </a:r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43000" y="5334001"/>
            <a:ext cx="2016369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648200" y="5334000"/>
            <a:ext cx="2319338" cy="929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626D58F-DFAA-037C-EE61-D2555B54FC9B}"/>
              </a:ext>
            </a:extLst>
          </p:cNvPr>
          <p:cNvSpPr/>
          <p:nvPr/>
        </p:nvSpPr>
        <p:spPr>
          <a:xfrm>
            <a:off x="457199" y="228600"/>
            <a:ext cx="82654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+mj-lt"/>
                <a:ea typeface="+mj-ea"/>
                <a:cs typeface="Times New Roman" panose="02020603050405020304" pitchFamily="18" charset="0"/>
              </a:rPr>
              <a:t>Parallel resistors and Current division rule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75666" y="838201"/>
            <a:ext cx="3247029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81000" y="9906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Note that we may use G</a:t>
            </a:r>
            <a:r>
              <a:rPr lang="en-IN" b="1" baseline="-25000" dirty="0"/>
              <a:t>2</a:t>
            </a:r>
            <a:r>
              <a:rPr lang="en-IN" b="1" dirty="0"/>
              <a:t> = 1/R</a:t>
            </a:r>
            <a:r>
              <a:rPr lang="en-IN" b="1" baseline="-25000" dirty="0"/>
              <a:t>2</a:t>
            </a:r>
            <a:r>
              <a:rPr lang="en-IN" b="1" dirty="0"/>
              <a:t> and G</a:t>
            </a:r>
            <a:r>
              <a:rPr lang="en-IN" b="1" baseline="-25000" dirty="0"/>
              <a:t>1</a:t>
            </a:r>
            <a:r>
              <a:rPr lang="en-IN" b="1" dirty="0"/>
              <a:t> = 1/R</a:t>
            </a:r>
            <a:r>
              <a:rPr lang="en-IN" b="1" baseline="-25000" dirty="0"/>
              <a:t>1</a:t>
            </a:r>
            <a:r>
              <a:rPr lang="en-IN" b="1" dirty="0"/>
              <a:t> to obtain the current i</a:t>
            </a:r>
            <a:r>
              <a:rPr lang="en-IN" b="1" baseline="-25000" dirty="0"/>
              <a:t>1</a:t>
            </a:r>
            <a:r>
              <a:rPr lang="en-IN" b="1" dirty="0"/>
              <a:t> and i</a:t>
            </a:r>
            <a:r>
              <a:rPr lang="en-IN" b="1" baseline="-25000" dirty="0"/>
              <a:t>2</a:t>
            </a:r>
            <a:r>
              <a:rPr lang="en-IN" b="1" dirty="0"/>
              <a:t> in terms of two resistances as follows: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3429000"/>
            <a:ext cx="4733925" cy="896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838200" y="4800600"/>
            <a:ext cx="777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The current of the source divides between </a:t>
            </a:r>
            <a:r>
              <a:rPr lang="en-IN" b="1" dirty="0" err="1"/>
              <a:t>conductances</a:t>
            </a:r>
            <a:r>
              <a:rPr lang="en-IN" b="1" dirty="0"/>
              <a:t> G</a:t>
            </a:r>
            <a:r>
              <a:rPr lang="en-IN" b="1" baseline="-25000" dirty="0"/>
              <a:t>1</a:t>
            </a:r>
            <a:r>
              <a:rPr lang="en-IN" b="1" dirty="0"/>
              <a:t> and G</a:t>
            </a:r>
            <a:r>
              <a:rPr lang="en-IN" b="1" baseline="-25000" dirty="0"/>
              <a:t>2</a:t>
            </a:r>
            <a:r>
              <a:rPr lang="en-IN" b="1" dirty="0"/>
              <a:t> in proportion to their conductance values.</a:t>
            </a:r>
          </a:p>
        </p:txBody>
      </p:sp>
      <mc:AlternateContent xmlns:mc="http://schemas.openxmlformats.org/markup-compatibility/2006">
        <mc:Choice xmlns:p14="http://schemas.microsoft.com/office/powerpoint/2010/main" xmlns="" Requires="p14">
          <p:contentPart p14:bwMode="auto" r:id="rId4">
            <p14:nvContentPartPr>
              <p14:cNvPr id="205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624138" y="3678238"/>
              <a:ext cx="103187" cy="88900"/>
            </p14:xfrm>
          </p:contentPart>
        </mc:Choice>
        <mc:Fallback>
          <p:pic>
            <p:nvPicPr>
              <p:cNvPr id="205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17644" y="3671786"/>
                <a:ext cx="115454" cy="1010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6">
            <p14:nvContentPartPr>
              <p14:cNvPr id="2051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322888" y="3678238"/>
              <a:ext cx="84137" cy="96837"/>
            </p14:xfrm>
          </p:contentPart>
        </mc:Choice>
        <mc:Fallback>
          <p:pic>
            <p:nvPicPr>
              <p:cNvPr id="205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16471" y="3671806"/>
                <a:ext cx="96258" cy="108986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661FDDC-AA71-B6CA-3A8B-02211179C238}"/>
              </a:ext>
            </a:extLst>
          </p:cNvPr>
          <p:cNvSpPr/>
          <p:nvPr/>
        </p:nvSpPr>
        <p:spPr>
          <a:xfrm>
            <a:off x="457199" y="228600"/>
            <a:ext cx="82654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+mj-lt"/>
                <a:ea typeface="+mj-ea"/>
                <a:cs typeface="Times New Roman" panose="02020603050405020304" pitchFamily="18" charset="0"/>
              </a:rPr>
              <a:t>Parallel resistors and Current division rule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09600"/>
            <a:ext cx="3790950" cy="2085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038600" y="381000"/>
            <a:ext cx="48768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400" dirty="0"/>
              <a:t>In Fig. 1, suppose one of the resistors is zero, say               or short circuit as shown in Fig. 3(a).</a:t>
            </a:r>
          </a:p>
          <a:p>
            <a:pPr algn="just">
              <a:buFont typeface="Arial" pitchFamily="34" charset="0"/>
              <a:buChar char="•"/>
            </a:pPr>
            <a:r>
              <a:rPr lang="en-US" sz="2400" dirty="0"/>
              <a:t>From equation (10),              implies that              ,             . This means that the current </a:t>
            </a:r>
            <a:r>
              <a:rPr lang="en-US" sz="2400" dirty="0" err="1"/>
              <a:t>i</a:t>
            </a:r>
            <a:r>
              <a:rPr lang="en-US" sz="2400" dirty="0"/>
              <a:t> bypasses      and flows through the short circuit              , the path of least resistance.</a:t>
            </a:r>
          </a:p>
          <a:p>
            <a:pPr algn="just">
              <a:buFont typeface="Arial" pitchFamily="34" charset="0"/>
              <a:buChar char="•"/>
            </a:pPr>
            <a:r>
              <a:rPr lang="en-US" sz="2400" dirty="0"/>
              <a:t>Thus, when a circuit is short circuited, the equivalent resistance, </a:t>
            </a:r>
          </a:p>
          <a:p>
            <a:pPr algn="just">
              <a:buFont typeface="Arial" pitchFamily="34" charset="0"/>
              <a:buChar char="•"/>
            </a:pPr>
            <a:endParaRPr lang="en-US" sz="2400" dirty="0"/>
          </a:p>
          <a:p>
            <a:pPr algn="just">
              <a:buFont typeface="Arial" pitchFamily="34" charset="0"/>
              <a:buChar char="•"/>
            </a:pPr>
            <a:endParaRPr lang="en-US" sz="2400" dirty="0"/>
          </a:p>
          <a:p>
            <a:pPr algn="just"/>
            <a:r>
              <a:rPr lang="en-US" sz="2400" dirty="0"/>
              <a:t>and  the entire current flows through the short circuit.     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62599" y="838200"/>
            <a:ext cx="819151" cy="381000"/>
          </a:xfrm>
          <a:prstGeom prst="rect">
            <a:avLst/>
          </a:prstGeom>
          <a:noFill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00" y="1524000"/>
            <a:ext cx="819151" cy="381000"/>
          </a:xfrm>
          <a:prstGeom prst="rect">
            <a:avLst/>
          </a:prstGeom>
          <a:noFill/>
        </p:spPr>
      </p:pic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4583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24400" y="1905000"/>
            <a:ext cx="762000" cy="381000"/>
          </a:xfrm>
          <a:prstGeom prst="rect">
            <a:avLst/>
          </a:prstGeom>
          <a:noFill/>
        </p:spPr>
      </p:pic>
      <p:sp>
        <p:nvSpPr>
          <p:cNvPr id="2458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4585" name="Picture 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91200" y="1898822"/>
            <a:ext cx="685800" cy="370702"/>
          </a:xfrm>
          <a:prstGeom prst="rect">
            <a:avLst/>
          </a:prstGeom>
          <a:noFill/>
        </p:spPr>
      </p:pic>
      <p:sp>
        <p:nvSpPr>
          <p:cNvPr id="24588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4587" name="Picture 11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162800" y="2286000"/>
            <a:ext cx="274320" cy="342900"/>
          </a:xfrm>
          <a:prstGeom prst="rect">
            <a:avLst/>
          </a:prstGeom>
          <a:noFill/>
        </p:spPr>
      </p:pic>
      <p:sp>
        <p:nvSpPr>
          <p:cNvPr id="24590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4589" name="Picture 1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239000" y="2667000"/>
            <a:ext cx="819150" cy="381000"/>
          </a:xfrm>
          <a:prstGeom prst="rect">
            <a:avLst/>
          </a:prstGeom>
          <a:noFill/>
        </p:spPr>
      </p:pic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4591" name="Picture 15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486399" y="4267200"/>
            <a:ext cx="1073425" cy="457200"/>
          </a:xfrm>
          <a:prstGeom prst="rect">
            <a:avLst/>
          </a:prstGeom>
          <a:noFill/>
        </p:spPr>
      </p:pic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62000" y="2971800"/>
            <a:ext cx="1752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A shorted circuit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623608"/>
            <a:ext cx="8610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/>
              <a:t>Also, as an another extreme case, suppose              or        is an open circuit. </a:t>
            </a:r>
          </a:p>
          <a:p>
            <a:pPr algn="just">
              <a:buFont typeface="Arial" pitchFamily="34" charset="0"/>
              <a:buChar char="•"/>
            </a:pPr>
            <a:r>
              <a:rPr lang="en-US" sz="2400" dirty="0"/>
              <a:t>The current still flows through the path of least resistance,      . By taking the limit of equation (7) as               , we obtain                   in this case. </a:t>
            </a:r>
          </a:p>
        </p:txBody>
      </p: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339500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5601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38800" y="3724127"/>
            <a:ext cx="838200" cy="356681"/>
          </a:xfrm>
          <a:prstGeom prst="rect">
            <a:avLst/>
          </a:prstGeom>
          <a:noFill/>
        </p:spPr>
      </p:pic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0" y="339500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10400" y="3718858"/>
            <a:ext cx="304800" cy="381000"/>
          </a:xfrm>
          <a:prstGeom prst="rect">
            <a:avLst/>
          </a:prstGeom>
          <a:noFill/>
        </p:spPr>
      </p:pic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0" y="339500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848600" y="4385608"/>
            <a:ext cx="381000" cy="476250"/>
          </a:xfrm>
          <a:prstGeom prst="rect">
            <a:avLst/>
          </a:prstGeom>
          <a:noFill/>
        </p:spPr>
      </p:pic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0" y="339500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5607" name="Picture 7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72000" y="4766608"/>
            <a:ext cx="914400" cy="373224"/>
          </a:xfrm>
          <a:prstGeom prst="rect">
            <a:avLst/>
          </a:prstGeom>
          <a:noFill/>
        </p:spPr>
      </p:pic>
      <p:sp>
        <p:nvSpPr>
          <p:cNvPr id="25610" name="Rectangle 10"/>
          <p:cNvSpPr>
            <a:spLocks noChangeArrowheads="1"/>
          </p:cNvSpPr>
          <p:nvPr/>
        </p:nvSpPr>
        <p:spPr bwMode="auto">
          <a:xfrm>
            <a:off x="0" y="339500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5609" name="Picture 9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239000" y="4766608"/>
            <a:ext cx="1066800" cy="402236"/>
          </a:xfrm>
          <a:prstGeom prst="rect">
            <a:avLst/>
          </a:prstGeom>
          <a:noFill/>
        </p:spPr>
      </p:pic>
      <p:sp>
        <p:nvSpPr>
          <p:cNvPr id="25612" name="Rectangle 12"/>
          <p:cNvSpPr>
            <a:spLocks noChangeArrowheads="1"/>
          </p:cNvSpPr>
          <p:nvPr/>
        </p:nvSpPr>
        <p:spPr bwMode="auto">
          <a:xfrm>
            <a:off x="0" y="339500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614" name="Rectangle 14"/>
          <p:cNvSpPr>
            <a:spLocks noChangeArrowheads="1"/>
          </p:cNvSpPr>
          <p:nvPr/>
        </p:nvSpPr>
        <p:spPr bwMode="auto">
          <a:xfrm>
            <a:off x="0" y="3395008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615" name="Rectangle 15"/>
          <p:cNvSpPr>
            <a:spLocks noChangeArrowheads="1"/>
          </p:cNvSpPr>
          <p:nvPr/>
        </p:nvSpPr>
        <p:spPr bwMode="auto">
          <a:xfrm>
            <a:off x="0" y="424273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81100" algn="l"/>
                <a:tab pos="1743075" algn="l"/>
              </a:tabLst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617" name="Rectangle 17"/>
          <p:cNvSpPr>
            <a:spLocks noChangeArrowheads="1"/>
          </p:cNvSpPr>
          <p:nvPr/>
        </p:nvSpPr>
        <p:spPr bwMode="auto">
          <a:xfrm>
            <a:off x="0" y="339500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619" name="Rectangle 19"/>
          <p:cNvSpPr>
            <a:spLocks noChangeArrowheads="1"/>
          </p:cNvSpPr>
          <p:nvPr/>
        </p:nvSpPr>
        <p:spPr bwMode="auto">
          <a:xfrm>
            <a:off x="0" y="339500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621" name="Rectangle 21"/>
          <p:cNvSpPr>
            <a:spLocks noChangeArrowheads="1"/>
          </p:cNvSpPr>
          <p:nvPr/>
        </p:nvSpPr>
        <p:spPr bwMode="auto">
          <a:xfrm>
            <a:off x="0" y="339500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623" name="Rectangle 23"/>
          <p:cNvSpPr>
            <a:spLocks noChangeArrowheads="1"/>
          </p:cNvSpPr>
          <p:nvPr/>
        </p:nvSpPr>
        <p:spPr bwMode="auto">
          <a:xfrm>
            <a:off x="0" y="339500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625" name="Rectangle 25"/>
          <p:cNvSpPr>
            <a:spLocks noChangeArrowheads="1"/>
          </p:cNvSpPr>
          <p:nvPr/>
        </p:nvSpPr>
        <p:spPr bwMode="auto">
          <a:xfrm>
            <a:off x="0" y="339500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581400" y="838200"/>
            <a:ext cx="3982365" cy="2252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Rectangle 29"/>
          <p:cNvSpPr/>
          <p:nvPr/>
        </p:nvSpPr>
        <p:spPr>
          <a:xfrm>
            <a:off x="4648200" y="3048000"/>
            <a:ext cx="16000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an open circuit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81000" y="1143000"/>
            <a:ext cx="6400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Let us consider the more general case of current division with a set of N parallel conductors as shown in Figure.</a:t>
            </a:r>
          </a:p>
          <a:p>
            <a:pPr marL="342900" indent="-342900">
              <a:buFont typeface="Arial" pitchFamily="34" charset="0"/>
              <a:buChar char="•"/>
            </a:pPr>
            <a:endParaRPr lang="en-IN" b="1" dirty="0"/>
          </a:p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The KCL gives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3325" y="981075"/>
            <a:ext cx="1057275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2438400"/>
            <a:ext cx="4343400" cy="512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57200" y="3429000"/>
            <a:ext cx="1083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for which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0" y="3505200"/>
            <a:ext cx="134470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67200" y="3581400"/>
            <a:ext cx="1843087" cy="264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457200" y="4191000"/>
            <a:ext cx="22900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We may write </a:t>
            </a:r>
            <a:r>
              <a:rPr lang="en-IN" b="1" dirty="0" err="1"/>
              <a:t>Eq</a:t>
            </a:r>
            <a:r>
              <a:rPr lang="en-IN" b="1" dirty="0"/>
              <a:t>. 1 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67400" y="2514600"/>
            <a:ext cx="14059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---------- </a:t>
            </a:r>
            <a:r>
              <a:rPr lang="en-IN" b="1" dirty="0" err="1"/>
              <a:t>Eq</a:t>
            </a:r>
            <a:r>
              <a:rPr lang="en-IN" b="1" dirty="0"/>
              <a:t>. 1</a:t>
            </a:r>
          </a:p>
        </p:txBody>
      </p: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362200" y="4648200"/>
            <a:ext cx="418123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2"/>
          <p:cNvSpPr/>
          <p:nvPr/>
        </p:nvSpPr>
        <p:spPr>
          <a:xfrm>
            <a:off x="457200" y="5410200"/>
            <a:ext cx="1177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Therefore,</a:t>
            </a:r>
          </a:p>
        </p:txBody>
      </p:sp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667000" y="5334000"/>
            <a:ext cx="1900238" cy="1104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14"/>
          <p:cNvSpPr/>
          <p:nvPr/>
        </p:nvSpPr>
        <p:spPr>
          <a:xfrm>
            <a:off x="6248400" y="5486400"/>
            <a:ext cx="2819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/>
            <a:r>
              <a:rPr lang="en-IN" b="1" dirty="0">
                <a:latin typeface="Times New Roman" pitchFamily="18" charset="0"/>
                <a:cs typeface="Times New Roman" pitchFamily="18" charset="0"/>
              </a:rPr>
              <a:t>FIGURE Set of N parallel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conductances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 with a current source </a:t>
            </a:r>
            <a:r>
              <a:rPr lang="en-IN" b="1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b="1" i="1" baseline="-25000" dirty="0"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A7CD8FD-2715-1CA0-B195-34F3770B53B8}"/>
              </a:ext>
            </a:extLst>
          </p:cNvPr>
          <p:cNvSpPr/>
          <p:nvPr/>
        </p:nvSpPr>
        <p:spPr>
          <a:xfrm>
            <a:off x="457199" y="228600"/>
            <a:ext cx="82654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+mj-lt"/>
                <a:ea typeface="+mj-ea"/>
                <a:cs typeface="Times New Roman" panose="02020603050405020304" pitchFamily="18" charset="0"/>
              </a:rPr>
              <a:t>Parallel resistors and Current division rule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3325" y="981075"/>
            <a:ext cx="1057275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6248400" y="5486400"/>
            <a:ext cx="2819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/>
            <a:r>
              <a:rPr lang="en-IN" b="1" dirty="0">
                <a:latin typeface="Times New Roman" pitchFamily="18" charset="0"/>
                <a:cs typeface="Times New Roman" pitchFamily="18" charset="0"/>
              </a:rPr>
              <a:t>FIGURE Set of N parallel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conductances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 with a current source </a:t>
            </a:r>
            <a:r>
              <a:rPr lang="en-IN" b="1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b="1" i="1" baseline="-25000" dirty="0"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1143000"/>
            <a:ext cx="9687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Because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1143000"/>
            <a:ext cx="134470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76400" y="2133600"/>
            <a:ext cx="1343025" cy="104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3505200" y="2209800"/>
            <a:ext cx="22774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we may obtain v from</a:t>
            </a:r>
          </a:p>
        </p:txBody>
      </p: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15000" y="1905000"/>
            <a:ext cx="1671638" cy="9715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609600" y="3505200"/>
            <a:ext cx="2783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b="1" dirty="0"/>
              <a:t>Equivalent conductance </a:t>
            </a:r>
            <a:r>
              <a:rPr lang="en-IN" b="1" dirty="0" err="1"/>
              <a:t>Gp</a:t>
            </a:r>
            <a:endParaRPr lang="en-IN" b="1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962400" y="3352800"/>
            <a:ext cx="1552575" cy="832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2"/>
          <p:cNvSpPr/>
          <p:nvPr/>
        </p:nvSpPr>
        <p:spPr>
          <a:xfrm>
            <a:off x="685800" y="4572000"/>
            <a:ext cx="1177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Therefore,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362200" y="4343400"/>
            <a:ext cx="1359008" cy="871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14"/>
          <p:cNvSpPr/>
          <p:nvPr/>
        </p:nvSpPr>
        <p:spPr>
          <a:xfrm>
            <a:off x="533400" y="56388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/>
              <a:t>which is the basic equation for the current divider with N </a:t>
            </a:r>
            <a:r>
              <a:rPr lang="en-IN" b="1" dirty="0" err="1"/>
              <a:t>conductances</a:t>
            </a:r>
            <a:r>
              <a:rPr lang="en-IN" b="1" dirty="0"/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CE4CC188-D52D-3996-EDC8-BD7265A083C4}"/>
              </a:ext>
            </a:extLst>
          </p:cNvPr>
          <p:cNvSpPr/>
          <p:nvPr/>
        </p:nvSpPr>
        <p:spPr>
          <a:xfrm>
            <a:off x="457199" y="228600"/>
            <a:ext cx="82654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+mj-lt"/>
                <a:ea typeface="+mj-ea"/>
                <a:cs typeface="Times New Roman" panose="02020603050405020304" pitchFamily="18" charset="0"/>
              </a:rPr>
              <a:t>Parallel resistors and Current division rule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04800"/>
            <a:ext cx="8458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Problems</a:t>
            </a:r>
            <a:endParaRPr lang="en-US" sz="3200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Problem-1</a:t>
            </a: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Find i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and v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in the circuit shown in Fig. Also, calculate the power dissipated in the 3 </a:t>
            </a:r>
            <a:r>
              <a:rPr lang="el-GR" sz="2400" b="1" dirty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resistor.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2590800"/>
            <a:ext cx="6134100" cy="2999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2590800"/>
            <a:ext cx="3810000" cy="7518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228600" y="457200"/>
            <a:ext cx="1043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Solution:</a:t>
            </a:r>
            <a:endParaRPr lang="en-IN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3581400"/>
            <a:ext cx="377627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57400" y="457200"/>
            <a:ext cx="4076700" cy="1993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304800"/>
            <a:ext cx="377627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81375" y="3005138"/>
            <a:ext cx="2381250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52800" y="4114800"/>
            <a:ext cx="261937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685800"/>
            <a:ext cx="3740349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2362200"/>
            <a:ext cx="4295775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71600" y="3581400"/>
            <a:ext cx="3781425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71600" y="4800600"/>
            <a:ext cx="561975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04800"/>
            <a:ext cx="8458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Problem-2</a:t>
            </a: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For the circuit shown in Fig., determine the (a) the voltage, v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(b) the power supplied by the current source (c) the power absorbed by each resistor.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2096600"/>
            <a:ext cx="4739999" cy="217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52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Solution:</a:t>
            </a:r>
          </a:p>
          <a:p>
            <a:r>
              <a:rPr lang="en-IN" sz="2400" dirty="0"/>
              <a:t>(a)</a:t>
            </a:r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457200"/>
            <a:ext cx="4739999" cy="217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3886200"/>
            <a:ext cx="4069871" cy="2125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457200" y="6248400"/>
            <a:ext cx="7924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We now apply the current division technique to find </a:t>
            </a:r>
            <a:r>
              <a:rPr lang="en-IN" sz="2000" b="1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0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IN" sz="2000" b="1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0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971800"/>
            <a:ext cx="777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 k</a:t>
            </a:r>
            <a:r>
              <a:rPr lang="el-GR" b="1" dirty="0"/>
              <a:t>Ω</a:t>
            </a:r>
            <a:r>
              <a:rPr lang="en-US" b="1" dirty="0"/>
              <a:t> and 12 k</a:t>
            </a:r>
            <a:r>
              <a:rPr lang="el-GR" b="1" dirty="0"/>
              <a:t>Ω</a:t>
            </a:r>
            <a:r>
              <a:rPr lang="en-US" b="1" dirty="0"/>
              <a:t> resistors are in series, </a:t>
            </a:r>
          </a:p>
          <a:p>
            <a:endParaRPr lang="en-US" b="1" dirty="0"/>
          </a:p>
          <a:p>
            <a:r>
              <a:rPr lang="en-US" b="1" dirty="0"/>
              <a:t>So    60  + 12  = 18 k</a:t>
            </a:r>
            <a:r>
              <a:rPr lang="el-GR" b="1" dirty="0"/>
              <a:t>Ω</a:t>
            </a:r>
            <a:endParaRPr lang="en-IN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381000"/>
            <a:ext cx="6172200" cy="194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590800"/>
            <a:ext cx="8467725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4343400"/>
            <a:ext cx="7924800" cy="1222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81000"/>
            <a:ext cx="7972425" cy="37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4267200"/>
            <a:ext cx="859155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04800"/>
            <a:ext cx="838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Problems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Find v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and v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in the circuit shown in Fig. Also, calculate i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and i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and the power dissipated in the 12 </a:t>
            </a:r>
            <a:r>
              <a:rPr lang="el-GR" sz="2400" b="1" dirty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and 40 </a:t>
            </a:r>
            <a:r>
              <a:rPr lang="el-GR" sz="2400" b="1" dirty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resistors.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1084" y="1828800"/>
            <a:ext cx="4927391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5638800"/>
            <a:ext cx="8763000" cy="79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83820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Practice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Problems</a:t>
            </a:r>
          </a:p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For the circuit in Figure , find (a) the current in each branch, (b) the equivalent circuit, and (c) the voltage v. </a:t>
            </a:r>
          </a:p>
          <a:p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The resistors are </a:t>
            </a:r>
            <a:r>
              <a:rPr lang="en-IN" sz="24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IN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 = 1/2 </a:t>
            </a:r>
            <a:r>
              <a:rPr lang="el-GR" sz="2400" b="1" dirty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;    </a:t>
            </a:r>
            <a:r>
              <a:rPr lang="en-IN" sz="24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IN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 = 1/4 </a:t>
            </a:r>
            <a:r>
              <a:rPr lang="el-GR" sz="2400" b="1" dirty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;    </a:t>
            </a:r>
            <a:r>
              <a:rPr lang="en-IN" sz="24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IN" sz="2400" b="1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 = 1/8 </a:t>
            </a:r>
            <a:r>
              <a:rPr lang="el-GR" sz="2400" b="1" dirty="0">
                <a:latin typeface="Times New Roman" pitchFamily="18" charset="0"/>
                <a:cs typeface="Times New Roman" pitchFamily="18" charset="0"/>
              </a:rPr>
              <a:t>Ω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971800"/>
            <a:ext cx="7162800" cy="2049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5791200"/>
            <a:ext cx="830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Ans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 Current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= 4 A,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= 8 A,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="1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= 16 A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00" y="304800"/>
            <a:ext cx="8610600" cy="42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rgbClr val="C00000"/>
                </a:solidFill>
                <a:latin typeface="+mj-lt"/>
                <a:cs typeface="Times New Roman" pitchFamily="18" charset="0"/>
              </a:rPr>
              <a:t>References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R.C.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Dorf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James A. Svoboda, “Introduction to Electric Circuits”, 9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ed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John Wiley &amp; Sons, 2013.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D.C.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Kulshreshtha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Basic Electrical Engineering, Revised 1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ed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Tata Mc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Graw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Hill, 2017.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K.Mehta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Rohit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Mehta, Basic Electrical Engineering, 6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ed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S.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Chand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Publishing, 2012.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fld id="{B6F15528-21DE-4FAA-801E-634DDDAF4B2B}" type="slidenum">
              <a:rPr lang="en-US" smtClean="0">
                <a:latin typeface="Times New Roman" pitchFamily="18" charset="0"/>
                <a:cs typeface="Times New Roman" pitchFamily="18" charset="0"/>
              </a:rPr>
              <a:pPr>
                <a:lnSpc>
                  <a:spcPct val="150000"/>
                </a:lnSpc>
              </a:pPr>
              <a:t>33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902</Words>
  <Application>Microsoft Office PowerPoint</Application>
  <PresentationFormat>On-screen Show (4:3)</PresentationFormat>
  <Paragraphs>147</Paragraphs>
  <Slides>33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Slide 1</vt:lpstr>
      <vt:lpstr>CONTENTS</vt:lpstr>
      <vt:lpstr>Voltage Divider Rule</vt:lpstr>
      <vt:lpstr>Voltage Divider Calculation for two series resistor </vt:lpstr>
      <vt:lpstr>Contd..</vt:lpstr>
      <vt:lpstr>Voltage Divider Rule Using more than two Resistor</vt:lpstr>
      <vt:lpstr>Contd..</vt:lpstr>
      <vt:lpstr>Example-1</vt:lpstr>
      <vt:lpstr>Practice Problem</vt:lpstr>
      <vt:lpstr>Example 2</vt:lpstr>
      <vt:lpstr>Contd..</vt:lpstr>
      <vt:lpstr>Contd..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ankur bhardwaj</dc:creator>
  <cp:lastModifiedBy>ankur.bhardwaj</cp:lastModifiedBy>
  <cp:revision>1</cp:revision>
  <dcterms:created xsi:type="dcterms:W3CDTF">2006-08-16T00:00:00Z</dcterms:created>
  <dcterms:modified xsi:type="dcterms:W3CDTF">2024-07-30T10:04:11Z</dcterms:modified>
</cp:coreProperties>
</file>