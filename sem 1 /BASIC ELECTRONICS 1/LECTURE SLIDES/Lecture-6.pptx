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82"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7C16E6C-95A7-470D-8544-CF76B6B69D98}" type="datetimeFigureOut">
              <a:rPr lang="en-US" smtClean="0"/>
              <a:t>8/9/2024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E0905DD-1FDF-4581-A34C-79E4A02910BC}"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AADFAFA-5C95-4778-B23F-B0E5A512A27D}" type="slidenum">
              <a:rPr lang="en-US" smtClean="0"/>
              <a:pPr/>
              <a:t>2</a:t>
            </a:fld>
            <a:endParaRPr lang="en-US"/>
          </a:p>
        </p:txBody>
      </p:sp>
    </p:spTree>
    <p:extLst>
      <p:ext uri="{BB962C8B-B14F-4D97-AF65-F5344CB8AC3E}">
        <p14:creationId xmlns:p14="http://schemas.microsoft.com/office/powerpoint/2010/main" xmlns="" val="20702094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8/9/2024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96304" y="908720"/>
            <a:ext cx="5551392" cy="3231654"/>
          </a:xfrm>
          <a:prstGeom prst="rect">
            <a:avLst/>
          </a:prstGeom>
        </p:spPr>
        <p:txBody>
          <a:bodyPr wrap="none">
            <a:spAutoFit/>
          </a:bodyPr>
          <a:lstStyle/>
          <a:p>
            <a:pPr algn="ctr"/>
            <a:r>
              <a:rPr lang="en-US" sz="4400" b="1" dirty="0">
                <a:solidFill>
                  <a:srgbClr val="C00000"/>
                </a:solidFill>
                <a:latin typeface="+mj-lt"/>
              </a:rPr>
              <a:t>BASIC ELECTRONICS</a:t>
            </a:r>
          </a:p>
          <a:p>
            <a:pPr algn="ctr"/>
            <a:r>
              <a:rPr lang="en-US" sz="4400" b="1" dirty="0">
                <a:solidFill>
                  <a:srgbClr val="C00000"/>
                </a:solidFill>
                <a:latin typeface="Times New Roman" pitchFamily="18" charset="0"/>
                <a:cs typeface="Times New Roman" pitchFamily="18" charset="0"/>
              </a:rPr>
              <a:t>(24B11EC111)</a:t>
            </a:r>
          </a:p>
          <a:p>
            <a:pPr algn="ctr"/>
            <a:r>
              <a:rPr lang="en-US" sz="4400" b="1" dirty="0">
                <a:solidFill>
                  <a:srgbClr val="002060"/>
                </a:solidFill>
                <a:latin typeface="Times New Roman" pitchFamily="18" charset="0"/>
                <a:cs typeface="Times New Roman" pitchFamily="18" charset="0"/>
              </a:rPr>
              <a:t>Unit-1</a:t>
            </a:r>
          </a:p>
          <a:p>
            <a:pPr algn="ctr"/>
            <a:r>
              <a:rPr lang="en-US" sz="4400" b="1" dirty="0">
                <a:solidFill>
                  <a:srgbClr val="002060"/>
                </a:solidFill>
                <a:latin typeface="Times New Roman" pitchFamily="18" charset="0"/>
                <a:cs typeface="Times New Roman" pitchFamily="18" charset="0"/>
              </a:rPr>
              <a:t>Lecture-6</a:t>
            </a:r>
          </a:p>
          <a:p>
            <a:pPr algn="ctr"/>
            <a:r>
              <a:rPr lang="en-IN" sz="2400" b="1" dirty="0">
                <a:latin typeface="Times New Roman" panose="02020603050405020304" pitchFamily="18" charset="0"/>
                <a:cs typeface="Times New Roman" panose="02020603050405020304" pitchFamily="18" charset="0"/>
              </a:rPr>
              <a:t>(</a:t>
            </a:r>
            <a:r>
              <a:rPr lang="en-US" sz="2400" b="1" dirty="0">
                <a:latin typeface="Times New Roman" pitchFamily="18" charset="0"/>
                <a:cs typeface="Times New Roman" pitchFamily="18" charset="0"/>
              </a:rPr>
              <a:t>Methods of DC Circuit Analysis Contd.)</a:t>
            </a:r>
            <a:endParaRPr lang="en-US" sz="2400" b="1" dirty="0">
              <a:solidFill>
                <a:srgbClr val="002060"/>
              </a:solidFill>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7C7D6217-2CB0-4899-A90F-D165D154DCA2}" type="slidenum">
              <a:rPr lang="en-IN" smtClean="0">
                <a:latin typeface="Times New Roman" pitchFamily="18" charset="0"/>
                <a:cs typeface="Times New Roman" pitchFamily="18" charset="0"/>
              </a:rPr>
              <a:pPr/>
              <a:t>1</a:t>
            </a:fld>
            <a:endParaRPr lang="en-IN">
              <a:latin typeface="Times New Roman" pitchFamily="18" charset="0"/>
              <a:cs typeface="Times New Roman" pitchFamily="18" charset="0"/>
            </a:endParaRPr>
          </a:p>
        </p:txBody>
      </p:sp>
    </p:spTree>
    <p:extLst>
      <p:ext uri="{BB962C8B-B14F-4D97-AF65-F5344CB8AC3E}">
        <p14:creationId xmlns:p14="http://schemas.microsoft.com/office/powerpoint/2010/main" xmlns="" val="3772404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9214"/>
            <a:ext cx="7886700" cy="1325563"/>
          </a:xfrm>
        </p:spPr>
        <p:txBody>
          <a:bodyPr>
            <a:normAutofit/>
          </a:bodyPr>
          <a:lstStyle/>
          <a:p>
            <a:pPr algn="ctr"/>
            <a:r>
              <a:rPr lang="en-US" b="1" dirty="0">
                <a:solidFill>
                  <a:srgbClr val="C00000"/>
                </a:solidFill>
                <a:ea typeface="+mn-ea"/>
                <a:cs typeface="Times New Roman" panose="02020603050405020304" pitchFamily="18" charset="0"/>
              </a:rPr>
              <a:t>CONTENTS</a:t>
            </a:r>
          </a:p>
        </p:txBody>
      </p:sp>
      <p:sp>
        <p:nvSpPr>
          <p:cNvPr id="3" name="Content Placeholder 2"/>
          <p:cNvSpPr>
            <a:spLocks noGrp="1"/>
          </p:cNvSpPr>
          <p:nvPr>
            <p:ph sz="quarter" idx="1"/>
          </p:nvPr>
        </p:nvSpPr>
        <p:spPr>
          <a:xfrm>
            <a:off x="628650" y="1463900"/>
            <a:ext cx="7886700" cy="4860700"/>
          </a:xfrm>
        </p:spPr>
        <p:txBody>
          <a:bodyPr>
            <a:normAutofit/>
          </a:bodyPr>
          <a:lstStyle/>
          <a:p>
            <a:r>
              <a:rPr lang="en-IN" b="1" dirty="0">
                <a:cs typeface="Times New Roman" panose="02020603050405020304" pitchFamily="18" charset="0"/>
              </a:rPr>
              <a:t>Mesh Current Analysis with Current and Voltage Sources</a:t>
            </a:r>
          </a:p>
          <a:p>
            <a:r>
              <a:rPr lang="en-IN" b="1" dirty="0">
                <a:cs typeface="Times New Roman" panose="02020603050405020304" pitchFamily="18" charset="0"/>
              </a:rPr>
              <a:t>Mesh Current Analysis with </a:t>
            </a:r>
            <a:r>
              <a:rPr lang="en-IN" b="1" dirty="0" err="1">
                <a:cs typeface="Times New Roman" panose="02020603050405020304" pitchFamily="18" charset="0"/>
              </a:rPr>
              <a:t>Supermesh</a:t>
            </a:r>
            <a:r>
              <a:rPr lang="en-IN" b="1" dirty="0">
                <a:cs typeface="Times New Roman" panose="02020603050405020304" pitchFamily="18" charset="0"/>
              </a:rPr>
              <a:t> approach</a:t>
            </a:r>
          </a:p>
          <a:p>
            <a:r>
              <a:rPr lang="en-US" b="1" dirty="0">
                <a:cs typeface="Times New Roman" pitchFamily="18" charset="0"/>
              </a:rPr>
              <a:t>Problem</a:t>
            </a:r>
          </a:p>
          <a:p>
            <a:r>
              <a:rPr lang="en-US" b="1" dirty="0">
                <a:cs typeface="Times New Roman" pitchFamily="18" charset="0"/>
              </a:rPr>
              <a:t>References</a:t>
            </a:r>
          </a:p>
        </p:txBody>
      </p:sp>
      <p:sp>
        <p:nvSpPr>
          <p:cNvPr id="4" name="Slide Number Placeholder 3"/>
          <p:cNvSpPr>
            <a:spLocks noGrp="1"/>
          </p:cNvSpPr>
          <p:nvPr>
            <p:ph type="sldNum" sz="quarter" idx="12"/>
          </p:nvPr>
        </p:nvSpPr>
        <p:spPr/>
        <p:txBody>
          <a:bodyPr/>
          <a:lstStyle/>
          <a:p>
            <a:fld id="{D679BDA3-1F2F-45F2-80B6-CFADEE268BA9}" type="slidenum">
              <a:rPr lang="en-IN" b="1" smtClean="0">
                <a:solidFill>
                  <a:prstClr val="black">
                    <a:tint val="75000"/>
                  </a:prstClr>
                </a:solidFill>
              </a:rPr>
              <a:pPr/>
              <a:t>2</a:t>
            </a:fld>
            <a:endParaRPr lang="en-IN" b="1">
              <a:solidFill>
                <a:prstClr val="black">
                  <a:tint val="75000"/>
                </a:prstClr>
              </a:solidFill>
            </a:endParaRPr>
          </a:p>
        </p:txBody>
      </p:sp>
    </p:spTree>
    <p:extLst>
      <p:ext uri="{BB962C8B-B14F-4D97-AF65-F5344CB8AC3E}">
        <p14:creationId xmlns:p14="http://schemas.microsoft.com/office/powerpoint/2010/main" xmlns="" val="3788079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cstate="print"/>
          <a:srcRect/>
          <a:stretch>
            <a:fillRect/>
          </a:stretch>
        </p:blipFill>
        <p:spPr bwMode="auto">
          <a:xfrm>
            <a:off x="1695450" y="1447800"/>
            <a:ext cx="5238750" cy="2318884"/>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fld id="{B6F15528-21DE-4FAA-801E-634DDDAF4B2B}" type="slidenum">
              <a:rPr lang="en-US" smtClean="0"/>
              <a:pPr/>
              <a:t>3</a:t>
            </a:fld>
            <a:endParaRPr lang="en-US"/>
          </a:p>
        </p:txBody>
      </p:sp>
      <p:sp>
        <p:nvSpPr>
          <p:cNvPr id="3" name="Rectangle 2"/>
          <p:cNvSpPr/>
          <p:nvPr/>
        </p:nvSpPr>
        <p:spPr>
          <a:xfrm>
            <a:off x="304800" y="1066800"/>
            <a:ext cx="8229600" cy="646331"/>
          </a:xfrm>
          <a:prstGeom prst="rect">
            <a:avLst/>
          </a:prstGeom>
        </p:spPr>
        <p:txBody>
          <a:bodyPr wrap="square">
            <a:spAutoFit/>
          </a:bodyPr>
          <a:lstStyle/>
          <a:p>
            <a:r>
              <a:rPr lang="en-IN" b="1" dirty="0"/>
              <a:t>we have a current source i</a:t>
            </a:r>
            <a:r>
              <a:rPr lang="en-IN" b="1" baseline="-25000" dirty="0"/>
              <a:t>s</a:t>
            </a:r>
            <a:r>
              <a:rPr lang="en-IN" b="1" dirty="0"/>
              <a:t> that has an unknown voltage </a:t>
            </a:r>
            <a:r>
              <a:rPr lang="en-IN" b="1" dirty="0" err="1"/>
              <a:t>v</a:t>
            </a:r>
            <a:r>
              <a:rPr lang="en-IN" b="1" baseline="-25000" dirty="0" err="1"/>
              <a:t>ab</a:t>
            </a:r>
            <a:r>
              <a:rPr lang="en-IN" b="1" dirty="0"/>
              <a:t> across its terminals. We can readily note that</a:t>
            </a:r>
          </a:p>
        </p:txBody>
      </p:sp>
      <p:sp>
        <p:nvSpPr>
          <p:cNvPr id="4" name="Rectangle 3"/>
          <p:cNvSpPr/>
          <p:nvPr/>
        </p:nvSpPr>
        <p:spPr>
          <a:xfrm>
            <a:off x="304800" y="112693"/>
            <a:ext cx="8458200" cy="1077218"/>
          </a:xfrm>
          <a:prstGeom prst="rect">
            <a:avLst/>
          </a:prstGeom>
        </p:spPr>
        <p:txBody>
          <a:bodyPr wrap="square">
            <a:spAutoFit/>
          </a:bodyPr>
          <a:lstStyle/>
          <a:p>
            <a:pPr algn="ctr"/>
            <a:r>
              <a:rPr lang="en-IN" sz="3200" b="1" dirty="0">
                <a:solidFill>
                  <a:srgbClr val="C00000"/>
                </a:solidFill>
                <a:latin typeface="+mj-lt"/>
                <a:cs typeface="Times New Roman" panose="02020603050405020304" pitchFamily="18" charset="0"/>
              </a:rPr>
              <a:t>Mesh Current Analysis with Current and Voltage Sources</a:t>
            </a:r>
          </a:p>
        </p:txBody>
      </p:sp>
      <p:pic>
        <p:nvPicPr>
          <p:cNvPr id="13315" name="Picture 3"/>
          <p:cNvPicPr>
            <a:picLocks noChangeAspect="1" noChangeArrowheads="1"/>
          </p:cNvPicPr>
          <p:nvPr/>
        </p:nvPicPr>
        <p:blipFill>
          <a:blip r:embed="rId3" cstate="print"/>
          <a:srcRect/>
          <a:stretch>
            <a:fillRect/>
          </a:stretch>
        </p:blipFill>
        <p:spPr bwMode="auto">
          <a:xfrm>
            <a:off x="5105400" y="3962400"/>
            <a:ext cx="2438400" cy="572740"/>
          </a:xfrm>
          <a:prstGeom prst="rect">
            <a:avLst/>
          </a:prstGeom>
          <a:noFill/>
          <a:ln w="9525">
            <a:noFill/>
            <a:miter lim="800000"/>
            <a:headEnd/>
            <a:tailEnd/>
          </a:ln>
        </p:spPr>
      </p:pic>
      <p:sp>
        <p:nvSpPr>
          <p:cNvPr id="7" name="Rectangle 6"/>
          <p:cNvSpPr/>
          <p:nvPr/>
        </p:nvSpPr>
        <p:spPr>
          <a:xfrm>
            <a:off x="1143000" y="4038600"/>
            <a:ext cx="2548518" cy="369332"/>
          </a:xfrm>
          <a:prstGeom prst="rect">
            <a:avLst/>
          </a:prstGeom>
        </p:spPr>
        <p:txBody>
          <a:bodyPr wrap="none">
            <a:spAutoFit/>
          </a:bodyPr>
          <a:lstStyle/>
          <a:p>
            <a:r>
              <a:rPr lang="en-IN" b="1" dirty="0"/>
              <a:t>by writing KCL at node a.</a:t>
            </a:r>
          </a:p>
        </p:txBody>
      </p:sp>
      <p:sp>
        <p:nvSpPr>
          <p:cNvPr id="8" name="Rectangle 7"/>
          <p:cNvSpPr/>
          <p:nvPr/>
        </p:nvSpPr>
        <p:spPr>
          <a:xfrm>
            <a:off x="381000" y="5029200"/>
            <a:ext cx="2896755" cy="369332"/>
          </a:xfrm>
          <a:prstGeom prst="rect">
            <a:avLst/>
          </a:prstGeom>
        </p:spPr>
        <p:txBody>
          <a:bodyPr wrap="none">
            <a:spAutoFit/>
          </a:bodyPr>
          <a:lstStyle/>
          <a:p>
            <a:r>
              <a:rPr lang="en-IN" b="1" dirty="0"/>
              <a:t>The two mesh equations are</a:t>
            </a:r>
          </a:p>
        </p:txBody>
      </p:sp>
      <p:pic>
        <p:nvPicPr>
          <p:cNvPr id="13316" name="Picture 4"/>
          <p:cNvPicPr>
            <a:picLocks noChangeAspect="1" noChangeArrowheads="1"/>
          </p:cNvPicPr>
          <p:nvPr/>
        </p:nvPicPr>
        <p:blipFill>
          <a:blip r:embed="rId4" cstate="print"/>
          <a:srcRect/>
          <a:stretch>
            <a:fillRect/>
          </a:stretch>
        </p:blipFill>
        <p:spPr bwMode="auto">
          <a:xfrm>
            <a:off x="3657600" y="5029200"/>
            <a:ext cx="4567238" cy="1033205"/>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4</a:t>
            </a:fld>
            <a:endParaRPr lang="en-US"/>
          </a:p>
        </p:txBody>
      </p:sp>
      <p:sp>
        <p:nvSpPr>
          <p:cNvPr id="3" name="Rectangle 2"/>
          <p:cNvSpPr/>
          <p:nvPr/>
        </p:nvSpPr>
        <p:spPr>
          <a:xfrm>
            <a:off x="304800" y="1371600"/>
            <a:ext cx="2835584" cy="369332"/>
          </a:xfrm>
          <a:prstGeom prst="rect">
            <a:avLst/>
          </a:prstGeom>
        </p:spPr>
        <p:txBody>
          <a:bodyPr wrap="none">
            <a:spAutoFit/>
          </a:bodyPr>
          <a:lstStyle/>
          <a:p>
            <a:r>
              <a:rPr lang="en-IN" b="1" dirty="0"/>
              <a:t>we eliminate </a:t>
            </a:r>
            <a:r>
              <a:rPr lang="en-IN" b="1" dirty="0" err="1"/>
              <a:t>v</a:t>
            </a:r>
            <a:r>
              <a:rPr lang="en-IN" b="1" baseline="-25000" dirty="0" err="1"/>
              <a:t>ab</a:t>
            </a:r>
            <a:r>
              <a:rPr lang="en-IN" b="1" dirty="0"/>
              <a:t>, obtaining</a:t>
            </a:r>
          </a:p>
        </p:txBody>
      </p:sp>
      <p:pic>
        <p:nvPicPr>
          <p:cNvPr id="4" name="Picture 2"/>
          <p:cNvPicPr>
            <a:picLocks noChangeAspect="1" noChangeArrowheads="1"/>
          </p:cNvPicPr>
          <p:nvPr/>
        </p:nvPicPr>
        <p:blipFill>
          <a:blip r:embed="rId2" cstate="print"/>
          <a:srcRect/>
          <a:stretch>
            <a:fillRect/>
          </a:stretch>
        </p:blipFill>
        <p:spPr bwMode="auto">
          <a:xfrm>
            <a:off x="4059234" y="1143000"/>
            <a:ext cx="4303716" cy="1905000"/>
          </a:xfrm>
          <a:prstGeom prst="rect">
            <a:avLst/>
          </a:prstGeom>
          <a:noFill/>
          <a:ln w="9525">
            <a:noFill/>
            <a:miter lim="800000"/>
            <a:headEnd/>
            <a:tailEnd/>
          </a:ln>
        </p:spPr>
      </p:pic>
      <p:sp>
        <p:nvSpPr>
          <p:cNvPr id="5" name="Rectangle 4"/>
          <p:cNvSpPr/>
          <p:nvPr/>
        </p:nvSpPr>
        <p:spPr>
          <a:xfrm>
            <a:off x="304800" y="112693"/>
            <a:ext cx="8458200" cy="1077218"/>
          </a:xfrm>
          <a:prstGeom prst="rect">
            <a:avLst/>
          </a:prstGeom>
        </p:spPr>
        <p:txBody>
          <a:bodyPr wrap="square">
            <a:spAutoFit/>
          </a:bodyPr>
          <a:lstStyle/>
          <a:p>
            <a:pPr algn="ctr"/>
            <a:r>
              <a:rPr lang="en-IN" sz="3200" b="1" dirty="0">
                <a:solidFill>
                  <a:srgbClr val="C00000"/>
                </a:solidFill>
                <a:latin typeface="+mj-lt"/>
                <a:cs typeface="Times New Roman" panose="02020603050405020304" pitchFamily="18" charset="0"/>
              </a:rPr>
              <a:t>Mesh Current Analysis with Current and Voltage Sources</a:t>
            </a:r>
          </a:p>
        </p:txBody>
      </p:sp>
      <p:pic>
        <p:nvPicPr>
          <p:cNvPr id="14338" name="Picture 2"/>
          <p:cNvPicPr>
            <a:picLocks noChangeAspect="1" noChangeArrowheads="1"/>
          </p:cNvPicPr>
          <p:nvPr/>
        </p:nvPicPr>
        <p:blipFill>
          <a:blip r:embed="rId3" cstate="print"/>
          <a:srcRect/>
          <a:stretch>
            <a:fillRect/>
          </a:stretch>
        </p:blipFill>
        <p:spPr bwMode="auto">
          <a:xfrm>
            <a:off x="304801" y="3048000"/>
            <a:ext cx="3810000" cy="408061"/>
          </a:xfrm>
          <a:prstGeom prst="rect">
            <a:avLst/>
          </a:prstGeom>
          <a:noFill/>
          <a:ln w="9525">
            <a:noFill/>
            <a:miter lim="800000"/>
            <a:headEnd/>
            <a:tailEnd/>
          </a:ln>
        </p:spPr>
      </p:pic>
      <p:pic>
        <p:nvPicPr>
          <p:cNvPr id="14339" name="Picture 3"/>
          <p:cNvPicPr>
            <a:picLocks noChangeAspect="1" noChangeArrowheads="1"/>
          </p:cNvPicPr>
          <p:nvPr/>
        </p:nvPicPr>
        <p:blipFill>
          <a:blip r:embed="rId4" cstate="print"/>
          <a:srcRect/>
          <a:stretch>
            <a:fillRect/>
          </a:stretch>
        </p:blipFill>
        <p:spPr bwMode="auto">
          <a:xfrm>
            <a:off x="228600" y="3810000"/>
            <a:ext cx="5722327" cy="381000"/>
          </a:xfrm>
          <a:prstGeom prst="rect">
            <a:avLst/>
          </a:prstGeom>
          <a:noFill/>
          <a:ln w="9525">
            <a:noFill/>
            <a:miter lim="800000"/>
            <a:headEnd/>
            <a:tailEnd/>
          </a:ln>
        </p:spPr>
      </p:pic>
      <p:pic>
        <p:nvPicPr>
          <p:cNvPr id="14340" name="Picture 4"/>
          <p:cNvPicPr>
            <a:picLocks noChangeAspect="1" noChangeArrowheads="1"/>
          </p:cNvPicPr>
          <p:nvPr/>
        </p:nvPicPr>
        <p:blipFill>
          <a:blip r:embed="rId5" cstate="print"/>
          <a:srcRect/>
          <a:stretch>
            <a:fillRect/>
          </a:stretch>
        </p:blipFill>
        <p:spPr bwMode="auto">
          <a:xfrm>
            <a:off x="1219200" y="4267200"/>
            <a:ext cx="5362575" cy="457200"/>
          </a:xfrm>
          <a:prstGeom prst="rect">
            <a:avLst/>
          </a:prstGeom>
          <a:noFill/>
          <a:ln w="9525">
            <a:noFill/>
            <a:miter lim="800000"/>
            <a:headEnd/>
            <a:tailEnd/>
          </a:ln>
        </p:spPr>
      </p:pic>
      <p:pic>
        <p:nvPicPr>
          <p:cNvPr id="14341" name="Picture 5"/>
          <p:cNvPicPr>
            <a:picLocks noChangeAspect="1" noChangeArrowheads="1"/>
          </p:cNvPicPr>
          <p:nvPr/>
        </p:nvPicPr>
        <p:blipFill>
          <a:blip r:embed="rId6" cstate="print"/>
          <a:srcRect/>
          <a:stretch>
            <a:fillRect/>
          </a:stretch>
        </p:blipFill>
        <p:spPr bwMode="auto">
          <a:xfrm>
            <a:off x="2438400" y="5029200"/>
            <a:ext cx="3238500" cy="932295"/>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5</a:t>
            </a:fld>
            <a:endParaRPr lang="en-US"/>
          </a:p>
        </p:txBody>
      </p:sp>
      <p:sp>
        <p:nvSpPr>
          <p:cNvPr id="4" name="Rectangle 3"/>
          <p:cNvSpPr/>
          <p:nvPr/>
        </p:nvSpPr>
        <p:spPr>
          <a:xfrm>
            <a:off x="457200" y="1028343"/>
            <a:ext cx="8153400" cy="3785652"/>
          </a:xfrm>
          <a:prstGeom prst="rect">
            <a:avLst/>
          </a:prstGeom>
        </p:spPr>
        <p:txBody>
          <a:bodyPr wrap="square">
            <a:spAutoFit/>
          </a:bodyPr>
          <a:lstStyle/>
          <a:p>
            <a:pPr marL="342900" indent="-342900">
              <a:lnSpc>
                <a:spcPct val="150000"/>
              </a:lnSpc>
              <a:buFont typeface="Wingdings" pitchFamily="2" charset="2"/>
              <a:buChar char="Ø"/>
            </a:pPr>
            <a:r>
              <a:rPr lang="en-IN" sz="2000" b="1" dirty="0"/>
              <a:t>If the current source influences only one mesh current, we write the equation that relates that mesh current to the current source current and write the KVL equations for the remaining meshes.</a:t>
            </a:r>
          </a:p>
          <a:p>
            <a:pPr marL="342900" indent="-342900">
              <a:lnSpc>
                <a:spcPct val="150000"/>
              </a:lnSpc>
              <a:buFont typeface="Wingdings" pitchFamily="2" charset="2"/>
              <a:buChar char="Ø"/>
            </a:pPr>
            <a:endParaRPr lang="en-IN" sz="2000" b="1" dirty="0"/>
          </a:p>
          <a:p>
            <a:pPr marL="342900" indent="-342900">
              <a:lnSpc>
                <a:spcPct val="150000"/>
              </a:lnSpc>
              <a:buFont typeface="Wingdings" pitchFamily="2" charset="2"/>
              <a:buChar char="Ø"/>
            </a:pPr>
            <a:r>
              <a:rPr lang="en-IN" sz="2000" b="1" dirty="0"/>
              <a:t>If the current source influences two mesh currents, we write the KVL equation for both meshes, assuming a voltage </a:t>
            </a:r>
            <a:r>
              <a:rPr lang="en-IN" sz="2000" b="1" dirty="0" err="1"/>
              <a:t>v</a:t>
            </a:r>
            <a:r>
              <a:rPr lang="en-IN" sz="2000" b="1" baseline="-25000" dirty="0" err="1"/>
              <a:t>ab</a:t>
            </a:r>
            <a:r>
              <a:rPr lang="en-IN" sz="2000" b="1" dirty="0"/>
              <a:t> across the terminals of the current source. Then, adding these two mesh equations, we obtain an equation independent of </a:t>
            </a:r>
            <a:r>
              <a:rPr lang="en-IN" sz="2000" b="1" dirty="0" err="1"/>
              <a:t>v</a:t>
            </a:r>
            <a:r>
              <a:rPr lang="en-IN" sz="2000" b="1" baseline="-25000" dirty="0" err="1"/>
              <a:t>ab</a:t>
            </a:r>
            <a:r>
              <a:rPr lang="en-IN" sz="2000" b="1" dirty="0"/>
              <a:t>.</a:t>
            </a:r>
          </a:p>
        </p:txBody>
      </p:sp>
      <p:sp>
        <p:nvSpPr>
          <p:cNvPr id="5" name="Rectangle 4"/>
          <p:cNvSpPr/>
          <p:nvPr/>
        </p:nvSpPr>
        <p:spPr>
          <a:xfrm>
            <a:off x="304800" y="112693"/>
            <a:ext cx="8458200" cy="707886"/>
          </a:xfrm>
          <a:prstGeom prst="rect">
            <a:avLst/>
          </a:prstGeom>
        </p:spPr>
        <p:txBody>
          <a:bodyPr wrap="square">
            <a:spAutoFit/>
          </a:bodyPr>
          <a:lstStyle/>
          <a:p>
            <a:pPr algn="ctr"/>
            <a:r>
              <a:rPr lang="en-IN" sz="4000" b="1" dirty="0">
                <a:solidFill>
                  <a:srgbClr val="C00000"/>
                </a:solidFill>
                <a:latin typeface="+mj-lt"/>
                <a:cs typeface="Times New Roman" panose="02020603050405020304" pitchFamily="18" charset="0"/>
              </a:rPr>
              <a:t>Mesh Current Analysis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6</a:t>
            </a:fld>
            <a:endParaRPr lang="en-US"/>
          </a:p>
        </p:txBody>
      </p:sp>
      <p:sp>
        <p:nvSpPr>
          <p:cNvPr id="3" name="Rectangle 2"/>
          <p:cNvSpPr/>
          <p:nvPr/>
        </p:nvSpPr>
        <p:spPr>
          <a:xfrm>
            <a:off x="304800" y="228600"/>
            <a:ext cx="8305800" cy="707886"/>
          </a:xfrm>
          <a:prstGeom prst="rect">
            <a:avLst/>
          </a:prstGeom>
        </p:spPr>
        <p:txBody>
          <a:bodyPr wrap="square">
            <a:spAutoFit/>
          </a:bodyPr>
          <a:lstStyle/>
          <a:p>
            <a:pPr algn="ctr"/>
            <a:r>
              <a:rPr lang="en-IN" sz="4000" b="1" dirty="0">
                <a:solidFill>
                  <a:srgbClr val="C00000"/>
                </a:solidFill>
                <a:latin typeface="+mj-lt"/>
                <a:cs typeface="Times New Roman" panose="02020603050405020304" pitchFamily="18" charset="0"/>
              </a:rPr>
              <a:t>Problem</a:t>
            </a:r>
            <a:endParaRPr lang="en-US" sz="4000" b="1" dirty="0">
              <a:solidFill>
                <a:srgbClr val="C00000"/>
              </a:solidFill>
              <a:latin typeface="+mj-lt"/>
              <a:cs typeface="Times New Roman" pitchFamily="18" charset="0"/>
            </a:endParaRPr>
          </a:p>
        </p:txBody>
      </p:sp>
      <p:sp>
        <p:nvSpPr>
          <p:cNvPr id="4" name="Rectangle 3"/>
          <p:cNvSpPr/>
          <p:nvPr/>
        </p:nvSpPr>
        <p:spPr>
          <a:xfrm>
            <a:off x="457200" y="1066800"/>
            <a:ext cx="8305800" cy="707886"/>
          </a:xfrm>
          <a:prstGeom prst="rect">
            <a:avLst/>
          </a:prstGeom>
        </p:spPr>
        <p:txBody>
          <a:bodyPr wrap="square">
            <a:spAutoFit/>
          </a:bodyPr>
          <a:lstStyle/>
          <a:p>
            <a:r>
              <a:rPr lang="en-IN" sz="2000" b="1" dirty="0"/>
              <a:t>Consider the circuit of Figure  where R</a:t>
            </a:r>
            <a:r>
              <a:rPr lang="en-IN" sz="2000" b="1" baseline="-25000" dirty="0"/>
              <a:t>1</a:t>
            </a:r>
            <a:r>
              <a:rPr lang="en-IN" sz="2000" b="1" dirty="0"/>
              <a:t> = 1 </a:t>
            </a:r>
            <a:r>
              <a:rPr lang="el-GR" sz="2000" b="1" dirty="0"/>
              <a:t>Ω</a:t>
            </a:r>
            <a:r>
              <a:rPr lang="en-US" sz="2000" b="1" dirty="0"/>
              <a:t>,</a:t>
            </a:r>
            <a:r>
              <a:rPr lang="en-IN" sz="2000" b="1" dirty="0"/>
              <a:t> R</a:t>
            </a:r>
            <a:r>
              <a:rPr lang="en-IN" sz="2000" b="1" baseline="-25000" dirty="0"/>
              <a:t>2</a:t>
            </a:r>
            <a:r>
              <a:rPr lang="en-IN" sz="2000" b="1" dirty="0"/>
              <a:t> = 1 </a:t>
            </a:r>
            <a:r>
              <a:rPr lang="el-GR" sz="2000" b="1" dirty="0"/>
              <a:t>Ω</a:t>
            </a:r>
            <a:r>
              <a:rPr lang="en-IN" sz="2000" b="1" dirty="0"/>
              <a:t> and R</a:t>
            </a:r>
            <a:r>
              <a:rPr lang="en-IN" sz="2000" b="1" baseline="-25000" dirty="0"/>
              <a:t>3</a:t>
            </a:r>
            <a:r>
              <a:rPr lang="en-IN" sz="2000" b="1" dirty="0"/>
              <a:t> = 2 </a:t>
            </a:r>
            <a:r>
              <a:rPr lang="el-GR" sz="2000" b="1" dirty="0"/>
              <a:t>Ω</a:t>
            </a:r>
            <a:r>
              <a:rPr lang="en-IN" sz="2000" b="1" dirty="0"/>
              <a:t>. Find the three mesh currents.</a:t>
            </a:r>
          </a:p>
        </p:txBody>
      </p:sp>
      <p:pic>
        <p:nvPicPr>
          <p:cNvPr id="16386" name="Picture 2"/>
          <p:cNvPicPr>
            <a:picLocks noChangeAspect="1" noChangeArrowheads="1"/>
          </p:cNvPicPr>
          <p:nvPr/>
        </p:nvPicPr>
        <p:blipFill>
          <a:blip r:embed="rId2" cstate="print"/>
          <a:srcRect/>
          <a:stretch>
            <a:fillRect/>
          </a:stretch>
        </p:blipFill>
        <p:spPr bwMode="auto">
          <a:xfrm>
            <a:off x="1143000" y="1981200"/>
            <a:ext cx="6467475" cy="4476127"/>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7</a:t>
            </a:fld>
            <a:endParaRPr lang="en-US"/>
          </a:p>
        </p:txBody>
      </p:sp>
      <p:sp>
        <p:nvSpPr>
          <p:cNvPr id="3" name="Rectangle 2"/>
          <p:cNvSpPr/>
          <p:nvPr/>
        </p:nvSpPr>
        <p:spPr>
          <a:xfrm>
            <a:off x="304800" y="169590"/>
            <a:ext cx="8305800" cy="707886"/>
          </a:xfrm>
          <a:prstGeom prst="rect">
            <a:avLst/>
          </a:prstGeom>
        </p:spPr>
        <p:txBody>
          <a:bodyPr wrap="square">
            <a:spAutoFit/>
          </a:bodyPr>
          <a:lstStyle/>
          <a:p>
            <a:pPr algn="ctr"/>
            <a:r>
              <a:rPr lang="en-IN" sz="4000" b="1" dirty="0">
                <a:solidFill>
                  <a:srgbClr val="C00000"/>
                </a:solidFill>
                <a:latin typeface="+mj-lt"/>
                <a:cs typeface="Times New Roman" panose="02020603050405020304" pitchFamily="18" charset="0"/>
              </a:rPr>
              <a:t>Problem - </a:t>
            </a:r>
            <a:r>
              <a:rPr lang="en-US" altLang="en-US" sz="4000" b="1" dirty="0">
                <a:solidFill>
                  <a:srgbClr val="0066FF"/>
                </a:solidFill>
                <a:latin typeface="+mj-lt"/>
              </a:rPr>
              <a:t>Solution</a:t>
            </a:r>
            <a:endParaRPr lang="en-US" sz="4000" b="1" dirty="0">
              <a:solidFill>
                <a:srgbClr val="C00000"/>
              </a:solidFill>
              <a:latin typeface="+mj-lt"/>
              <a:cs typeface="Times New Roman" pitchFamily="18" charset="0"/>
            </a:endParaRPr>
          </a:p>
        </p:txBody>
      </p:sp>
      <p:pic>
        <p:nvPicPr>
          <p:cNvPr id="11" name="Picture 2"/>
          <p:cNvPicPr>
            <a:picLocks noChangeAspect="1" noChangeArrowheads="1"/>
          </p:cNvPicPr>
          <p:nvPr/>
        </p:nvPicPr>
        <p:blipFill>
          <a:blip r:embed="rId2" cstate="print"/>
          <a:srcRect/>
          <a:stretch>
            <a:fillRect/>
          </a:stretch>
        </p:blipFill>
        <p:spPr bwMode="auto">
          <a:xfrm>
            <a:off x="4800600" y="914400"/>
            <a:ext cx="3853500" cy="2667000"/>
          </a:xfrm>
          <a:prstGeom prst="rect">
            <a:avLst/>
          </a:prstGeom>
          <a:noFill/>
          <a:ln w="9525">
            <a:noFill/>
            <a:miter lim="800000"/>
            <a:headEnd/>
            <a:tailEnd/>
          </a:ln>
        </p:spPr>
      </p:pic>
      <p:sp>
        <p:nvSpPr>
          <p:cNvPr id="14" name="Rectangle 13"/>
          <p:cNvSpPr/>
          <p:nvPr/>
        </p:nvSpPr>
        <p:spPr>
          <a:xfrm>
            <a:off x="152400" y="3657600"/>
            <a:ext cx="4599080" cy="369332"/>
          </a:xfrm>
          <a:prstGeom prst="rect">
            <a:avLst/>
          </a:prstGeom>
        </p:spPr>
        <p:txBody>
          <a:bodyPr wrap="none">
            <a:spAutoFit/>
          </a:bodyPr>
          <a:lstStyle/>
          <a:p>
            <a:r>
              <a:rPr lang="en-IN" b="1" dirty="0"/>
              <a:t>Writing KVL for mesh 2 and mesh 3, we obtain</a:t>
            </a:r>
          </a:p>
        </p:txBody>
      </p:sp>
      <p:sp>
        <p:nvSpPr>
          <p:cNvPr id="9" name="Rectangle 8"/>
          <p:cNvSpPr/>
          <p:nvPr/>
        </p:nvSpPr>
        <p:spPr>
          <a:xfrm>
            <a:off x="304800" y="914400"/>
            <a:ext cx="3733800" cy="646331"/>
          </a:xfrm>
          <a:prstGeom prst="rect">
            <a:avLst/>
          </a:prstGeom>
        </p:spPr>
        <p:txBody>
          <a:bodyPr wrap="square">
            <a:spAutoFit/>
          </a:bodyPr>
          <a:lstStyle/>
          <a:p>
            <a:r>
              <a:rPr lang="en-IN" b="1" dirty="0"/>
              <a:t>Because the 4-A source is in mesh 1 only, we note that</a:t>
            </a:r>
          </a:p>
        </p:txBody>
      </p:sp>
      <p:pic>
        <p:nvPicPr>
          <p:cNvPr id="1026" name="Picture 2"/>
          <p:cNvPicPr>
            <a:picLocks noChangeAspect="1" noChangeArrowheads="1"/>
          </p:cNvPicPr>
          <p:nvPr/>
        </p:nvPicPr>
        <p:blipFill>
          <a:blip r:embed="rId3" cstate="print"/>
          <a:srcRect/>
          <a:stretch>
            <a:fillRect/>
          </a:stretch>
        </p:blipFill>
        <p:spPr bwMode="auto">
          <a:xfrm>
            <a:off x="1600200" y="1676400"/>
            <a:ext cx="990600" cy="371475"/>
          </a:xfrm>
          <a:prstGeom prst="rect">
            <a:avLst/>
          </a:prstGeom>
          <a:noFill/>
          <a:ln w="9525">
            <a:noFill/>
            <a:miter lim="800000"/>
            <a:headEnd/>
            <a:tailEnd/>
          </a:ln>
        </p:spPr>
      </p:pic>
      <p:sp>
        <p:nvSpPr>
          <p:cNvPr id="12" name="Rectangle 11"/>
          <p:cNvSpPr/>
          <p:nvPr/>
        </p:nvSpPr>
        <p:spPr>
          <a:xfrm>
            <a:off x="304800" y="2362200"/>
            <a:ext cx="2832378" cy="369332"/>
          </a:xfrm>
          <a:prstGeom prst="rect">
            <a:avLst/>
          </a:prstGeom>
        </p:spPr>
        <p:txBody>
          <a:bodyPr wrap="none">
            <a:spAutoFit/>
          </a:bodyPr>
          <a:lstStyle/>
          <a:p>
            <a:r>
              <a:rPr lang="en-IN" b="1" dirty="0"/>
              <a:t>For the 5-A source, we have</a:t>
            </a:r>
          </a:p>
        </p:txBody>
      </p:sp>
      <p:pic>
        <p:nvPicPr>
          <p:cNvPr id="1027" name="Picture 3"/>
          <p:cNvPicPr>
            <a:picLocks noChangeAspect="1" noChangeArrowheads="1"/>
          </p:cNvPicPr>
          <p:nvPr/>
        </p:nvPicPr>
        <p:blipFill>
          <a:blip r:embed="rId4" cstate="print"/>
          <a:srcRect/>
          <a:stretch>
            <a:fillRect/>
          </a:stretch>
        </p:blipFill>
        <p:spPr bwMode="auto">
          <a:xfrm>
            <a:off x="914401" y="2944820"/>
            <a:ext cx="1828799" cy="379224"/>
          </a:xfrm>
          <a:prstGeom prst="rect">
            <a:avLst/>
          </a:prstGeom>
          <a:noFill/>
          <a:ln w="9525">
            <a:noFill/>
            <a:miter lim="800000"/>
            <a:headEnd/>
            <a:tailEnd/>
          </a:ln>
        </p:spPr>
      </p:pic>
      <p:pic>
        <p:nvPicPr>
          <p:cNvPr id="1028" name="Picture 4"/>
          <p:cNvPicPr>
            <a:picLocks noChangeAspect="1" noChangeArrowheads="1"/>
          </p:cNvPicPr>
          <p:nvPr/>
        </p:nvPicPr>
        <p:blipFill>
          <a:blip r:embed="rId5" cstate="print"/>
          <a:srcRect/>
          <a:stretch>
            <a:fillRect/>
          </a:stretch>
        </p:blipFill>
        <p:spPr bwMode="auto">
          <a:xfrm>
            <a:off x="1447800" y="4267200"/>
            <a:ext cx="4191000" cy="83820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8</a:t>
            </a:fld>
            <a:endParaRPr lang="en-US"/>
          </a:p>
        </p:txBody>
      </p:sp>
      <p:sp>
        <p:nvSpPr>
          <p:cNvPr id="5" name="Rectangle 4"/>
          <p:cNvSpPr/>
          <p:nvPr/>
        </p:nvSpPr>
        <p:spPr>
          <a:xfrm>
            <a:off x="304800" y="228600"/>
            <a:ext cx="8305800" cy="707886"/>
          </a:xfrm>
          <a:prstGeom prst="rect">
            <a:avLst/>
          </a:prstGeom>
        </p:spPr>
        <p:txBody>
          <a:bodyPr wrap="square">
            <a:spAutoFit/>
          </a:bodyPr>
          <a:lstStyle/>
          <a:p>
            <a:pPr algn="ctr"/>
            <a:r>
              <a:rPr lang="en-IN" sz="4000" b="1" dirty="0">
                <a:solidFill>
                  <a:srgbClr val="C00000"/>
                </a:solidFill>
                <a:latin typeface="+mj-lt"/>
                <a:cs typeface="Times New Roman" panose="02020603050405020304" pitchFamily="18" charset="0"/>
              </a:rPr>
              <a:t>Problem - </a:t>
            </a:r>
            <a:r>
              <a:rPr lang="en-US" altLang="en-US" sz="4000" b="1" dirty="0">
                <a:solidFill>
                  <a:srgbClr val="0066FF"/>
                </a:solidFill>
                <a:latin typeface="+mj-lt"/>
              </a:rPr>
              <a:t>Solution</a:t>
            </a:r>
            <a:endParaRPr lang="en-US" sz="4000" b="1" dirty="0">
              <a:solidFill>
                <a:srgbClr val="C00000"/>
              </a:solidFill>
              <a:latin typeface="+mj-lt"/>
              <a:cs typeface="Times New Roman" pitchFamily="18" charset="0"/>
            </a:endParaRPr>
          </a:p>
        </p:txBody>
      </p:sp>
      <p:pic>
        <p:nvPicPr>
          <p:cNvPr id="6" name="Picture 2"/>
          <p:cNvPicPr>
            <a:picLocks noChangeAspect="1" noChangeArrowheads="1"/>
          </p:cNvPicPr>
          <p:nvPr/>
        </p:nvPicPr>
        <p:blipFill>
          <a:blip r:embed="rId2" cstate="print"/>
          <a:srcRect/>
          <a:stretch>
            <a:fillRect/>
          </a:stretch>
        </p:blipFill>
        <p:spPr bwMode="auto">
          <a:xfrm>
            <a:off x="5290500" y="1066800"/>
            <a:ext cx="3853500" cy="2667000"/>
          </a:xfrm>
          <a:prstGeom prst="rect">
            <a:avLst/>
          </a:prstGeom>
          <a:noFill/>
          <a:ln w="9525">
            <a:noFill/>
            <a:miter lim="800000"/>
            <a:headEnd/>
            <a:tailEnd/>
          </a:ln>
        </p:spPr>
      </p:pic>
      <p:sp>
        <p:nvSpPr>
          <p:cNvPr id="7" name="Rectangle 6"/>
          <p:cNvSpPr/>
          <p:nvPr/>
        </p:nvSpPr>
        <p:spPr>
          <a:xfrm>
            <a:off x="381000" y="1066800"/>
            <a:ext cx="4483087" cy="369332"/>
          </a:xfrm>
          <a:prstGeom prst="rect">
            <a:avLst/>
          </a:prstGeom>
        </p:spPr>
        <p:txBody>
          <a:bodyPr wrap="none">
            <a:spAutoFit/>
          </a:bodyPr>
          <a:lstStyle/>
          <a:p>
            <a:r>
              <a:rPr lang="en-IN" b="1" dirty="0"/>
              <a:t>We substitute i</a:t>
            </a:r>
            <a:r>
              <a:rPr lang="en-IN" b="1" baseline="-25000" dirty="0"/>
              <a:t>1</a:t>
            </a:r>
            <a:r>
              <a:rPr lang="en-IN" b="1" dirty="0"/>
              <a:t> = 4 , and add both equations</a:t>
            </a:r>
          </a:p>
        </p:txBody>
      </p:sp>
      <p:pic>
        <p:nvPicPr>
          <p:cNvPr id="2050" name="Picture 2"/>
          <p:cNvPicPr>
            <a:picLocks noChangeAspect="1" noChangeArrowheads="1"/>
          </p:cNvPicPr>
          <p:nvPr/>
        </p:nvPicPr>
        <p:blipFill>
          <a:blip r:embed="rId3" cstate="print"/>
          <a:srcRect/>
          <a:stretch>
            <a:fillRect/>
          </a:stretch>
        </p:blipFill>
        <p:spPr bwMode="auto">
          <a:xfrm>
            <a:off x="381000" y="1848970"/>
            <a:ext cx="4495800" cy="352611"/>
          </a:xfrm>
          <a:prstGeom prst="rect">
            <a:avLst/>
          </a:prstGeom>
          <a:noFill/>
          <a:ln w="9525">
            <a:noFill/>
            <a:miter lim="800000"/>
            <a:headEnd/>
            <a:tailEnd/>
          </a:ln>
        </p:spPr>
      </p:pic>
      <p:sp>
        <p:nvSpPr>
          <p:cNvPr id="8" name="Rectangle 7"/>
          <p:cNvSpPr/>
          <p:nvPr/>
        </p:nvSpPr>
        <p:spPr>
          <a:xfrm>
            <a:off x="228600" y="3048000"/>
            <a:ext cx="4191000" cy="369332"/>
          </a:xfrm>
          <a:prstGeom prst="rect">
            <a:avLst/>
          </a:prstGeom>
        </p:spPr>
        <p:txBody>
          <a:bodyPr wrap="square">
            <a:spAutoFit/>
          </a:bodyPr>
          <a:lstStyle/>
          <a:p>
            <a:r>
              <a:rPr lang="en-IN" b="1" dirty="0"/>
              <a:t>From </a:t>
            </a:r>
            <a:r>
              <a:rPr lang="en-IN" b="1" dirty="0" err="1"/>
              <a:t>Eq</a:t>
            </a:r>
            <a:r>
              <a:rPr lang="en-IN" b="1" dirty="0"/>
              <a:t>. i</a:t>
            </a:r>
            <a:r>
              <a:rPr lang="en-IN" b="1" baseline="-25000" dirty="0"/>
              <a:t>2</a:t>
            </a:r>
            <a:r>
              <a:rPr lang="en-IN" b="1" dirty="0"/>
              <a:t> = 5 + i</a:t>
            </a:r>
            <a:r>
              <a:rPr lang="en-IN" b="1" baseline="-25000" dirty="0"/>
              <a:t>3 </a:t>
            </a:r>
            <a:r>
              <a:rPr lang="en-IN" b="1" dirty="0"/>
              <a:t>,  we have</a:t>
            </a:r>
          </a:p>
        </p:txBody>
      </p:sp>
      <p:pic>
        <p:nvPicPr>
          <p:cNvPr id="2051" name="Picture 3"/>
          <p:cNvPicPr>
            <a:picLocks noChangeAspect="1" noChangeArrowheads="1"/>
          </p:cNvPicPr>
          <p:nvPr/>
        </p:nvPicPr>
        <p:blipFill>
          <a:blip r:embed="rId4" cstate="print"/>
          <a:srcRect/>
          <a:stretch>
            <a:fillRect/>
          </a:stretch>
        </p:blipFill>
        <p:spPr bwMode="auto">
          <a:xfrm>
            <a:off x="304800" y="3657600"/>
            <a:ext cx="4876800" cy="340465"/>
          </a:xfrm>
          <a:prstGeom prst="rect">
            <a:avLst/>
          </a:prstGeom>
          <a:noFill/>
          <a:ln w="9525">
            <a:noFill/>
            <a:miter lim="800000"/>
            <a:headEnd/>
            <a:tailEnd/>
          </a:ln>
        </p:spPr>
      </p:pic>
      <p:sp>
        <p:nvSpPr>
          <p:cNvPr id="10" name="Rectangle 9"/>
          <p:cNvSpPr/>
          <p:nvPr/>
        </p:nvSpPr>
        <p:spPr>
          <a:xfrm>
            <a:off x="304800" y="4572000"/>
            <a:ext cx="4368953" cy="369332"/>
          </a:xfrm>
          <a:prstGeom prst="rect">
            <a:avLst/>
          </a:prstGeom>
        </p:spPr>
        <p:txBody>
          <a:bodyPr wrap="none">
            <a:spAutoFit/>
          </a:bodyPr>
          <a:lstStyle/>
          <a:p>
            <a:r>
              <a:rPr lang="en-IN" b="1" dirty="0"/>
              <a:t>Using the values for the resistors, we obtain</a:t>
            </a:r>
          </a:p>
        </p:txBody>
      </p:sp>
      <p:pic>
        <p:nvPicPr>
          <p:cNvPr id="2052" name="Picture 4"/>
          <p:cNvPicPr>
            <a:picLocks noChangeAspect="1" noChangeArrowheads="1"/>
          </p:cNvPicPr>
          <p:nvPr/>
        </p:nvPicPr>
        <p:blipFill>
          <a:blip r:embed="rId5" cstate="print"/>
          <a:srcRect/>
          <a:stretch>
            <a:fillRect/>
          </a:stretch>
        </p:blipFill>
        <p:spPr bwMode="auto">
          <a:xfrm>
            <a:off x="445081" y="5105400"/>
            <a:ext cx="4431719" cy="68580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9</a:t>
            </a:fld>
            <a:endParaRPr lang="en-US"/>
          </a:p>
        </p:txBody>
      </p:sp>
      <p:sp>
        <p:nvSpPr>
          <p:cNvPr id="3" name="Rectangle 2"/>
          <p:cNvSpPr/>
          <p:nvPr/>
        </p:nvSpPr>
        <p:spPr>
          <a:xfrm>
            <a:off x="251520" y="112693"/>
            <a:ext cx="8511480" cy="1077218"/>
          </a:xfrm>
          <a:prstGeom prst="rect">
            <a:avLst/>
          </a:prstGeom>
        </p:spPr>
        <p:txBody>
          <a:bodyPr wrap="square">
            <a:spAutoFit/>
          </a:bodyPr>
          <a:lstStyle/>
          <a:p>
            <a:pPr algn="ctr"/>
            <a:r>
              <a:rPr lang="en-IN" sz="3200" b="1" dirty="0">
                <a:solidFill>
                  <a:srgbClr val="C00000"/>
                </a:solidFill>
                <a:latin typeface="+mj-lt"/>
                <a:cs typeface="Times New Roman" panose="02020603050405020304" pitchFamily="18" charset="0"/>
              </a:rPr>
              <a:t>Mesh Current Analysis with Current and Voltage Sources</a:t>
            </a:r>
          </a:p>
        </p:txBody>
      </p:sp>
      <p:sp>
        <p:nvSpPr>
          <p:cNvPr id="4" name="Rectangle 3"/>
          <p:cNvSpPr/>
          <p:nvPr/>
        </p:nvSpPr>
        <p:spPr>
          <a:xfrm>
            <a:off x="457200" y="1143000"/>
            <a:ext cx="8305800" cy="1200329"/>
          </a:xfrm>
          <a:prstGeom prst="rect">
            <a:avLst/>
          </a:prstGeom>
        </p:spPr>
        <p:txBody>
          <a:bodyPr wrap="square">
            <a:spAutoFit/>
          </a:bodyPr>
          <a:lstStyle/>
          <a:p>
            <a:pPr marL="342900" indent="-342900">
              <a:buFont typeface="Arial" pitchFamily="34" charset="0"/>
              <a:buChar char="•"/>
            </a:pPr>
            <a:r>
              <a:rPr lang="en-IN" b="1" dirty="0"/>
              <a:t>Another technique for the mesh analysis method when a current source is common to two meshes involves the concept of a </a:t>
            </a:r>
            <a:r>
              <a:rPr lang="en-IN" b="1" dirty="0" err="1"/>
              <a:t>supermesh</a:t>
            </a:r>
            <a:r>
              <a:rPr lang="en-IN" b="1" dirty="0"/>
              <a:t>.</a:t>
            </a:r>
          </a:p>
          <a:p>
            <a:pPr marL="342900" indent="-342900">
              <a:buFont typeface="Arial" pitchFamily="34" charset="0"/>
              <a:buChar char="•"/>
            </a:pPr>
            <a:r>
              <a:rPr lang="en-IN" b="1" dirty="0"/>
              <a:t>A </a:t>
            </a:r>
            <a:r>
              <a:rPr lang="en-IN" b="1" dirty="0" err="1"/>
              <a:t>supermesh</a:t>
            </a:r>
            <a:r>
              <a:rPr lang="en-IN" b="1" dirty="0"/>
              <a:t> is one larger mesh created from two meshes that have an independent or dependent current source in common, as shown in Figure.</a:t>
            </a:r>
          </a:p>
        </p:txBody>
      </p:sp>
      <p:pic>
        <p:nvPicPr>
          <p:cNvPr id="3074" name="Picture 2"/>
          <p:cNvPicPr>
            <a:picLocks noChangeAspect="1" noChangeArrowheads="1"/>
          </p:cNvPicPr>
          <p:nvPr/>
        </p:nvPicPr>
        <p:blipFill>
          <a:blip r:embed="rId2" cstate="print"/>
          <a:srcRect/>
          <a:stretch>
            <a:fillRect/>
          </a:stretch>
        </p:blipFill>
        <p:spPr bwMode="auto">
          <a:xfrm>
            <a:off x="2133600" y="2362200"/>
            <a:ext cx="4257098" cy="3500438"/>
          </a:xfrm>
          <a:prstGeom prst="rect">
            <a:avLst/>
          </a:prstGeom>
          <a:noFill/>
          <a:ln w="9525">
            <a:noFill/>
            <a:miter lim="800000"/>
            <a:headEnd/>
            <a:tailEnd/>
          </a:ln>
        </p:spPr>
      </p:pic>
      <p:sp>
        <p:nvSpPr>
          <p:cNvPr id="6" name="Rectangle 5"/>
          <p:cNvSpPr/>
          <p:nvPr/>
        </p:nvSpPr>
        <p:spPr>
          <a:xfrm>
            <a:off x="762000" y="5906869"/>
            <a:ext cx="7162800" cy="646331"/>
          </a:xfrm>
          <a:prstGeom prst="rect">
            <a:avLst/>
          </a:prstGeom>
        </p:spPr>
        <p:txBody>
          <a:bodyPr wrap="square">
            <a:spAutoFit/>
          </a:bodyPr>
          <a:lstStyle/>
          <a:p>
            <a:r>
              <a:rPr lang="en-IN" b="1" dirty="0"/>
              <a:t>FIGURE - Circuit with a </a:t>
            </a:r>
            <a:r>
              <a:rPr lang="en-IN" b="1" dirty="0" err="1"/>
              <a:t>supermesh</a:t>
            </a:r>
            <a:r>
              <a:rPr lang="en-IN" b="1" dirty="0"/>
              <a:t> that incorporates mesh 1 and mesh 2. The </a:t>
            </a:r>
            <a:r>
              <a:rPr lang="en-IN" b="1" dirty="0" err="1"/>
              <a:t>supermesh</a:t>
            </a:r>
            <a:r>
              <a:rPr lang="en-IN" b="1" dirty="0"/>
              <a:t> is indicated by the dashed line.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10</a:t>
            </a:fld>
            <a:endParaRPr lang="en-US"/>
          </a:p>
        </p:txBody>
      </p:sp>
      <p:pic>
        <p:nvPicPr>
          <p:cNvPr id="3" name="Picture 2"/>
          <p:cNvPicPr>
            <a:picLocks noChangeAspect="1" noChangeArrowheads="1"/>
          </p:cNvPicPr>
          <p:nvPr/>
        </p:nvPicPr>
        <p:blipFill>
          <a:blip r:embed="rId2" cstate="print"/>
          <a:srcRect/>
          <a:stretch>
            <a:fillRect/>
          </a:stretch>
        </p:blipFill>
        <p:spPr bwMode="auto">
          <a:xfrm>
            <a:off x="4648200" y="762000"/>
            <a:ext cx="4267200" cy="3508744"/>
          </a:xfrm>
          <a:prstGeom prst="rect">
            <a:avLst/>
          </a:prstGeom>
          <a:noFill/>
          <a:ln w="9525">
            <a:noFill/>
            <a:miter lim="800000"/>
            <a:headEnd/>
            <a:tailEnd/>
          </a:ln>
        </p:spPr>
      </p:pic>
      <p:sp>
        <p:nvSpPr>
          <p:cNvPr id="4" name="Rectangle 3"/>
          <p:cNvSpPr/>
          <p:nvPr/>
        </p:nvSpPr>
        <p:spPr>
          <a:xfrm>
            <a:off x="304800" y="112693"/>
            <a:ext cx="8458200" cy="584775"/>
          </a:xfrm>
          <a:prstGeom prst="rect">
            <a:avLst/>
          </a:prstGeom>
        </p:spPr>
        <p:txBody>
          <a:bodyPr wrap="square">
            <a:spAutoFit/>
          </a:bodyPr>
          <a:lstStyle/>
          <a:p>
            <a:pPr algn="ctr"/>
            <a:r>
              <a:rPr lang="en-IN" sz="3200" b="1" dirty="0">
                <a:solidFill>
                  <a:srgbClr val="C00000"/>
                </a:solidFill>
                <a:latin typeface="+mj-lt"/>
                <a:cs typeface="Times New Roman" panose="02020603050405020304" pitchFamily="18" charset="0"/>
              </a:rPr>
              <a:t>Mesh Current Analysis – </a:t>
            </a:r>
            <a:r>
              <a:rPr lang="en-IN" sz="3200" b="1" dirty="0" err="1">
                <a:solidFill>
                  <a:srgbClr val="C00000"/>
                </a:solidFill>
                <a:latin typeface="+mj-lt"/>
                <a:cs typeface="Times New Roman" panose="02020603050405020304" pitchFamily="18" charset="0"/>
              </a:rPr>
              <a:t>Supermesh</a:t>
            </a:r>
            <a:r>
              <a:rPr lang="en-IN" sz="3200" b="1" dirty="0">
                <a:solidFill>
                  <a:srgbClr val="C00000"/>
                </a:solidFill>
                <a:latin typeface="+mj-lt"/>
                <a:cs typeface="Times New Roman" panose="02020603050405020304" pitchFamily="18" charset="0"/>
              </a:rPr>
              <a:t> Approach</a:t>
            </a:r>
          </a:p>
        </p:txBody>
      </p:sp>
      <p:sp>
        <p:nvSpPr>
          <p:cNvPr id="5" name="Rectangle 4"/>
          <p:cNvSpPr/>
          <p:nvPr/>
        </p:nvSpPr>
        <p:spPr>
          <a:xfrm>
            <a:off x="457200" y="838200"/>
            <a:ext cx="4114800" cy="2031325"/>
          </a:xfrm>
          <a:prstGeom prst="rect">
            <a:avLst/>
          </a:prstGeom>
        </p:spPr>
        <p:txBody>
          <a:bodyPr wrap="square">
            <a:spAutoFit/>
          </a:bodyPr>
          <a:lstStyle/>
          <a:p>
            <a:pPr marL="342900" indent="-342900">
              <a:buFont typeface="Arial" pitchFamily="34" charset="0"/>
              <a:buChar char="•"/>
            </a:pPr>
            <a:r>
              <a:rPr lang="en-IN" b="1" dirty="0"/>
              <a:t>The 5-A current source is common to mesh 1 and mesh 2.</a:t>
            </a:r>
          </a:p>
          <a:p>
            <a:pPr marL="342900" indent="-342900">
              <a:buFont typeface="Arial" pitchFamily="34" charset="0"/>
              <a:buChar char="•"/>
            </a:pPr>
            <a:r>
              <a:rPr lang="en-IN" b="1" dirty="0"/>
              <a:t>The </a:t>
            </a:r>
            <a:r>
              <a:rPr lang="en-IN" b="1" dirty="0" err="1"/>
              <a:t>supermesh</a:t>
            </a:r>
            <a:r>
              <a:rPr lang="en-IN" b="1" dirty="0"/>
              <a:t> consists of the interior of mesh 1 and mesh 2.</a:t>
            </a:r>
          </a:p>
          <a:p>
            <a:pPr marL="342900" indent="-342900">
              <a:buFont typeface="Arial" pitchFamily="34" charset="0"/>
              <a:buChar char="•"/>
            </a:pPr>
            <a:r>
              <a:rPr lang="en-IN" b="1" dirty="0"/>
              <a:t>Writing KVL around the periphery of the </a:t>
            </a:r>
            <a:r>
              <a:rPr lang="en-IN" b="1" dirty="0" err="1"/>
              <a:t>supermesh</a:t>
            </a:r>
            <a:r>
              <a:rPr lang="en-IN" b="1" dirty="0"/>
              <a:t> shown by the dashed lines, we obtain</a:t>
            </a:r>
          </a:p>
        </p:txBody>
      </p:sp>
      <p:pic>
        <p:nvPicPr>
          <p:cNvPr id="4098" name="Picture 2"/>
          <p:cNvPicPr>
            <a:picLocks noChangeAspect="1" noChangeArrowheads="1"/>
          </p:cNvPicPr>
          <p:nvPr/>
        </p:nvPicPr>
        <p:blipFill>
          <a:blip r:embed="rId3" cstate="print"/>
          <a:srcRect/>
          <a:stretch>
            <a:fillRect/>
          </a:stretch>
        </p:blipFill>
        <p:spPr bwMode="auto">
          <a:xfrm>
            <a:off x="152400" y="3048000"/>
            <a:ext cx="5029200" cy="419526"/>
          </a:xfrm>
          <a:prstGeom prst="rect">
            <a:avLst/>
          </a:prstGeom>
          <a:noFill/>
          <a:ln w="9525">
            <a:noFill/>
            <a:miter lim="800000"/>
            <a:headEnd/>
            <a:tailEnd/>
          </a:ln>
        </p:spPr>
      </p:pic>
      <p:sp>
        <p:nvSpPr>
          <p:cNvPr id="7" name="Rectangle 6"/>
          <p:cNvSpPr/>
          <p:nvPr/>
        </p:nvSpPr>
        <p:spPr>
          <a:xfrm>
            <a:off x="304800" y="3657600"/>
            <a:ext cx="2139945" cy="369332"/>
          </a:xfrm>
          <a:prstGeom prst="rect">
            <a:avLst/>
          </a:prstGeom>
        </p:spPr>
        <p:txBody>
          <a:bodyPr wrap="none">
            <a:spAutoFit/>
          </a:bodyPr>
          <a:lstStyle/>
          <a:p>
            <a:r>
              <a:rPr lang="en-IN" b="1" dirty="0"/>
              <a:t>For mesh 3, we have</a:t>
            </a:r>
          </a:p>
        </p:txBody>
      </p:sp>
      <p:pic>
        <p:nvPicPr>
          <p:cNvPr id="4099" name="Picture 3"/>
          <p:cNvPicPr>
            <a:picLocks noChangeAspect="1" noChangeArrowheads="1"/>
          </p:cNvPicPr>
          <p:nvPr/>
        </p:nvPicPr>
        <p:blipFill>
          <a:blip r:embed="rId4" cstate="print"/>
          <a:srcRect/>
          <a:stretch>
            <a:fillRect/>
          </a:stretch>
        </p:blipFill>
        <p:spPr bwMode="auto">
          <a:xfrm>
            <a:off x="609600" y="4243578"/>
            <a:ext cx="4495800" cy="404622"/>
          </a:xfrm>
          <a:prstGeom prst="rect">
            <a:avLst/>
          </a:prstGeom>
          <a:noFill/>
          <a:ln w="9525">
            <a:noFill/>
            <a:miter lim="800000"/>
            <a:headEnd/>
            <a:tailEnd/>
          </a:ln>
        </p:spPr>
      </p:pic>
      <p:sp>
        <p:nvSpPr>
          <p:cNvPr id="9" name="Rectangle 8"/>
          <p:cNvSpPr/>
          <p:nvPr/>
        </p:nvSpPr>
        <p:spPr>
          <a:xfrm>
            <a:off x="228600" y="4953000"/>
            <a:ext cx="8458200" cy="369332"/>
          </a:xfrm>
          <a:prstGeom prst="rect">
            <a:avLst/>
          </a:prstGeom>
        </p:spPr>
        <p:txBody>
          <a:bodyPr wrap="square">
            <a:spAutoFit/>
          </a:bodyPr>
          <a:lstStyle/>
          <a:p>
            <a:r>
              <a:rPr lang="en-IN" b="1" dirty="0"/>
              <a:t>Finally, the equation that relates the current source current to the mesh currents is</a:t>
            </a:r>
          </a:p>
        </p:txBody>
      </p:sp>
      <p:pic>
        <p:nvPicPr>
          <p:cNvPr id="4100" name="Picture 4"/>
          <p:cNvPicPr>
            <a:picLocks noChangeAspect="1" noChangeArrowheads="1"/>
          </p:cNvPicPr>
          <p:nvPr/>
        </p:nvPicPr>
        <p:blipFill>
          <a:blip r:embed="rId5" cstate="print"/>
          <a:srcRect/>
          <a:stretch>
            <a:fillRect/>
          </a:stretch>
        </p:blipFill>
        <p:spPr bwMode="auto">
          <a:xfrm>
            <a:off x="2057400" y="5486400"/>
            <a:ext cx="1840516" cy="376238"/>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cstate="print"/>
          <a:srcRect/>
          <a:stretch>
            <a:fillRect/>
          </a:stretch>
        </p:blipFill>
        <p:spPr bwMode="auto">
          <a:xfrm>
            <a:off x="4648200" y="762000"/>
            <a:ext cx="4267200" cy="3508744"/>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fld id="{B6F15528-21DE-4FAA-801E-634DDDAF4B2B}" type="slidenum">
              <a:rPr lang="en-US" smtClean="0"/>
              <a:pPr/>
              <a:t>11</a:t>
            </a:fld>
            <a:endParaRPr lang="en-US"/>
          </a:p>
        </p:txBody>
      </p:sp>
      <p:sp>
        <p:nvSpPr>
          <p:cNvPr id="3" name="Rectangle 2"/>
          <p:cNvSpPr/>
          <p:nvPr/>
        </p:nvSpPr>
        <p:spPr>
          <a:xfrm>
            <a:off x="228600" y="2209800"/>
            <a:ext cx="4434997" cy="369332"/>
          </a:xfrm>
          <a:prstGeom prst="rect">
            <a:avLst/>
          </a:prstGeom>
        </p:spPr>
        <p:txBody>
          <a:bodyPr wrap="none">
            <a:spAutoFit/>
          </a:bodyPr>
          <a:lstStyle/>
          <a:p>
            <a:r>
              <a:rPr lang="en-IN" b="1" dirty="0"/>
              <a:t>Then the three equations may be reduced to</a:t>
            </a:r>
          </a:p>
        </p:txBody>
      </p:sp>
      <p:sp>
        <p:nvSpPr>
          <p:cNvPr id="5" name="Rectangle 4"/>
          <p:cNvSpPr/>
          <p:nvPr/>
        </p:nvSpPr>
        <p:spPr>
          <a:xfrm>
            <a:off x="304800" y="112693"/>
            <a:ext cx="8458200" cy="584775"/>
          </a:xfrm>
          <a:prstGeom prst="rect">
            <a:avLst/>
          </a:prstGeom>
        </p:spPr>
        <p:txBody>
          <a:bodyPr wrap="square">
            <a:spAutoFit/>
          </a:bodyPr>
          <a:lstStyle/>
          <a:p>
            <a:pPr algn="ctr"/>
            <a:r>
              <a:rPr lang="en-IN" sz="3200" b="1" dirty="0">
                <a:solidFill>
                  <a:srgbClr val="C00000"/>
                </a:solidFill>
                <a:latin typeface="+mj-lt"/>
                <a:cs typeface="Times New Roman" panose="02020603050405020304" pitchFamily="18" charset="0"/>
              </a:rPr>
              <a:t>Mesh Current Analysis – </a:t>
            </a:r>
            <a:r>
              <a:rPr lang="en-IN" sz="3200" b="1" dirty="0" err="1">
                <a:solidFill>
                  <a:srgbClr val="C00000"/>
                </a:solidFill>
                <a:latin typeface="+mj-lt"/>
                <a:cs typeface="Times New Roman" panose="02020603050405020304" pitchFamily="18" charset="0"/>
              </a:rPr>
              <a:t>Supermesh</a:t>
            </a:r>
            <a:r>
              <a:rPr lang="en-IN" sz="3200" b="1" dirty="0">
                <a:solidFill>
                  <a:srgbClr val="C00000"/>
                </a:solidFill>
                <a:latin typeface="+mj-lt"/>
                <a:cs typeface="Times New Roman" panose="02020603050405020304" pitchFamily="18" charset="0"/>
              </a:rPr>
              <a:t> Approach</a:t>
            </a:r>
          </a:p>
        </p:txBody>
      </p:sp>
      <p:pic>
        <p:nvPicPr>
          <p:cNvPr id="5122" name="Picture 2"/>
          <p:cNvPicPr>
            <a:picLocks noChangeAspect="1" noChangeArrowheads="1"/>
          </p:cNvPicPr>
          <p:nvPr/>
        </p:nvPicPr>
        <p:blipFill>
          <a:blip r:embed="rId3" cstate="print"/>
          <a:srcRect/>
          <a:stretch>
            <a:fillRect/>
          </a:stretch>
        </p:blipFill>
        <p:spPr bwMode="auto">
          <a:xfrm>
            <a:off x="0" y="2895600"/>
            <a:ext cx="5255613" cy="1143000"/>
          </a:xfrm>
          <a:prstGeom prst="rect">
            <a:avLst/>
          </a:prstGeom>
          <a:noFill/>
          <a:ln w="9525">
            <a:noFill/>
            <a:miter lim="800000"/>
            <a:headEnd/>
            <a:tailEnd/>
          </a:ln>
        </p:spPr>
      </p:pic>
      <p:sp>
        <p:nvSpPr>
          <p:cNvPr id="7" name="Rectangle 6"/>
          <p:cNvSpPr/>
          <p:nvPr/>
        </p:nvSpPr>
        <p:spPr>
          <a:xfrm>
            <a:off x="381000" y="4495800"/>
            <a:ext cx="4572000" cy="646331"/>
          </a:xfrm>
          <a:prstGeom prst="rect">
            <a:avLst/>
          </a:prstGeom>
        </p:spPr>
        <p:txBody>
          <a:bodyPr>
            <a:spAutoFit/>
          </a:bodyPr>
          <a:lstStyle/>
          <a:p>
            <a:r>
              <a:rPr lang="en-IN" b="1" dirty="0"/>
              <a:t>Therefore, solving the three equations simultaneously, we find that</a:t>
            </a:r>
          </a:p>
        </p:txBody>
      </p:sp>
      <p:pic>
        <p:nvPicPr>
          <p:cNvPr id="5123" name="Picture 3"/>
          <p:cNvPicPr>
            <a:picLocks noChangeAspect="1" noChangeArrowheads="1"/>
          </p:cNvPicPr>
          <p:nvPr/>
        </p:nvPicPr>
        <p:blipFill>
          <a:blip r:embed="rId4" cstate="print"/>
          <a:srcRect/>
          <a:stretch>
            <a:fillRect/>
          </a:stretch>
        </p:blipFill>
        <p:spPr bwMode="auto">
          <a:xfrm>
            <a:off x="1447800" y="5410200"/>
            <a:ext cx="3581400" cy="426949"/>
          </a:xfrm>
          <a:prstGeom prst="rect">
            <a:avLst/>
          </a:prstGeom>
          <a:noFill/>
          <a:ln w="9525">
            <a:noFill/>
            <a:miter lim="800000"/>
            <a:headEnd/>
            <a:tailEnd/>
          </a:ln>
        </p:spPr>
      </p:pic>
      <p:pic>
        <p:nvPicPr>
          <p:cNvPr id="5124" name="Picture 4"/>
          <p:cNvPicPr>
            <a:picLocks noChangeAspect="1" noChangeArrowheads="1"/>
          </p:cNvPicPr>
          <p:nvPr/>
        </p:nvPicPr>
        <p:blipFill>
          <a:blip r:embed="rId5" cstate="print"/>
          <a:srcRect/>
          <a:stretch>
            <a:fillRect/>
          </a:stretch>
        </p:blipFill>
        <p:spPr bwMode="auto">
          <a:xfrm>
            <a:off x="5105401" y="5472450"/>
            <a:ext cx="1523999" cy="340041"/>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12</a:t>
            </a:fld>
            <a:endParaRPr lang="en-US"/>
          </a:p>
        </p:txBody>
      </p:sp>
      <p:sp>
        <p:nvSpPr>
          <p:cNvPr id="3" name="Rectangle 2"/>
          <p:cNvSpPr/>
          <p:nvPr/>
        </p:nvSpPr>
        <p:spPr>
          <a:xfrm>
            <a:off x="304800" y="228600"/>
            <a:ext cx="8305800" cy="769441"/>
          </a:xfrm>
          <a:prstGeom prst="rect">
            <a:avLst/>
          </a:prstGeom>
        </p:spPr>
        <p:txBody>
          <a:bodyPr wrap="square">
            <a:spAutoFit/>
          </a:bodyPr>
          <a:lstStyle/>
          <a:p>
            <a:pPr algn="ctr"/>
            <a:r>
              <a:rPr lang="en-IN" sz="4400" b="1" dirty="0">
                <a:solidFill>
                  <a:srgbClr val="C00000"/>
                </a:solidFill>
                <a:latin typeface="+mj-lt"/>
                <a:cs typeface="Times New Roman" panose="02020603050405020304" pitchFamily="18" charset="0"/>
              </a:rPr>
              <a:t>Practice Problem</a:t>
            </a:r>
            <a:endParaRPr lang="en-US" sz="4400" b="1" dirty="0">
              <a:solidFill>
                <a:srgbClr val="C00000"/>
              </a:solidFill>
              <a:latin typeface="+mj-lt"/>
              <a:cs typeface="Times New Roman" pitchFamily="18" charset="0"/>
            </a:endParaRPr>
          </a:p>
        </p:txBody>
      </p:sp>
      <p:sp>
        <p:nvSpPr>
          <p:cNvPr id="4" name="Rectangle 3"/>
          <p:cNvSpPr/>
          <p:nvPr/>
        </p:nvSpPr>
        <p:spPr>
          <a:xfrm>
            <a:off x="457200" y="1066800"/>
            <a:ext cx="8077200" cy="707886"/>
          </a:xfrm>
          <a:prstGeom prst="rect">
            <a:avLst/>
          </a:prstGeom>
        </p:spPr>
        <p:txBody>
          <a:bodyPr wrap="square">
            <a:spAutoFit/>
          </a:bodyPr>
          <a:lstStyle/>
          <a:p>
            <a:r>
              <a:rPr lang="en-IN" sz="2000" b="1" dirty="0">
                <a:latin typeface="Times New Roman" pitchFamily="18" charset="0"/>
                <a:cs typeface="Times New Roman" pitchFamily="18" charset="0"/>
              </a:rPr>
              <a:t>Determine the values of the mesh currents </a:t>
            </a:r>
            <a:r>
              <a:rPr lang="en-IN" sz="2000" b="1" i="1" dirty="0">
                <a:latin typeface="Times New Roman" pitchFamily="18" charset="0"/>
                <a:cs typeface="Times New Roman" pitchFamily="18" charset="0"/>
              </a:rPr>
              <a:t>i</a:t>
            </a:r>
            <a:r>
              <a:rPr lang="en-IN" sz="2000" b="1" baseline="-25000" dirty="0">
                <a:latin typeface="Times New Roman" pitchFamily="18" charset="0"/>
                <a:cs typeface="Times New Roman" pitchFamily="18" charset="0"/>
              </a:rPr>
              <a:t>1</a:t>
            </a:r>
            <a:r>
              <a:rPr lang="en-IN" sz="2000" b="1" dirty="0">
                <a:latin typeface="Times New Roman" pitchFamily="18" charset="0"/>
                <a:cs typeface="Times New Roman" pitchFamily="18" charset="0"/>
              </a:rPr>
              <a:t> and </a:t>
            </a:r>
            <a:r>
              <a:rPr lang="en-IN" sz="2000" b="1" i="1" dirty="0">
                <a:latin typeface="Times New Roman" pitchFamily="18" charset="0"/>
                <a:cs typeface="Times New Roman" pitchFamily="18" charset="0"/>
              </a:rPr>
              <a:t>i</a:t>
            </a:r>
            <a:r>
              <a:rPr lang="en-IN" sz="2000" b="1" baseline="-25000" dirty="0">
                <a:latin typeface="Times New Roman" pitchFamily="18" charset="0"/>
                <a:cs typeface="Times New Roman" pitchFamily="18" charset="0"/>
              </a:rPr>
              <a:t>2</a:t>
            </a:r>
            <a:r>
              <a:rPr lang="en-IN" sz="2000" b="1" dirty="0">
                <a:latin typeface="Times New Roman" pitchFamily="18" charset="0"/>
                <a:cs typeface="Times New Roman" pitchFamily="18" charset="0"/>
              </a:rPr>
              <a:t> for the circuit shown in Figure</a:t>
            </a:r>
          </a:p>
        </p:txBody>
      </p:sp>
      <p:pic>
        <p:nvPicPr>
          <p:cNvPr id="6146" name="Picture 2"/>
          <p:cNvPicPr>
            <a:picLocks noChangeAspect="1" noChangeArrowheads="1"/>
          </p:cNvPicPr>
          <p:nvPr/>
        </p:nvPicPr>
        <p:blipFill>
          <a:blip r:embed="rId2" cstate="print"/>
          <a:srcRect/>
          <a:stretch>
            <a:fillRect/>
          </a:stretch>
        </p:blipFill>
        <p:spPr bwMode="auto">
          <a:xfrm>
            <a:off x="1371600" y="1981200"/>
            <a:ext cx="6400800" cy="1990331"/>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13</a:t>
            </a:fld>
            <a:endParaRPr lang="en-US"/>
          </a:p>
        </p:txBody>
      </p:sp>
      <p:sp>
        <p:nvSpPr>
          <p:cNvPr id="4" name="Rectangle 3"/>
          <p:cNvSpPr/>
          <p:nvPr/>
        </p:nvSpPr>
        <p:spPr>
          <a:xfrm>
            <a:off x="304800" y="143204"/>
            <a:ext cx="8305800" cy="1077218"/>
          </a:xfrm>
          <a:prstGeom prst="rect">
            <a:avLst/>
          </a:prstGeom>
        </p:spPr>
        <p:txBody>
          <a:bodyPr wrap="square">
            <a:spAutoFit/>
          </a:bodyPr>
          <a:lstStyle/>
          <a:p>
            <a:pPr algn="ctr"/>
            <a:r>
              <a:rPr lang="en-IN" sz="3200" b="1" dirty="0">
                <a:solidFill>
                  <a:srgbClr val="C00000"/>
                </a:solidFill>
                <a:latin typeface="+mj-lt"/>
                <a:cs typeface="Times New Roman" panose="02020603050405020304" pitchFamily="18" charset="0"/>
              </a:rPr>
              <a:t>Mesh Current Analysis with Dependent Sources - Example</a:t>
            </a:r>
            <a:endParaRPr lang="en-US" sz="3200" b="1" dirty="0">
              <a:solidFill>
                <a:srgbClr val="C00000"/>
              </a:solidFill>
              <a:latin typeface="+mj-lt"/>
              <a:cs typeface="Times New Roman" pitchFamily="18" charset="0"/>
            </a:endParaRPr>
          </a:p>
        </p:txBody>
      </p:sp>
      <p:sp>
        <p:nvSpPr>
          <p:cNvPr id="5" name="Rectangle 4"/>
          <p:cNvSpPr/>
          <p:nvPr/>
        </p:nvSpPr>
        <p:spPr>
          <a:xfrm>
            <a:off x="381000" y="1182469"/>
            <a:ext cx="8382000" cy="646331"/>
          </a:xfrm>
          <a:prstGeom prst="rect">
            <a:avLst/>
          </a:prstGeom>
        </p:spPr>
        <p:txBody>
          <a:bodyPr wrap="square">
            <a:spAutoFit/>
          </a:bodyPr>
          <a:lstStyle/>
          <a:p>
            <a:pPr marL="342900" indent="-342900">
              <a:buFont typeface="Wingdings" pitchFamily="2" charset="2"/>
              <a:buChar char="Ø"/>
            </a:pPr>
            <a:r>
              <a:rPr lang="en-IN" b="1" dirty="0"/>
              <a:t>When a circuit contains a dependent source, the controlling current or voltage of that dependent source must be expressed as a function of the mesh currents.</a:t>
            </a:r>
          </a:p>
        </p:txBody>
      </p:sp>
      <p:sp>
        <p:nvSpPr>
          <p:cNvPr id="6" name="Rectangle 5"/>
          <p:cNvSpPr/>
          <p:nvPr/>
        </p:nvSpPr>
        <p:spPr>
          <a:xfrm>
            <a:off x="304800" y="2286000"/>
            <a:ext cx="8458200" cy="646331"/>
          </a:xfrm>
          <a:prstGeom prst="rect">
            <a:avLst/>
          </a:prstGeom>
        </p:spPr>
        <p:txBody>
          <a:bodyPr wrap="square">
            <a:spAutoFit/>
          </a:bodyPr>
          <a:lstStyle/>
          <a:p>
            <a:pPr marL="342900" indent="-342900"/>
            <a:r>
              <a:rPr lang="en-IN" b="1" dirty="0">
                <a:solidFill>
                  <a:srgbClr val="C00000"/>
                </a:solidFill>
              </a:rPr>
              <a:t>Problem:</a:t>
            </a:r>
            <a:r>
              <a:rPr lang="en-IN" b="1" dirty="0">
                <a:solidFill>
                  <a:srgbClr val="002060"/>
                </a:solidFill>
              </a:rPr>
              <a:t> Consider the circuit shown in Figure. Find the value of the voltage measured     	by the voltmeter.</a:t>
            </a:r>
          </a:p>
        </p:txBody>
      </p:sp>
      <p:pic>
        <p:nvPicPr>
          <p:cNvPr id="7170" name="Picture 2"/>
          <p:cNvPicPr>
            <a:picLocks noChangeAspect="1" noChangeArrowheads="1"/>
          </p:cNvPicPr>
          <p:nvPr/>
        </p:nvPicPr>
        <p:blipFill>
          <a:blip r:embed="rId2" cstate="print"/>
          <a:srcRect/>
          <a:stretch>
            <a:fillRect/>
          </a:stretch>
        </p:blipFill>
        <p:spPr bwMode="auto">
          <a:xfrm>
            <a:off x="685800" y="3200400"/>
            <a:ext cx="7620000" cy="2094162"/>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14</a:t>
            </a:fld>
            <a:endParaRPr lang="en-US"/>
          </a:p>
        </p:txBody>
      </p:sp>
      <p:sp>
        <p:nvSpPr>
          <p:cNvPr id="3" name="Rectangle 2"/>
          <p:cNvSpPr/>
          <p:nvPr/>
        </p:nvSpPr>
        <p:spPr>
          <a:xfrm>
            <a:off x="304800" y="119336"/>
            <a:ext cx="8305800" cy="769441"/>
          </a:xfrm>
          <a:prstGeom prst="rect">
            <a:avLst/>
          </a:prstGeom>
        </p:spPr>
        <p:txBody>
          <a:bodyPr wrap="square">
            <a:spAutoFit/>
          </a:bodyPr>
          <a:lstStyle/>
          <a:p>
            <a:pPr algn="ctr"/>
            <a:r>
              <a:rPr lang="en-IN" sz="4400" b="1" dirty="0">
                <a:solidFill>
                  <a:srgbClr val="C00000"/>
                </a:solidFill>
                <a:latin typeface="+mj-lt"/>
                <a:cs typeface="Times New Roman" panose="02020603050405020304" pitchFamily="18" charset="0"/>
              </a:rPr>
              <a:t>Problem - </a:t>
            </a:r>
            <a:r>
              <a:rPr lang="en-US" altLang="en-US" sz="4400" b="1" dirty="0">
                <a:solidFill>
                  <a:srgbClr val="0066FF"/>
                </a:solidFill>
                <a:latin typeface="+mj-lt"/>
              </a:rPr>
              <a:t>Solution</a:t>
            </a:r>
            <a:endParaRPr lang="en-US" sz="4400" b="1" dirty="0">
              <a:solidFill>
                <a:srgbClr val="C00000"/>
              </a:solidFill>
              <a:latin typeface="+mj-lt"/>
              <a:cs typeface="Times New Roman" pitchFamily="18" charset="0"/>
            </a:endParaRPr>
          </a:p>
        </p:txBody>
      </p:sp>
      <p:pic>
        <p:nvPicPr>
          <p:cNvPr id="8194" name="Picture 2"/>
          <p:cNvPicPr>
            <a:picLocks noChangeAspect="1" noChangeArrowheads="1"/>
          </p:cNvPicPr>
          <p:nvPr/>
        </p:nvPicPr>
        <p:blipFill>
          <a:blip r:embed="rId2" cstate="print"/>
          <a:srcRect/>
          <a:stretch>
            <a:fillRect/>
          </a:stretch>
        </p:blipFill>
        <p:spPr bwMode="auto">
          <a:xfrm>
            <a:off x="3276600" y="914400"/>
            <a:ext cx="5638800" cy="2013453"/>
          </a:xfrm>
          <a:prstGeom prst="rect">
            <a:avLst/>
          </a:prstGeom>
          <a:noFill/>
          <a:ln w="9525">
            <a:noFill/>
            <a:miter lim="800000"/>
            <a:headEnd/>
            <a:tailEnd/>
          </a:ln>
        </p:spPr>
      </p:pic>
      <p:sp>
        <p:nvSpPr>
          <p:cNvPr id="5" name="Rectangle 4"/>
          <p:cNvSpPr/>
          <p:nvPr/>
        </p:nvSpPr>
        <p:spPr>
          <a:xfrm>
            <a:off x="304800" y="1371600"/>
            <a:ext cx="2819400" cy="923330"/>
          </a:xfrm>
          <a:prstGeom prst="rect">
            <a:avLst/>
          </a:prstGeom>
        </p:spPr>
        <p:txBody>
          <a:bodyPr wrap="square">
            <a:spAutoFit/>
          </a:bodyPr>
          <a:lstStyle/>
          <a:p>
            <a:r>
              <a:rPr lang="en-IN" b="1" dirty="0">
                <a:latin typeface="Times New Roman" pitchFamily="18" charset="0"/>
                <a:cs typeface="Times New Roman" pitchFamily="18" charset="0"/>
              </a:rPr>
              <a:t>Let </a:t>
            </a:r>
            <a:r>
              <a:rPr lang="en-IN" b="1" i="1" dirty="0">
                <a:latin typeface="Times New Roman" pitchFamily="18" charset="0"/>
                <a:cs typeface="Times New Roman" pitchFamily="18" charset="0"/>
              </a:rPr>
              <a:t>i</a:t>
            </a:r>
            <a:r>
              <a:rPr lang="en-IN" b="1" baseline="-25000" dirty="0">
                <a:latin typeface="Times New Roman" pitchFamily="18" charset="0"/>
                <a:cs typeface="Times New Roman" pitchFamily="18" charset="0"/>
              </a:rPr>
              <a:t>1</a:t>
            </a:r>
            <a:r>
              <a:rPr lang="en-IN" b="1" dirty="0">
                <a:latin typeface="Times New Roman" pitchFamily="18" charset="0"/>
                <a:cs typeface="Times New Roman" pitchFamily="18" charset="0"/>
              </a:rPr>
              <a:t> and </a:t>
            </a:r>
            <a:r>
              <a:rPr lang="en-IN" b="1" i="1" dirty="0">
                <a:latin typeface="Times New Roman" pitchFamily="18" charset="0"/>
                <a:cs typeface="Times New Roman" pitchFamily="18" charset="0"/>
              </a:rPr>
              <a:t>i</a:t>
            </a:r>
            <a:r>
              <a:rPr lang="en-IN" b="1" baseline="-25000" dirty="0">
                <a:latin typeface="Times New Roman" pitchFamily="18" charset="0"/>
                <a:cs typeface="Times New Roman" pitchFamily="18" charset="0"/>
              </a:rPr>
              <a:t>2</a:t>
            </a:r>
            <a:r>
              <a:rPr lang="en-IN" b="1" dirty="0">
                <a:latin typeface="Times New Roman" pitchFamily="18" charset="0"/>
                <a:cs typeface="Times New Roman" pitchFamily="18" charset="0"/>
              </a:rPr>
              <a:t> denote the mesh currents in meshes 1 and 2, respectively.</a:t>
            </a:r>
          </a:p>
        </p:txBody>
      </p:sp>
      <p:sp>
        <p:nvSpPr>
          <p:cNvPr id="6" name="Rectangle 5"/>
          <p:cNvSpPr/>
          <p:nvPr/>
        </p:nvSpPr>
        <p:spPr>
          <a:xfrm>
            <a:off x="304800" y="2914471"/>
            <a:ext cx="8610600" cy="873572"/>
          </a:xfrm>
          <a:prstGeom prst="rect">
            <a:avLst/>
          </a:prstGeom>
        </p:spPr>
        <p:txBody>
          <a:bodyPr wrap="square">
            <a:spAutoFit/>
          </a:bodyPr>
          <a:lstStyle/>
          <a:p>
            <a:pPr>
              <a:lnSpc>
                <a:spcPct val="150000"/>
              </a:lnSpc>
            </a:pPr>
            <a:r>
              <a:rPr lang="en-IN" b="1" dirty="0">
                <a:latin typeface="Times New Roman" pitchFamily="18" charset="0"/>
                <a:cs typeface="Times New Roman" pitchFamily="18" charset="0"/>
              </a:rPr>
              <a:t>The controlling current of the dependent source, </a:t>
            </a:r>
            <a:r>
              <a:rPr lang="en-IN" b="1" i="1" dirty="0" err="1">
                <a:latin typeface="Times New Roman" pitchFamily="18" charset="0"/>
                <a:cs typeface="Times New Roman" pitchFamily="18" charset="0"/>
              </a:rPr>
              <a:t>i</a:t>
            </a:r>
            <a:r>
              <a:rPr lang="en-IN" b="1" i="1" baseline="-25000" dirty="0" err="1">
                <a:latin typeface="Times New Roman" pitchFamily="18" charset="0"/>
                <a:cs typeface="Times New Roman" pitchFamily="18" charset="0"/>
              </a:rPr>
              <a:t>a</a:t>
            </a:r>
            <a:r>
              <a:rPr lang="en-IN" b="1" dirty="0">
                <a:latin typeface="Times New Roman" pitchFamily="18" charset="0"/>
                <a:cs typeface="Times New Roman" pitchFamily="18" charset="0"/>
              </a:rPr>
              <a:t>, is the current in a short circuit. The short-circuit current can be expressed in terms of the mesh currents as</a:t>
            </a:r>
          </a:p>
        </p:txBody>
      </p:sp>
      <p:pic>
        <p:nvPicPr>
          <p:cNvPr id="8195" name="Picture 3"/>
          <p:cNvPicPr>
            <a:picLocks noChangeAspect="1" noChangeArrowheads="1"/>
          </p:cNvPicPr>
          <p:nvPr/>
        </p:nvPicPr>
        <p:blipFill>
          <a:blip r:embed="rId3" cstate="print"/>
          <a:srcRect/>
          <a:stretch>
            <a:fillRect/>
          </a:stretch>
        </p:blipFill>
        <p:spPr bwMode="auto">
          <a:xfrm>
            <a:off x="3048000" y="3962400"/>
            <a:ext cx="1981200" cy="405405"/>
          </a:xfrm>
          <a:prstGeom prst="rect">
            <a:avLst/>
          </a:prstGeom>
          <a:noFill/>
          <a:ln w="9525">
            <a:noFill/>
            <a:miter lim="800000"/>
            <a:headEnd/>
            <a:tailEnd/>
          </a:ln>
        </p:spPr>
      </p:pic>
      <p:sp>
        <p:nvSpPr>
          <p:cNvPr id="8" name="Rectangle 7"/>
          <p:cNvSpPr/>
          <p:nvPr/>
        </p:nvSpPr>
        <p:spPr>
          <a:xfrm>
            <a:off x="228600" y="4419600"/>
            <a:ext cx="8534400" cy="646331"/>
          </a:xfrm>
          <a:prstGeom prst="rect">
            <a:avLst/>
          </a:prstGeom>
        </p:spPr>
        <p:txBody>
          <a:bodyPr wrap="square">
            <a:spAutoFit/>
          </a:bodyPr>
          <a:lstStyle/>
          <a:p>
            <a:r>
              <a:rPr lang="en-IN" b="1" dirty="0">
                <a:latin typeface="Times New Roman" pitchFamily="18" charset="0"/>
                <a:cs typeface="Times New Roman" pitchFamily="18" charset="0"/>
              </a:rPr>
              <a:t>The reference direction of the dependent source current does not agree with the reference direction of </a:t>
            </a:r>
            <a:r>
              <a:rPr lang="en-IN" b="1" i="1" dirty="0">
                <a:latin typeface="Times New Roman" pitchFamily="18" charset="0"/>
                <a:cs typeface="Times New Roman" pitchFamily="18" charset="0"/>
              </a:rPr>
              <a:t>i</a:t>
            </a:r>
            <a:r>
              <a:rPr lang="en-IN" b="1" baseline="-25000" dirty="0">
                <a:latin typeface="Times New Roman" pitchFamily="18" charset="0"/>
                <a:cs typeface="Times New Roman" pitchFamily="18" charset="0"/>
              </a:rPr>
              <a:t>2</a:t>
            </a:r>
            <a:r>
              <a:rPr lang="en-IN" b="1" dirty="0">
                <a:latin typeface="Times New Roman" pitchFamily="18" charset="0"/>
                <a:cs typeface="Times New Roman" pitchFamily="18" charset="0"/>
              </a:rPr>
              <a:t>. Consequently,</a:t>
            </a:r>
          </a:p>
        </p:txBody>
      </p:sp>
      <p:pic>
        <p:nvPicPr>
          <p:cNvPr id="8196" name="Picture 4"/>
          <p:cNvPicPr>
            <a:picLocks noChangeAspect="1" noChangeArrowheads="1"/>
          </p:cNvPicPr>
          <p:nvPr/>
        </p:nvPicPr>
        <p:blipFill>
          <a:blip r:embed="rId4" cstate="print"/>
          <a:srcRect/>
          <a:stretch>
            <a:fillRect/>
          </a:stretch>
        </p:blipFill>
        <p:spPr bwMode="auto">
          <a:xfrm>
            <a:off x="4419600" y="4876800"/>
            <a:ext cx="1371600" cy="327314"/>
          </a:xfrm>
          <a:prstGeom prst="rect">
            <a:avLst/>
          </a:prstGeom>
          <a:noFill/>
          <a:ln w="9525">
            <a:noFill/>
            <a:miter lim="800000"/>
            <a:headEnd/>
            <a:tailEnd/>
          </a:ln>
        </p:spPr>
      </p:pic>
      <p:pic>
        <p:nvPicPr>
          <p:cNvPr id="8197" name="Picture 5"/>
          <p:cNvPicPr>
            <a:picLocks noChangeAspect="1" noChangeArrowheads="1"/>
          </p:cNvPicPr>
          <p:nvPr/>
        </p:nvPicPr>
        <p:blipFill>
          <a:blip r:embed="rId5" cstate="print"/>
          <a:srcRect/>
          <a:stretch>
            <a:fillRect/>
          </a:stretch>
        </p:blipFill>
        <p:spPr bwMode="auto">
          <a:xfrm>
            <a:off x="2590800" y="5410200"/>
            <a:ext cx="3596054" cy="413705"/>
          </a:xfrm>
          <a:prstGeom prst="rect">
            <a:avLst/>
          </a:prstGeom>
          <a:noFill/>
          <a:ln w="9525">
            <a:noFill/>
            <a:miter lim="800000"/>
            <a:headEnd/>
            <a:tailEnd/>
          </a:ln>
        </p:spPr>
      </p:pic>
      <p:pic>
        <p:nvPicPr>
          <p:cNvPr id="8198" name="Picture 6"/>
          <p:cNvPicPr>
            <a:picLocks noChangeAspect="1" noChangeArrowheads="1"/>
          </p:cNvPicPr>
          <p:nvPr/>
        </p:nvPicPr>
        <p:blipFill>
          <a:blip r:embed="rId6" cstate="print"/>
          <a:srcRect/>
          <a:stretch>
            <a:fillRect/>
          </a:stretch>
        </p:blipFill>
        <p:spPr bwMode="auto">
          <a:xfrm>
            <a:off x="2438400" y="5992999"/>
            <a:ext cx="3767138" cy="712601"/>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15</a:t>
            </a:fld>
            <a:endParaRPr lang="en-US"/>
          </a:p>
        </p:txBody>
      </p:sp>
      <p:sp>
        <p:nvSpPr>
          <p:cNvPr id="3" name="Rectangle 2"/>
          <p:cNvSpPr/>
          <p:nvPr/>
        </p:nvSpPr>
        <p:spPr>
          <a:xfrm>
            <a:off x="381000" y="2743200"/>
            <a:ext cx="2752100" cy="369332"/>
          </a:xfrm>
          <a:prstGeom prst="rect">
            <a:avLst/>
          </a:prstGeom>
        </p:spPr>
        <p:txBody>
          <a:bodyPr wrap="none">
            <a:spAutoFit/>
          </a:bodyPr>
          <a:lstStyle/>
          <a:p>
            <a:r>
              <a:rPr lang="en-IN" b="1" dirty="0"/>
              <a:t>Apply KVL to mesh 1 to get</a:t>
            </a:r>
          </a:p>
        </p:txBody>
      </p:sp>
      <p:sp>
        <p:nvSpPr>
          <p:cNvPr id="4" name="Rectangle 3"/>
          <p:cNvSpPr/>
          <p:nvPr/>
        </p:nvSpPr>
        <p:spPr>
          <a:xfrm>
            <a:off x="359296" y="180932"/>
            <a:ext cx="8305800" cy="769441"/>
          </a:xfrm>
          <a:prstGeom prst="rect">
            <a:avLst/>
          </a:prstGeom>
        </p:spPr>
        <p:txBody>
          <a:bodyPr wrap="square">
            <a:spAutoFit/>
          </a:bodyPr>
          <a:lstStyle/>
          <a:p>
            <a:pPr algn="ctr"/>
            <a:r>
              <a:rPr lang="en-IN" sz="4400" b="1" dirty="0">
                <a:solidFill>
                  <a:srgbClr val="C00000"/>
                </a:solidFill>
                <a:latin typeface="+mj-lt"/>
                <a:cs typeface="Times New Roman" panose="02020603050405020304" pitchFamily="18" charset="0"/>
              </a:rPr>
              <a:t>Problem - </a:t>
            </a:r>
            <a:r>
              <a:rPr lang="en-US" altLang="en-US" sz="4400" b="1" dirty="0">
                <a:solidFill>
                  <a:srgbClr val="0066FF"/>
                </a:solidFill>
                <a:latin typeface="+mj-lt"/>
              </a:rPr>
              <a:t>Solution</a:t>
            </a:r>
            <a:endParaRPr lang="en-US" sz="4400" b="1" dirty="0">
              <a:solidFill>
                <a:srgbClr val="C00000"/>
              </a:solidFill>
              <a:latin typeface="+mj-lt"/>
              <a:cs typeface="Times New Roman" pitchFamily="18" charset="0"/>
            </a:endParaRPr>
          </a:p>
        </p:txBody>
      </p:sp>
      <p:pic>
        <p:nvPicPr>
          <p:cNvPr id="5" name="Picture 2"/>
          <p:cNvPicPr>
            <a:picLocks noChangeAspect="1" noChangeArrowheads="1"/>
          </p:cNvPicPr>
          <p:nvPr/>
        </p:nvPicPr>
        <p:blipFill>
          <a:blip r:embed="rId2" cstate="print"/>
          <a:srcRect/>
          <a:stretch>
            <a:fillRect/>
          </a:stretch>
        </p:blipFill>
        <p:spPr bwMode="auto">
          <a:xfrm>
            <a:off x="3276600" y="914400"/>
            <a:ext cx="5638800" cy="2013453"/>
          </a:xfrm>
          <a:prstGeom prst="rect">
            <a:avLst/>
          </a:prstGeom>
          <a:noFill/>
          <a:ln w="9525">
            <a:noFill/>
            <a:miter lim="800000"/>
            <a:headEnd/>
            <a:tailEnd/>
          </a:ln>
        </p:spPr>
      </p:pic>
      <p:pic>
        <p:nvPicPr>
          <p:cNvPr id="9218" name="Picture 2"/>
          <p:cNvPicPr>
            <a:picLocks noChangeAspect="1" noChangeArrowheads="1"/>
          </p:cNvPicPr>
          <p:nvPr/>
        </p:nvPicPr>
        <p:blipFill>
          <a:blip r:embed="rId3" cstate="print"/>
          <a:srcRect/>
          <a:stretch>
            <a:fillRect/>
          </a:stretch>
        </p:blipFill>
        <p:spPr bwMode="auto">
          <a:xfrm>
            <a:off x="381000" y="3276600"/>
            <a:ext cx="3810000" cy="682625"/>
          </a:xfrm>
          <a:prstGeom prst="rect">
            <a:avLst/>
          </a:prstGeom>
          <a:noFill/>
          <a:ln w="9525">
            <a:noFill/>
            <a:miter lim="800000"/>
            <a:headEnd/>
            <a:tailEnd/>
          </a:ln>
        </p:spPr>
      </p:pic>
      <p:pic>
        <p:nvPicPr>
          <p:cNvPr id="9219" name="Picture 3"/>
          <p:cNvPicPr>
            <a:picLocks noChangeAspect="1" noChangeArrowheads="1"/>
          </p:cNvPicPr>
          <p:nvPr/>
        </p:nvPicPr>
        <p:blipFill>
          <a:blip r:embed="rId4" cstate="print"/>
          <a:srcRect/>
          <a:stretch>
            <a:fillRect/>
          </a:stretch>
        </p:blipFill>
        <p:spPr bwMode="auto">
          <a:xfrm>
            <a:off x="3124200" y="4114800"/>
            <a:ext cx="2228850" cy="699969"/>
          </a:xfrm>
          <a:prstGeom prst="rect">
            <a:avLst/>
          </a:prstGeom>
          <a:noFill/>
          <a:ln w="9525">
            <a:noFill/>
            <a:miter lim="800000"/>
            <a:headEnd/>
            <a:tailEnd/>
          </a:ln>
        </p:spPr>
      </p:pic>
      <p:sp>
        <p:nvSpPr>
          <p:cNvPr id="8" name="Rectangle 7"/>
          <p:cNvSpPr/>
          <p:nvPr/>
        </p:nvSpPr>
        <p:spPr>
          <a:xfrm>
            <a:off x="381000" y="5181600"/>
            <a:ext cx="2752100" cy="369332"/>
          </a:xfrm>
          <a:prstGeom prst="rect">
            <a:avLst/>
          </a:prstGeom>
        </p:spPr>
        <p:txBody>
          <a:bodyPr wrap="none">
            <a:spAutoFit/>
          </a:bodyPr>
          <a:lstStyle/>
          <a:p>
            <a:r>
              <a:rPr lang="en-IN" b="1" dirty="0"/>
              <a:t>Apply KVL to mesh 2 to get</a:t>
            </a:r>
          </a:p>
        </p:txBody>
      </p:sp>
      <p:pic>
        <p:nvPicPr>
          <p:cNvPr id="9220" name="Picture 4"/>
          <p:cNvPicPr>
            <a:picLocks noChangeAspect="1" noChangeArrowheads="1"/>
          </p:cNvPicPr>
          <p:nvPr/>
        </p:nvPicPr>
        <p:blipFill>
          <a:blip r:embed="rId5" cstate="print"/>
          <a:srcRect/>
          <a:stretch>
            <a:fillRect/>
          </a:stretch>
        </p:blipFill>
        <p:spPr bwMode="auto">
          <a:xfrm>
            <a:off x="3276600" y="5257800"/>
            <a:ext cx="3733800" cy="1161199"/>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16</a:t>
            </a:fld>
            <a:endParaRPr lang="en-US"/>
          </a:p>
        </p:txBody>
      </p:sp>
      <p:sp>
        <p:nvSpPr>
          <p:cNvPr id="5" name="Rectangle 4"/>
          <p:cNvSpPr/>
          <p:nvPr/>
        </p:nvSpPr>
        <p:spPr>
          <a:xfrm>
            <a:off x="304800" y="143014"/>
            <a:ext cx="8305800" cy="769441"/>
          </a:xfrm>
          <a:prstGeom prst="rect">
            <a:avLst/>
          </a:prstGeom>
        </p:spPr>
        <p:txBody>
          <a:bodyPr wrap="square">
            <a:spAutoFit/>
          </a:bodyPr>
          <a:lstStyle/>
          <a:p>
            <a:pPr algn="ctr"/>
            <a:r>
              <a:rPr lang="en-IN" sz="4400" b="1" dirty="0">
                <a:solidFill>
                  <a:srgbClr val="C00000"/>
                </a:solidFill>
                <a:latin typeface="+mj-lt"/>
                <a:cs typeface="Times New Roman" panose="02020603050405020304" pitchFamily="18" charset="0"/>
              </a:rPr>
              <a:t>Problem</a:t>
            </a:r>
            <a:endParaRPr lang="en-US" sz="3200" b="1" dirty="0">
              <a:solidFill>
                <a:srgbClr val="C00000"/>
              </a:solidFill>
              <a:latin typeface="+mj-lt"/>
              <a:cs typeface="Times New Roman" pitchFamily="18" charset="0"/>
            </a:endParaRPr>
          </a:p>
        </p:txBody>
      </p:sp>
      <p:sp>
        <p:nvSpPr>
          <p:cNvPr id="6" name="Rectangle 5"/>
          <p:cNvSpPr/>
          <p:nvPr/>
        </p:nvSpPr>
        <p:spPr>
          <a:xfrm>
            <a:off x="457200" y="914400"/>
            <a:ext cx="8153400" cy="369332"/>
          </a:xfrm>
          <a:prstGeom prst="rect">
            <a:avLst/>
          </a:prstGeom>
        </p:spPr>
        <p:txBody>
          <a:bodyPr wrap="square">
            <a:spAutoFit/>
          </a:bodyPr>
          <a:lstStyle/>
          <a:p>
            <a:r>
              <a:rPr lang="en-IN" b="1" dirty="0"/>
              <a:t>Consider the circuit shown in Figure. Find the value of the resistance, R.</a:t>
            </a:r>
          </a:p>
        </p:txBody>
      </p:sp>
      <p:pic>
        <p:nvPicPr>
          <p:cNvPr id="1026" name="Picture 2"/>
          <p:cNvPicPr>
            <a:picLocks noChangeAspect="1" noChangeArrowheads="1"/>
          </p:cNvPicPr>
          <p:nvPr/>
        </p:nvPicPr>
        <p:blipFill>
          <a:blip r:embed="rId2" cstate="print"/>
          <a:srcRect/>
          <a:stretch>
            <a:fillRect/>
          </a:stretch>
        </p:blipFill>
        <p:spPr bwMode="auto">
          <a:xfrm>
            <a:off x="1219200" y="1752600"/>
            <a:ext cx="5943600" cy="2355914"/>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17</a:t>
            </a:fld>
            <a:endParaRPr lang="en-US"/>
          </a:p>
        </p:txBody>
      </p:sp>
      <p:sp>
        <p:nvSpPr>
          <p:cNvPr id="3" name="Rectangle 2"/>
          <p:cNvSpPr/>
          <p:nvPr/>
        </p:nvSpPr>
        <p:spPr>
          <a:xfrm>
            <a:off x="304800" y="81459"/>
            <a:ext cx="8305800" cy="769441"/>
          </a:xfrm>
          <a:prstGeom prst="rect">
            <a:avLst/>
          </a:prstGeom>
        </p:spPr>
        <p:txBody>
          <a:bodyPr wrap="square">
            <a:spAutoFit/>
          </a:bodyPr>
          <a:lstStyle/>
          <a:p>
            <a:pPr algn="ctr"/>
            <a:r>
              <a:rPr lang="en-IN" sz="4400" b="1" dirty="0">
                <a:solidFill>
                  <a:srgbClr val="C00000"/>
                </a:solidFill>
                <a:latin typeface="+mj-lt"/>
                <a:cs typeface="Times New Roman" panose="02020603050405020304" pitchFamily="18" charset="0"/>
              </a:rPr>
              <a:t>Problem - </a:t>
            </a:r>
            <a:r>
              <a:rPr lang="en-US" altLang="en-US" sz="4400" b="1" dirty="0">
                <a:solidFill>
                  <a:srgbClr val="0066FF"/>
                </a:solidFill>
                <a:latin typeface="+mj-lt"/>
              </a:rPr>
              <a:t>Solution</a:t>
            </a:r>
            <a:endParaRPr lang="en-US" sz="4400" b="1" dirty="0">
              <a:solidFill>
                <a:srgbClr val="C00000"/>
              </a:solidFill>
              <a:latin typeface="+mj-lt"/>
              <a:cs typeface="Times New Roman" pitchFamily="18" charset="0"/>
            </a:endParaRPr>
          </a:p>
        </p:txBody>
      </p:sp>
      <p:sp>
        <p:nvSpPr>
          <p:cNvPr id="4" name="Rectangle 3"/>
          <p:cNvSpPr/>
          <p:nvPr/>
        </p:nvSpPr>
        <p:spPr>
          <a:xfrm>
            <a:off x="304800" y="838200"/>
            <a:ext cx="8458200" cy="646331"/>
          </a:xfrm>
          <a:prstGeom prst="rect">
            <a:avLst/>
          </a:prstGeom>
        </p:spPr>
        <p:txBody>
          <a:bodyPr wrap="square">
            <a:spAutoFit/>
          </a:bodyPr>
          <a:lstStyle/>
          <a:p>
            <a:r>
              <a:rPr lang="en-IN" b="1" dirty="0"/>
              <a:t>Figure shows the circuit after replacing the ammeter by an equivalent short circuit and </a:t>
            </a:r>
            <a:r>
              <a:rPr lang="en-IN" b="1" dirty="0" err="1"/>
              <a:t>labeling</a:t>
            </a:r>
            <a:r>
              <a:rPr lang="en-IN" b="1" dirty="0"/>
              <a:t> the current measured by the ammeter.</a:t>
            </a:r>
          </a:p>
        </p:txBody>
      </p:sp>
      <p:pic>
        <p:nvPicPr>
          <p:cNvPr id="2050" name="Picture 2"/>
          <p:cNvPicPr>
            <a:picLocks noChangeAspect="1" noChangeArrowheads="1"/>
          </p:cNvPicPr>
          <p:nvPr/>
        </p:nvPicPr>
        <p:blipFill>
          <a:blip r:embed="rId2" cstate="print"/>
          <a:srcRect/>
          <a:stretch>
            <a:fillRect/>
          </a:stretch>
        </p:blipFill>
        <p:spPr bwMode="auto">
          <a:xfrm>
            <a:off x="4267200" y="1524000"/>
            <a:ext cx="4619625" cy="2941450"/>
          </a:xfrm>
          <a:prstGeom prst="rect">
            <a:avLst/>
          </a:prstGeom>
          <a:noFill/>
          <a:ln w="9525">
            <a:noFill/>
            <a:miter lim="800000"/>
            <a:headEnd/>
            <a:tailEnd/>
          </a:ln>
        </p:spPr>
      </p:pic>
      <p:sp>
        <p:nvSpPr>
          <p:cNvPr id="6" name="Rectangle 5"/>
          <p:cNvSpPr/>
          <p:nvPr/>
        </p:nvSpPr>
        <p:spPr>
          <a:xfrm>
            <a:off x="304800" y="1600200"/>
            <a:ext cx="3886200" cy="3139321"/>
          </a:xfrm>
          <a:prstGeom prst="rect">
            <a:avLst/>
          </a:prstGeom>
        </p:spPr>
        <p:txBody>
          <a:bodyPr wrap="square">
            <a:spAutoFit/>
          </a:bodyPr>
          <a:lstStyle/>
          <a:p>
            <a:pPr marL="342900" indent="-342900">
              <a:buFont typeface="Arial" pitchFamily="34" charset="0"/>
              <a:buChar char="•"/>
            </a:pPr>
            <a:r>
              <a:rPr lang="en-IN" b="1" dirty="0"/>
              <a:t>This circuit can be </a:t>
            </a:r>
            <a:r>
              <a:rPr lang="en-IN" b="1" dirty="0" err="1"/>
              <a:t>analyzed</a:t>
            </a:r>
            <a:r>
              <a:rPr lang="en-IN" b="1" dirty="0"/>
              <a:t> using mesh equations or using node equations.</a:t>
            </a:r>
          </a:p>
          <a:p>
            <a:pPr marL="342900" indent="-342900">
              <a:buFont typeface="Arial" pitchFamily="34" charset="0"/>
              <a:buChar char="•"/>
            </a:pPr>
            <a:r>
              <a:rPr lang="en-IN" b="1" dirty="0"/>
              <a:t>To decide which will be easier, we first count the nodes and meshes.</a:t>
            </a:r>
          </a:p>
          <a:p>
            <a:pPr marL="342900" indent="-342900">
              <a:buFont typeface="Arial" pitchFamily="34" charset="0"/>
              <a:buChar char="•"/>
            </a:pPr>
            <a:r>
              <a:rPr lang="en-IN" b="1" dirty="0"/>
              <a:t>This circuit has five nodes.</a:t>
            </a:r>
          </a:p>
          <a:p>
            <a:pPr marL="342900" indent="-342900">
              <a:buFont typeface="Arial" pitchFamily="34" charset="0"/>
              <a:buChar char="•"/>
            </a:pPr>
            <a:r>
              <a:rPr lang="en-IN" b="1" dirty="0"/>
              <a:t>Selecting a reference node and then applying KCL at the other four nodes will produce a set of four node equations. The circuit has three meshes. </a:t>
            </a:r>
          </a:p>
        </p:txBody>
      </p:sp>
      <p:sp>
        <p:nvSpPr>
          <p:cNvPr id="7" name="Rectangle 6"/>
          <p:cNvSpPr/>
          <p:nvPr/>
        </p:nvSpPr>
        <p:spPr>
          <a:xfrm>
            <a:off x="304800" y="4674275"/>
            <a:ext cx="8686800" cy="2031325"/>
          </a:xfrm>
          <a:prstGeom prst="rect">
            <a:avLst/>
          </a:prstGeom>
        </p:spPr>
        <p:txBody>
          <a:bodyPr wrap="square">
            <a:spAutoFit/>
          </a:bodyPr>
          <a:lstStyle/>
          <a:p>
            <a:pPr marL="342900" indent="-342900">
              <a:buFont typeface="Arial" pitchFamily="34" charset="0"/>
              <a:buChar char="•"/>
            </a:pPr>
            <a:r>
              <a:rPr lang="en-IN" b="1" dirty="0"/>
              <a:t>Applying KVL to these three meshes will produce a set of three mesh equations. Hence, </a:t>
            </a:r>
            <a:r>
              <a:rPr lang="en-IN" b="1" dirty="0" err="1"/>
              <a:t>analyzing</a:t>
            </a:r>
            <a:r>
              <a:rPr lang="en-IN" b="1" dirty="0"/>
              <a:t> this</a:t>
            </a:r>
          </a:p>
          <a:p>
            <a:pPr marL="342900" indent="-342900">
              <a:buFont typeface="Arial" pitchFamily="34" charset="0"/>
              <a:buChar char="•"/>
            </a:pPr>
            <a:r>
              <a:rPr lang="en-IN" b="1" dirty="0"/>
              <a:t>circuit using mesh equations instead of node equations will produce a smaller set of equations. Further, notice that two</a:t>
            </a:r>
          </a:p>
          <a:p>
            <a:pPr marL="342900" indent="-342900">
              <a:buFont typeface="Arial" pitchFamily="34" charset="0"/>
              <a:buChar char="•"/>
            </a:pPr>
            <a:r>
              <a:rPr lang="en-IN" b="1" dirty="0"/>
              <a:t>of the three mesh currents can be determined directly from the current source currents. This makes the mesh equations</a:t>
            </a:r>
          </a:p>
          <a:p>
            <a:pPr marL="342900" indent="-342900">
              <a:buFont typeface="Arial" pitchFamily="34" charset="0"/>
              <a:buChar char="•"/>
            </a:pPr>
            <a:r>
              <a:rPr lang="en-IN" b="1" dirty="0"/>
              <a:t>easier to solve. We will </a:t>
            </a:r>
            <a:r>
              <a:rPr lang="en-IN" b="1" dirty="0" err="1"/>
              <a:t>analyze</a:t>
            </a:r>
            <a:r>
              <a:rPr lang="en-IN" b="1" dirty="0"/>
              <a:t> this circuit by writing and solving mesh equations.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18</a:t>
            </a:fld>
            <a:endParaRPr lang="en-US"/>
          </a:p>
        </p:txBody>
      </p:sp>
      <p:sp>
        <p:nvSpPr>
          <p:cNvPr id="3" name="Rectangle 2"/>
          <p:cNvSpPr/>
          <p:nvPr/>
        </p:nvSpPr>
        <p:spPr>
          <a:xfrm>
            <a:off x="304800" y="113269"/>
            <a:ext cx="8305800" cy="769441"/>
          </a:xfrm>
          <a:prstGeom prst="rect">
            <a:avLst/>
          </a:prstGeom>
        </p:spPr>
        <p:txBody>
          <a:bodyPr wrap="square">
            <a:spAutoFit/>
          </a:bodyPr>
          <a:lstStyle/>
          <a:p>
            <a:pPr algn="ctr"/>
            <a:r>
              <a:rPr lang="en-IN" sz="4400" b="1" dirty="0">
                <a:solidFill>
                  <a:srgbClr val="C00000"/>
                </a:solidFill>
                <a:latin typeface="+mj-lt"/>
                <a:cs typeface="Times New Roman" panose="02020603050405020304" pitchFamily="18" charset="0"/>
              </a:rPr>
              <a:t>Problem - </a:t>
            </a:r>
            <a:r>
              <a:rPr lang="en-US" altLang="en-US" sz="4400" b="1" dirty="0">
                <a:solidFill>
                  <a:srgbClr val="0066FF"/>
                </a:solidFill>
                <a:latin typeface="+mj-lt"/>
              </a:rPr>
              <a:t>Solution</a:t>
            </a:r>
            <a:endParaRPr lang="en-US" sz="4400" b="1" dirty="0">
              <a:solidFill>
                <a:srgbClr val="C00000"/>
              </a:solidFill>
              <a:latin typeface="+mj-lt"/>
              <a:cs typeface="Times New Roman" pitchFamily="18" charset="0"/>
            </a:endParaRPr>
          </a:p>
        </p:txBody>
      </p:sp>
      <p:pic>
        <p:nvPicPr>
          <p:cNvPr id="3074" name="Picture 2"/>
          <p:cNvPicPr>
            <a:picLocks noChangeAspect="1" noChangeArrowheads="1"/>
          </p:cNvPicPr>
          <p:nvPr/>
        </p:nvPicPr>
        <p:blipFill>
          <a:blip r:embed="rId2" cstate="print"/>
          <a:srcRect/>
          <a:stretch>
            <a:fillRect/>
          </a:stretch>
        </p:blipFill>
        <p:spPr bwMode="auto">
          <a:xfrm>
            <a:off x="4716016" y="1020542"/>
            <a:ext cx="4242247" cy="2704788"/>
          </a:xfrm>
          <a:prstGeom prst="rect">
            <a:avLst/>
          </a:prstGeom>
          <a:noFill/>
          <a:ln w="9525">
            <a:noFill/>
            <a:miter lim="800000"/>
            <a:headEnd/>
            <a:tailEnd/>
          </a:ln>
        </p:spPr>
      </p:pic>
      <p:sp>
        <p:nvSpPr>
          <p:cNvPr id="5" name="Rectangle 4"/>
          <p:cNvSpPr/>
          <p:nvPr/>
        </p:nvSpPr>
        <p:spPr>
          <a:xfrm>
            <a:off x="228600" y="914400"/>
            <a:ext cx="3657600" cy="646331"/>
          </a:xfrm>
          <a:prstGeom prst="rect">
            <a:avLst/>
          </a:prstGeom>
        </p:spPr>
        <p:txBody>
          <a:bodyPr wrap="square">
            <a:spAutoFit/>
          </a:bodyPr>
          <a:lstStyle/>
          <a:p>
            <a:r>
              <a:rPr lang="en-IN" b="1" dirty="0"/>
              <a:t>The mesh current i</a:t>
            </a:r>
            <a:r>
              <a:rPr lang="en-IN" b="1" baseline="-25000" dirty="0"/>
              <a:t>1</a:t>
            </a:r>
            <a:r>
              <a:rPr lang="en-IN" b="1" dirty="0"/>
              <a:t> is equal to the current in the 1-A current source, so</a:t>
            </a:r>
          </a:p>
        </p:txBody>
      </p:sp>
      <p:pic>
        <p:nvPicPr>
          <p:cNvPr id="3075" name="Picture 3"/>
          <p:cNvPicPr>
            <a:picLocks noChangeAspect="1" noChangeArrowheads="1"/>
          </p:cNvPicPr>
          <p:nvPr/>
        </p:nvPicPr>
        <p:blipFill>
          <a:blip r:embed="rId3" cstate="print"/>
          <a:srcRect/>
          <a:stretch>
            <a:fillRect/>
          </a:stretch>
        </p:blipFill>
        <p:spPr bwMode="auto">
          <a:xfrm>
            <a:off x="1143001" y="1676401"/>
            <a:ext cx="1219200" cy="302638"/>
          </a:xfrm>
          <a:prstGeom prst="rect">
            <a:avLst/>
          </a:prstGeom>
          <a:noFill/>
          <a:ln w="9525">
            <a:noFill/>
            <a:miter lim="800000"/>
            <a:headEnd/>
            <a:tailEnd/>
          </a:ln>
        </p:spPr>
      </p:pic>
      <p:sp>
        <p:nvSpPr>
          <p:cNvPr id="7" name="Rectangle 6"/>
          <p:cNvSpPr/>
          <p:nvPr/>
        </p:nvSpPr>
        <p:spPr>
          <a:xfrm>
            <a:off x="228600" y="2286000"/>
            <a:ext cx="3657600" cy="646331"/>
          </a:xfrm>
          <a:prstGeom prst="rect">
            <a:avLst/>
          </a:prstGeom>
        </p:spPr>
        <p:txBody>
          <a:bodyPr wrap="square">
            <a:spAutoFit/>
          </a:bodyPr>
          <a:lstStyle/>
          <a:p>
            <a:r>
              <a:rPr lang="en-IN" b="1" dirty="0"/>
              <a:t>The mesh current i2 is equal to the current in the 3-A current source, so</a:t>
            </a:r>
          </a:p>
        </p:txBody>
      </p:sp>
      <p:pic>
        <p:nvPicPr>
          <p:cNvPr id="3076" name="Picture 4"/>
          <p:cNvPicPr>
            <a:picLocks noChangeAspect="1" noChangeArrowheads="1"/>
          </p:cNvPicPr>
          <p:nvPr/>
        </p:nvPicPr>
        <p:blipFill>
          <a:blip r:embed="rId4" cstate="print"/>
          <a:srcRect/>
          <a:stretch>
            <a:fillRect/>
          </a:stretch>
        </p:blipFill>
        <p:spPr bwMode="auto">
          <a:xfrm>
            <a:off x="1143001" y="3124200"/>
            <a:ext cx="1219200" cy="315107"/>
          </a:xfrm>
          <a:prstGeom prst="rect">
            <a:avLst/>
          </a:prstGeom>
          <a:noFill/>
          <a:ln w="9525">
            <a:noFill/>
            <a:miter lim="800000"/>
            <a:headEnd/>
            <a:tailEnd/>
          </a:ln>
        </p:spPr>
      </p:pic>
      <p:sp>
        <p:nvSpPr>
          <p:cNvPr id="9" name="Rectangle 8"/>
          <p:cNvSpPr/>
          <p:nvPr/>
        </p:nvSpPr>
        <p:spPr>
          <a:xfrm>
            <a:off x="152400" y="3773269"/>
            <a:ext cx="8686800" cy="646331"/>
          </a:xfrm>
          <a:prstGeom prst="rect">
            <a:avLst/>
          </a:prstGeom>
        </p:spPr>
        <p:txBody>
          <a:bodyPr wrap="square">
            <a:spAutoFit/>
          </a:bodyPr>
          <a:lstStyle/>
          <a:p>
            <a:r>
              <a:rPr lang="en-IN" b="1" dirty="0"/>
              <a:t>The mesh current i3 is equal to the current in the short circuit that replaced the ammeter, so</a:t>
            </a:r>
          </a:p>
        </p:txBody>
      </p:sp>
      <p:pic>
        <p:nvPicPr>
          <p:cNvPr id="3077" name="Picture 5"/>
          <p:cNvPicPr>
            <a:picLocks noChangeAspect="1" noChangeArrowheads="1"/>
          </p:cNvPicPr>
          <p:nvPr/>
        </p:nvPicPr>
        <p:blipFill>
          <a:blip r:embed="rId5" cstate="print"/>
          <a:srcRect/>
          <a:stretch>
            <a:fillRect/>
          </a:stretch>
        </p:blipFill>
        <p:spPr bwMode="auto">
          <a:xfrm>
            <a:off x="1143000" y="4267200"/>
            <a:ext cx="1333500" cy="276667"/>
          </a:xfrm>
          <a:prstGeom prst="rect">
            <a:avLst/>
          </a:prstGeom>
          <a:noFill/>
          <a:ln w="9525">
            <a:noFill/>
            <a:miter lim="800000"/>
            <a:headEnd/>
            <a:tailEnd/>
          </a:ln>
        </p:spPr>
      </p:pic>
      <p:sp>
        <p:nvSpPr>
          <p:cNvPr id="11" name="Rectangle 10"/>
          <p:cNvSpPr/>
          <p:nvPr/>
        </p:nvSpPr>
        <p:spPr>
          <a:xfrm>
            <a:off x="228600" y="4876800"/>
            <a:ext cx="2752100" cy="369332"/>
          </a:xfrm>
          <a:prstGeom prst="rect">
            <a:avLst/>
          </a:prstGeom>
        </p:spPr>
        <p:txBody>
          <a:bodyPr wrap="none">
            <a:spAutoFit/>
          </a:bodyPr>
          <a:lstStyle/>
          <a:p>
            <a:r>
              <a:rPr lang="en-IN" b="1" dirty="0"/>
              <a:t>Apply KVL to mesh 3 to get</a:t>
            </a:r>
          </a:p>
        </p:txBody>
      </p:sp>
      <p:pic>
        <p:nvPicPr>
          <p:cNvPr id="3078" name="Picture 6"/>
          <p:cNvPicPr>
            <a:picLocks noChangeAspect="1" noChangeArrowheads="1"/>
          </p:cNvPicPr>
          <p:nvPr/>
        </p:nvPicPr>
        <p:blipFill>
          <a:blip r:embed="rId6" cstate="print"/>
          <a:srcRect/>
          <a:stretch>
            <a:fillRect/>
          </a:stretch>
        </p:blipFill>
        <p:spPr bwMode="auto">
          <a:xfrm>
            <a:off x="3276600" y="4876800"/>
            <a:ext cx="4224338" cy="352425"/>
          </a:xfrm>
          <a:prstGeom prst="rect">
            <a:avLst/>
          </a:prstGeom>
          <a:noFill/>
          <a:ln w="9525">
            <a:noFill/>
            <a:miter lim="800000"/>
            <a:headEnd/>
            <a:tailEnd/>
          </a:ln>
        </p:spPr>
      </p:pic>
      <p:sp>
        <p:nvSpPr>
          <p:cNvPr id="13" name="Rectangle 12"/>
          <p:cNvSpPr/>
          <p:nvPr/>
        </p:nvSpPr>
        <p:spPr>
          <a:xfrm>
            <a:off x="228600" y="5334000"/>
            <a:ext cx="7315200" cy="369332"/>
          </a:xfrm>
          <a:prstGeom prst="rect">
            <a:avLst/>
          </a:prstGeom>
        </p:spPr>
        <p:txBody>
          <a:bodyPr wrap="square">
            <a:spAutoFit/>
          </a:bodyPr>
          <a:lstStyle/>
          <a:p>
            <a:r>
              <a:rPr lang="en-IN" b="1" dirty="0"/>
              <a:t>Substituting the values of the mesh currents gives</a:t>
            </a:r>
          </a:p>
        </p:txBody>
      </p:sp>
      <p:pic>
        <p:nvPicPr>
          <p:cNvPr id="3079" name="Picture 7"/>
          <p:cNvPicPr>
            <a:picLocks noChangeAspect="1" noChangeArrowheads="1"/>
          </p:cNvPicPr>
          <p:nvPr/>
        </p:nvPicPr>
        <p:blipFill>
          <a:blip r:embed="rId7" cstate="print"/>
          <a:srcRect/>
          <a:stretch>
            <a:fillRect/>
          </a:stretch>
        </p:blipFill>
        <p:spPr bwMode="auto">
          <a:xfrm>
            <a:off x="304800" y="5867400"/>
            <a:ext cx="7996238" cy="42557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19</a:t>
            </a:fld>
            <a:endParaRPr lang="en-US"/>
          </a:p>
        </p:txBody>
      </p:sp>
      <p:sp>
        <p:nvSpPr>
          <p:cNvPr id="3" name="Rectangle 2"/>
          <p:cNvSpPr/>
          <p:nvPr/>
        </p:nvSpPr>
        <p:spPr>
          <a:xfrm>
            <a:off x="304800" y="136525"/>
            <a:ext cx="8305800" cy="769441"/>
          </a:xfrm>
          <a:prstGeom prst="rect">
            <a:avLst/>
          </a:prstGeom>
        </p:spPr>
        <p:txBody>
          <a:bodyPr wrap="square">
            <a:spAutoFit/>
          </a:bodyPr>
          <a:lstStyle/>
          <a:p>
            <a:pPr algn="ctr"/>
            <a:r>
              <a:rPr lang="en-IN" sz="4400" b="1" dirty="0">
                <a:solidFill>
                  <a:srgbClr val="C00000"/>
                </a:solidFill>
                <a:latin typeface="+mj-lt"/>
                <a:cs typeface="Times New Roman" panose="02020603050405020304" pitchFamily="18" charset="0"/>
              </a:rPr>
              <a:t>Problem</a:t>
            </a:r>
            <a:endParaRPr lang="en-US" sz="4000" b="1" dirty="0">
              <a:solidFill>
                <a:srgbClr val="C00000"/>
              </a:solidFill>
              <a:latin typeface="+mj-lt"/>
              <a:cs typeface="Times New Roman" pitchFamily="18" charset="0"/>
            </a:endParaRPr>
          </a:p>
        </p:txBody>
      </p:sp>
      <p:sp>
        <p:nvSpPr>
          <p:cNvPr id="4" name="Rectangle 3"/>
          <p:cNvSpPr/>
          <p:nvPr/>
        </p:nvSpPr>
        <p:spPr>
          <a:xfrm>
            <a:off x="457200" y="914400"/>
            <a:ext cx="8153400" cy="369332"/>
          </a:xfrm>
          <a:prstGeom prst="rect">
            <a:avLst/>
          </a:prstGeom>
        </p:spPr>
        <p:txBody>
          <a:bodyPr wrap="square">
            <a:spAutoFit/>
          </a:bodyPr>
          <a:lstStyle/>
          <a:p>
            <a:r>
              <a:rPr lang="en-IN" b="1" dirty="0"/>
              <a:t>Consider the circuit shown in Figure. Find the value of the resistance, R.</a:t>
            </a:r>
          </a:p>
        </p:txBody>
      </p:sp>
      <p:pic>
        <p:nvPicPr>
          <p:cNvPr id="4098" name="Picture 2"/>
          <p:cNvPicPr>
            <a:picLocks noChangeAspect="1" noChangeArrowheads="1"/>
          </p:cNvPicPr>
          <p:nvPr/>
        </p:nvPicPr>
        <p:blipFill>
          <a:blip r:embed="rId2" cstate="print"/>
          <a:srcRect/>
          <a:stretch>
            <a:fillRect/>
          </a:stretch>
        </p:blipFill>
        <p:spPr bwMode="auto">
          <a:xfrm>
            <a:off x="762000" y="1524000"/>
            <a:ext cx="6576667" cy="2733675"/>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20</a:t>
            </a:fld>
            <a:endParaRPr lang="en-US"/>
          </a:p>
        </p:txBody>
      </p:sp>
      <p:sp>
        <p:nvSpPr>
          <p:cNvPr id="3" name="Rectangle 2"/>
          <p:cNvSpPr/>
          <p:nvPr/>
        </p:nvSpPr>
        <p:spPr>
          <a:xfrm>
            <a:off x="251520" y="40481"/>
            <a:ext cx="8305800" cy="707886"/>
          </a:xfrm>
          <a:prstGeom prst="rect">
            <a:avLst/>
          </a:prstGeom>
        </p:spPr>
        <p:txBody>
          <a:bodyPr wrap="square">
            <a:spAutoFit/>
          </a:bodyPr>
          <a:lstStyle/>
          <a:p>
            <a:pPr algn="ctr"/>
            <a:r>
              <a:rPr lang="en-IN" sz="4000" b="1" dirty="0">
                <a:solidFill>
                  <a:srgbClr val="C00000"/>
                </a:solidFill>
                <a:latin typeface="Times New Roman" panose="02020603050405020304" pitchFamily="18" charset="0"/>
                <a:cs typeface="Times New Roman" panose="02020603050405020304" pitchFamily="18" charset="0"/>
              </a:rPr>
              <a:t>Problem - </a:t>
            </a:r>
            <a:r>
              <a:rPr lang="en-US" altLang="en-US" sz="4000" b="1" dirty="0">
                <a:solidFill>
                  <a:srgbClr val="0066FF"/>
                </a:solidFill>
              </a:rPr>
              <a:t>Solution</a:t>
            </a:r>
            <a:endParaRPr lang="en-US" sz="4000" b="1" dirty="0">
              <a:solidFill>
                <a:srgbClr val="C00000"/>
              </a:solidFill>
              <a:latin typeface="Times New Roman" pitchFamily="18" charset="0"/>
              <a:cs typeface="Times New Roman" pitchFamily="18" charset="0"/>
            </a:endParaRPr>
          </a:p>
        </p:txBody>
      </p:sp>
      <p:pic>
        <p:nvPicPr>
          <p:cNvPr id="5122" name="Picture 2"/>
          <p:cNvPicPr>
            <a:picLocks noChangeAspect="1" noChangeArrowheads="1"/>
          </p:cNvPicPr>
          <p:nvPr/>
        </p:nvPicPr>
        <p:blipFill>
          <a:blip r:embed="rId2" cstate="print"/>
          <a:srcRect/>
          <a:stretch>
            <a:fillRect/>
          </a:stretch>
        </p:blipFill>
        <p:spPr bwMode="auto">
          <a:xfrm>
            <a:off x="4572000" y="770092"/>
            <a:ext cx="4495800" cy="2411258"/>
          </a:xfrm>
          <a:prstGeom prst="rect">
            <a:avLst/>
          </a:prstGeom>
          <a:noFill/>
          <a:ln w="9525">
            <a:noFill/>
            <a:miter lim="800000"/>
            <a:headEnd/>
            <a:tailEnd/>
          </a:ln>
        </p:spPr>
      </p:pic>
      <p:sp>
        <p:nvSpPr>
          <p:cNvPr id="5" name="Rectangle 4"/>
          <p:cNvSpPr/>
          <p:nvPr/>
        </p:nvSpPr>
        <p:spPr>
          <a:xfrm>
            <a:off x="0" y="3124200"/>
            <a:ext cx="9144000" cy="3693319"/>
          </a:xfrm>
          <a:prstGeom prst="rect">
            <a:avLst/>
          </a:prstGeom>
        </p:spPr>
        <p:txBody>
          <a:bodyPr wrap="square">
            <a:spAutoFit/>
          </a:bodyPr>
          <a:lstStyle/>
          <a:p>
            <a:pPr marL="342900" indent="-342900">
              <a:buFont typeface="Arial" pitchFamily="34" charset="0"/>
              <a:buChar char="•"/>
            </a:pPr>
            <a:r>
              <a:rPr lang="en-IN" b="1" dirty="0"/>
              <a:t>Figure shows the circuit after replacing the voltmeter by an equivalent open circuit and </a:t>
            </a:r>
            <a:r>
              <a:rPr lang="en-IN" b="1" dirty="0" err="1"/>
              <a:t>labeling</a:t>
            </a:r>
            <a:r>
              <a:rPr lang="en-IN" b="1" dirty="0"/>
              <a:t> the voltage measured by the voltmeter.</a:t>
            </a:r>
          </a:p>
          <a:p>
            <a:pPr marL="342900" indent="-342900">
              <a:buFont typeface="Arial" pitchFamily="34" charset="0"/>
              <a:buChar char="•"/>
            </a:pPr>
            <a:r>
              <a:rPr lang="en-IN" b="1" dirty="0"/>
              <a:t>This circuit can be </a:t>
            </a:r>
            <a:r>
              <a:rPr lang="en-IN" b="1" dirty="0" err="1"/>
              <a:t>analyzed</a:t>
            </a:r>
            <a:r>
              <a:rPr lang="en-IN" b="1" dirty="0"/>
              <a:t> using mesh equations or node equations. To decide which will be easier, we first count the nodes and meshes.</a:t>
            </a:r>
          </a:p>
          <a:p>
            <a:pPr marL="342900" indent="-342900">
              <a:buFont typeface="Arial" pitchFamily="34" charset="0"/>
              <a:buChar char="•"/>
            </a:pPr>
            <a:r>
              <a:rPr lang="en-IN" b="1" dirty="0"/>
              <a:t>This circuit has four nodes. Selecting a reference node and then applying KCL at the other three nodes will produce a set of three node equations.</a:t>
            </a:r>
          </a:p>
          <a:p>
            <a:pPr marL="342900" indent="-342900">
              <a:buFont typeface="Arial" pitchFamily="34" charset="0"/>
              <a:buChar char="•"/>
            </a:pPr>
            <a:r>
              <a:rPr lang="en-IN" b="1" dirty="0"/>
              <a:t>The circuit has three meshes. Applying KVL to these three meshes will produce a set of three mesh equations. </a:t>
            </a:r>
            <a:r>
              <a:rPr lang="en-IN" b="1" dirty="0" err="1"/>
              <a:t>Analyzing</a:t>
            </a:r>
            <a:r>
              <a:rPr lang="en-IN" b="1" dirty="0"/>
              <a:t> this circuit using mesh equations requires the same number of equations that are required to </a:t>
            </a:r>
            <a:r>
              <a:rPr lang="en-IN" b="1" dirty="0" err="1"/>
              <a:t>analyze</a:t>
            </a:r>
            <a:r>
              <a:rPr lang="en-IN" b="1" dirty="0"/>
              <a:t> the circuit using node equations.</a:t>
            </a:r>
          </a:p>
          <a:p>
            <a:pPr marL="342900" indent="-342900">
              <a:buFont typeface="Arial" pitchFamily="34" charset="0"/>
              <a:buChar char="•"/>
            </a:pPr>
            <a:r>
              <a:rPr lang="en-IN" b="1" dirty="0">
                <a:solidFill>
                  <a:srgbClr val="C00000"/>
                </a:solidFill>
              </a:rPr>
              <a:t>Notice that one of the three mesh currents can be determined directly from the current source current, but two of the three node voltages can be determined directly from the voltage source voltages. This makes the node equations easier to solve.</a:t>
            </a:r>
          </a:p>
          <a:p>
            <a:pPr marL="342900" indent="-342900">
              <a:buFont typeface="Arial" pitchFamily="34" charset="0"/>
              <a:buChar char="•"/>
            </a:pPr>
            <a:r>
              <a:rPr lang="en-IN" b="1" dirty="0">
                <a:solidFill>
                  <a:srgbClr val="C00000"/>
                </a:solidFill>
              </a:rPr>
              <a:t>We will </a:t>
            </a:r>
            <a:r>
              <a:rPr lang="en-IN" b="1" dirty="0" err="1">
                <a:solidFill>
                  <a:srgbClr val="C00000"/>
                </a:solidFill>
              </a:rPr>
              <a:t>analyze</a:t>
            </a:r>
            <a:r>
              <a:rPr lang="en-IN" b="1" dirty="0">
                <a:solidFill>
                  <a:srgbClr val="C00000"/>
                </a:solidFill>
              </a:rPr>
              <a:t> this circuit by writing and solving node equations.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21</a:t>
            </a:fld>
            <a:endParaRPr lang="en-US"/>
          </a:p>
        </p:txBody>
      </p:sp>
      <p:sp>
        <p:nvSpPr>
          <p:cNvPr id="3" name="Rectangle 2"/>
          <p:cNvSpPr/>
          <p:nvPr/>
        </p:nvSpPr>
        <p:spPr>
          <a:xfrm>
            <a:off x="304800" y="76200"/>
            <a:ext cx="8305800" cy="707886"/>
          </a:xfrm>
          <a:prstGeom prst="rect">
            <a:avLst/>
          </a:prstGeom>
        </p:spPr>
        <p:txBody>
          <a:bodyPr wrap="square">
            <a:spAutoFit/>
          </a:bodyPr>
          <a:lstStyle/>
          <a:p>
            <a:pPr algn="ctr"/>
            <a:r>
              <a:rPr lang="en-IN" sz="4000" b="1" dirty="0">
                <a:solidFill>
                  <a:srgbClr val="C00000"/>
                </a:solidFill>
                <a:latin typeface="+mj-lt"/>
                <a:cs typeface="Times New Roman" panose="02020603050405020304" pitchFamily="18" charset="0"/>
              </a:rPr>
              <a:t>Problem - </a:t>
            </a:r>
            <a:r>
              <a:rPr lang="en-US" altLang="en-US" sz="4000" b="1" dirty="0">
                <a:solidFill>
                  <a:srgbClr val="0066FF"/>
                </a:solidFill>
                <a:latin typeface="+mj-lt"/>
              </a:rPr>
              <a:t>Solution</a:t>
            </a:r>
            <a:endParaRPr lang="en-US" sz="4000" b="1" dirty="0">
              <a:solidFill>
                <a:srgbClr val="C00000"/>
              </a:solidFill>
              <a:latin typeface="+mj-lt"/>
              <a:cs typeface="Times New Roman" pitchFamily="18" charset="0"/>
            </a:endParaRPr>
          </a:p>
        </p:txBody>
      </p:sp>
      <p:pic>
        <p:nvPicPr>
          <p:cNvPr id="6146" name="Picture 2"/>
          <p:cNvPicPr>
            <a:picLocks noChangeAspect="1" noChangeArrowheads="1"/>
          </p:cNvPicPr>
          <p:nvPr/>
        </p:nvPicPr>
        <p:blipFill>
          <a:blip r:embed="rId2" cstate="print"/>
          <a:srcRect/>
          <a:stretch>
            <a:fillRect/>
          </a:stretch>
        </p:blipFill>
        <p:spPr bwMode="auto">
          <a:xfrm>
            <a:off x="3998119" y="810896"/>
            <a:ext cx="4975767" cy="3031370"/>
          </a:xfrm>
          <a:prstGeom prst="rect">
            <a:avLst/>
          </a:prstGeom>
          <a:noFill/>
          <a:ln w="9525">
            <a:noFill/>
            <a:miter lim="800000"/>
            <a:headEnd/>
            <a:tailEnd/>
          </a:ln>
        </p:spPr>
      </p:pic>
      <p:sp>
        <p:nvSpPr>
          <p:cNvPr id="5" name="Rectangle 4"/>
          <p:cNvSpPr/>
          <p:nvPr/>
        </p:nvSpPr>
        <p:spPr>
          <a:xfrm>
            <a:off x="304800" y="990600"/>
            <a:ext cx="3200400" cy="923330"/>
          </a:xfrm>
          <a:prstGeom prst="rect">
            <a:avLst/>
          </a:prstGeom>
        </p:spPr>
        <p:txBody>
          <a:bodyPr wrap="square">
            <a:spAutoFit/>
          </a:bodyPr>
          <a:lstStyle/>
          <a:p>
            <a:r>
              <a:rPr lang="en-IN" b="1" dirty="0"/>
              <a:t>The voltage of the 16-V voltage source can be expressed in terms of the node voltages as</a:t>
            </a:r>
          </a:p>
        </p:txBody>
      </p:sp>
      <p:pic>
        <p:nvPicPr>
          <p:cNvPr id="6147" name="Picture 3"/>
          <p:cNvPicPr>
            <a:picLocks noChangeAspect="1" noChangeArrowheads="1"/>
          </p:cNvPicPr>
          <p:nvPr/>
        </p:nvPicPr>
        <p:blipFill>
          <a:blip r:embed="rId3" cstate="print"/>
          <a:srcRect/>
          <a:stretch>
            <a:fillRect/>
          </a:stretch>
        </p:blipFill>
        <p:spPr bwMode="auto">
          <a:xfrm>
            <a:off x="304801" y="2057400"/>
            <a:ext cx="3124200" cy="273981"/>
          </a:xfrm>
          <a:prstGeom prst="rect">
            <a:avLst/>
          </a:prstGeom>
          <a:noFill/>
          <a:ln w="9525">
            <a:noFill/>
            <a:miter lim="800000"/>
            <a:headEnd/>
            <a:tailEnd/>
          </a:ln>
        </p:spPr>
      </p:pic>
      <p:sp>
        <p:nvSpPr>
          <p:cNvPr id="7" name="Rectangle 6"/>
          <p:cNvSpPr/>
          <p:nvPr/>
        </p:nvSpPr>
        <p:spPr>
          <a:xfrm>
            <a:off x="152400" y="2734270"/>
            <a:ext cx="3429000" cy="923330"/>
          </a:xfrm>
          <a:prstGeom prst="rect">
            <a:avLst/>
          </a:prstGeom>
        </p:spPr>
        <p:txBody>
          <a:bodyPr wrap="square">
            <a:spAutoFit/>
          </a:bodyPr>
          <a:lstStyle/>
          <a:p>
            <a:r>
              <a:rPr lang="en-IN" b="1" dirty="0"/>
              <a:t>The voltage of the 18-V voltage source can be expressed in terms of the node voltages as</a:t>
            </a:r>
          </a:p>
        </p:txBody>
      </p:sp>
      <p:pic>
        <p:nvPicPr>
          <p:cNvPr id="6148" name="Picture 4"/>
          <p:cNvPicPr>
            <a:picLocks noChangeAspect="1" noChangeArrowheads="1"/>
          </p:cNvPicPr>
          <p:nvPr/>
        </p:nvPicPr>
        <p:blipFill>
          <a:blip r:embed="rId4" cstate="print"/>
          <a:srcRect/>
          <a:stretch>
            <a:fillRect/>
          </a:stretch>
        </p:blipFill>
        <p:spPr bwMode="auto">
          <a:xfrm>
            <a:off x="152400" y="3886200"/>
            <a:ext cx="6434138" cy="354987"/>
          </a:xfrm>
          <a:prstGeom prst="rect">
            <a:avLst/>
          </a:prstGeom>
          <a:noFill/>
          <a:ln w="9525">
            <a:noFill/>
            <a:miter lim="800000"/>
            <a:headEnd/>
            <a:tailEnd/>
          </a:ln>
        </p:spPr>
      </p:pic>
      <p:sp>
        <p:nvSpPr>
          <p:cNvPr id="9" name="Rectangle 8"/>
          <p:cNvSpPr/>
          <p:nvPr/>
        </p:nvSpPr>
        <p:spPr>
          <a:xfrm>
            <a:off x="152400" y="4343400"/>
            <a:ext cx="7543800" cy="369332"/>
          </a:xfrm>
          <a:prstGeom prst="rect">
            <a:avLst/>
          </a:prstGeom>
        </p:spPr>
        <p:txBody>
          <a:bodyPr wrap="square">
            <a:spAutoFit/>
          </a:bodyPr>
          <a:lstStyle/>
          <a:p>
            <a:r>
              <a:rPr lang="en-IN" b="1" dirty="0"/>
              <a:t>The voltmeter measures the node voltage at node 3, so</a:t>
            </a:r>
          </a:p>
        </p:txBody>
      </p:sp>
      <p:pic>
        <p:nvPicPr>
          <p:cNvPr id="6149" name="Picture 5"/>
          <p:cNvPicPr>
            <a:picLocks noChangeAspect="1" noChangeArrowheads="1"/>
          </p:cNvPicPr>
          <p:nvPr/>
        </p:nvPicPr>
        <p:blipFill>
          <a:blip r:embed="rId5" cstate="print"/>
          <a:srcRect/>
          <a:stretch>
            <a:fillRect/>
          </a:stretch>
        </p:blipFill>
        <p:spPr bwMode="auto">
          <a:xfrm>
            <a:off x="5715000" y="4385454"/>
            <a:ext cx="1219200" cy="264483"/>
          </a:xfrm>
          <a:prstGeom prst="rect">
            <a:avLst/>
          </a:prstGeom>
          <a:noFill/>
          <a:ln w="9525">
            <a:noFill/>
            <a:miter lim="800000"/>
            <a:headEnd/>
            <a:tailEnd/>
          </a:ln>
        </p:spPr>
      </p:pic>
      <p:sp>
        <p:nvSpPr>
          <p:cNvPr id="11" name="Rectangle 10"/>
          <p:cNvSpPr/>
          <p:nvPr/>
        </p:nvSpPr>
        <p:spPr>
          <a:xfrm>
            <a:off x="152400" y="5017532"/>
            <a:ext cx="2976199" cy="369332"/>
          </a:xfrm>
          <a:prstGeom prst="rect">
            <a:avLst/>
          </a:prstGeom>
        </p:spPr>
        <p:txBody>
          <a:bodyPr wrap="none">
            <a:spAutoFit/>
          </a:bodyPr>
          <a:lstStyle/>
          <a:p>
            <a:r>
              <a:rPr lang="en-IN" b="1" dirty="0"/>
              <a:t>Applying KCL at node 3 to get</a:t>
            </a:r>
          </a:p>
        </p:txBody>
      </p:sp>
      <p:pic>
        <p:nvPicPr>
          <p:cNvPr id="6150" name="Picture 6"/>
          <p:cNvPicPr>
            <a:picLocks noChangeAspect="1" noChangeArrowheads="1"/>
          </p:cNvPicPr>
          <p:nvPr/>
        </p:nvPicPr>
        <p:blipFill>
          <a:blip r:embed="rId6" cstate="print"/>
          <a:srcRect/>
          <a:stretch>
            <a:fillRect/>
          </a:stretch>
        </p:blipFill>
        <p:spPr bwMode="auto">
          <a:xfrm>
            <a:off x="3633787" y="4876800"/>
            <a:ext cx="2404027" cy="685800"/>
          </a:xfrm>
          <a:prstGeom prst="rect">
            <a:avLst/>
          </a:prstGeom>
          <a:noFill/>
          <a:ln w="9525">
            <a:noFill/>
            <a:miter lim="800000"/>
            <a:headEnd/>
            <a:tailEnd/>
          </a:ln>
        </p:spPr>
      </p:pic>
      <p:sp>
        <p:nvSpPr>
          <p:cNvPr id="13" name="Rectangle 12"/>
          <p:cNvSpPr/>
          <p:nvPr/>
        </p:nvSpPr>
        <p:spPr>
          <a:xfrm>
            <a:off x="152400" y="5650468"/>
            <a:ext cx="7086600" cy="369332"/>
          </a:xfrm>
          <a:prstGeom prst="rect">
            <a:avLst/>
          </a:prstGeom>
        </p:spPr>
        <p:txBody>
          <a:bodyPr wrap="square">
            <a:spAutoFit/>
          </a:bodyPr>
          <a:lstStyle/>
          <a:p>
            <a:r>
              <a:rPr lang="en-IN" b="1" dirty="0"/>
              <a:t>Substituting the values of the node voltages gives</a:t>
            </a:r>
          </a:p>
        </p:txBody>
      </p:sp>
      <p:pic>
        <p:nvPicPr>
          <p:cNvPr id="6151" name="Picture 7"/>
          <p:cNvPicPr>
            <a:picLocks noChangeAspect="1" noChangeArrowheads="1"/>
          </p:cNvPicPr>
          <p:nvPr/>
        </p:nvPicPr>
        <p:blipFill>
          <a:blip r:embed="rId7" cstate="print"/>
          <a:srcRect/>
          <a:stretch>
            <a:fillRect/>
          </a:stretch>
        </p:blipFill>
        <p:spPr bwMode="auto">
          <a:xfrm>
            <a:off x="2286000" y="6096000"/>
            <a:ext cx="3424238" cy="545385"/>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22</a:t>
            </a:fld>
            <a:endParaRPr lang="en-US"/>
          </a:p>
        </p:txBody>
      </p:sp>
      <p:sp>
        <p:nvSpPr>
          <p:cNvPr id="3" name="Rectangle 2"/>
          <p:cNvSpPr/>
          <p:nvPr/>
        </p:nvSpPr>
        <p:spPr>
          <a:xfrm>
            <a:off x="533400" y="889844"/>
            <a:ext cx="8001000" cy="4619854"/>
          </a:xfrm>
          <a:prstGeom prst="rect">
            <a:avLst/>
          </a:prstGeom>
        </p:spPr>
        <p:txBody>
          <a:bodyPr wrap="square">
            <a:spAutoFit/>
          </a:bodyPr>
          <a:lstStyle/>
          <a:p>
            <a:pPr marL="342900" indent="-342900">
              <a:lnSpc>
                <a:spcPct val="150000"/>
              </a:lnSpc>
              <a:buFont typeface="Arial" pitchFamily="34" charset="0"/>
              <a:buChar char="•"/>
            </a:pPr>
            <a:r>
              <a:rPr lang="en-IN" b="1" dirty="0"/>
              <a:t>If a circuit has both current sources and voltage sources, it can be </a:t>
            </a:r>
            <a:r>
              <a:rPr lang="en-IN" b="1" dirty="0" err="1"/>
              <a:t>analyzed</a:t>
            </a:r>
            <a:r>
              <a:rPr lang="en-IN" b="1" dirty="0"/>
              <a:t> by either method.</a:t>
            </a:r>
          </a:p>
          <a:p>
            <a:pPr marL="342900" indent="-342900">
              <a:lnSpc>
                <a:spcPct val="150000"/>
              </a:lnSpc>
              <a:buFont typeface="Arial" pitchFamily="34" charset="0"/>
              <a:buChar char="•"/>
            </a:pPr>
            <a:r>
              <a:rPr lang="en-IN" b="1" dirty="0"/>
              <a:t>One approach is to compare the number of equations required for each method. </a:t>
            </a:r>
          </a:p>
          <a:p>
            <a:pPr marL="342900" indent="-342900">
              <a:lnSpc>
                <a:spcPct val="150000"/>
              </a:lnSpc>
              <a:buFont typeface="Arial" pitchFamily="34" charset="0"/>
              <a:buChar char="•"/>
            </a:pPr>
            <a:r>
              <a:rPr lang="en-IN" b="1" dirty="0"/>
              <a:t>If the circuit has fewer nodes than meshes, it may be wise to select the node voltage method. If the circuit has fewer meshes than nodes, it may be easier to use the mesh current method.</a:t>
            </a:r>
          </a:p>
          <a:p>
            <a:pPr marL="342900" indent="-342900">
              <a:lnSpc>
                <a:spcPct val="150000"/>
              </a:lnSpc>
              <a:buFont typeface="Arial" pitchFamily="34" charset="0"/>
              <a:buChar char="•"/>
            </a:pPr>
            <a:endParaRPr lang="en-IN" b="1" dirty="0"/>
          </a:p>
          <a:p>
            <a:pPr marL="342900" indent="-342900">
              <a:lnSpc>
                <a:spcPct val="150000"/>
              </a:lnSpc>
              <a:buFont typeface="Arial" pitchFamily="34" charset="0"/>
              <a:buChar char="•"/>
            </a:pPr>
            <a:r>
              <a:rPr lang="en-IN" b="1" dirty="0"/>
              <a:t>Another point to consider when choosing between the two methods is what information is required. If you need to know several currents, it may be wise to proceed directly with mesh current analysis.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800" y="304800"/>
            <a:ext cx="8610600" cy="3830279"/>
          </a:xfrm>
          <a:prstGeom prst="rect">
            <a:avLst/>
          </a:prstGeom>
          <a:noFill/>
        </p:spPr>
        <p:txBody>
          <a:bodyPr wrap="square" rtlCol="0">
            <a:spAutoFit/>
          </a:bodyPr>
          <a:lstStyle/>
          <a:p>
            <a:pPr algn="ctr">
              <a:lnSpc>
                <a:spcPct val="150000"/>
              </a:lnSpc>
            </a:pPr>
            <a:r>
              <a:rPr lang="en-US" sz="4400" b="1" dirty="0">
                <a:solidFill>
                  <a:srgbClr val="C00000"/>
                </a:solidFill>
                <a:latin typeface="+mj-lt"/>
                <a:cs typeface="Arial" pitchFamily="34" charset="0"/>
              </a:rPr>
              <a:t>References</a:t>
            </a:r>
          </a:p>
          <a:p>
            <a:pPr marL="457200" indent="-457200" algn="just">
              <a:lnSpc>
                <a:spcPct val="150000"/>
              </a:lnSpc>
              <a:buFont typeface="+mj-lt"/>
              <a:buAutoNum type="arabicPeriod"/>
            </a:pPr>
            <a:r>
              <a:rPr lang="en-US" sz="2000" dirty="0">
                <a:cs typeface="Times New Roman" pitchFamily="18" charset="0"/>
              </a:rPr>
              <a:t>R.C. </a:t>
            </a:r>
            <a:r>
              <a:rPr lang="en-US" sz="2000" dirty="0" err="1">
                <a:cs typeface="Times New Roman" pitchFamily="18" charset="0"/>
              </a:rPr>
              <a:t>Dorf</a:t>
            </a:r>
            <a:r>
              <a:rPr lang="en-US" sz="2000" dirty="0">
                <a:cs typeface="Times New Roman" pitchFamily="18" charset="0"/>
              </a:rPr>
              <a:t> and James A. Svoboda, “Introduction to Electric Circuits”, 9</a:t>
            </a:r>
            <a:r>
              <a:rPr lang="en-US" sz="2000" baseline="30000" dirty="0">
                <a:cs typeface="Times New Roman" pitchFamily="18" charset="0"/>
              </a:rPr>
              <a:t>th</a:t>
            </a:r>
            <a:r>
              <a:rPr lang="en-US" sz="2000" dirty="0">
                <a:cs typeface="Times New Roman" pitchFamily="18" charset="0"/>
              </a:rPr>
              <a:t> </a:t>
            </a:r>
            <a:r>
              <a:rPr lang="en-US" sz="2000" dirty="0" err="1">
                <a:cs typeface="Times New Roman" pitchFamily="18" charset="0"/>
              </a:rPr>
              <a:t>ed</a:t>
            </a:r>
            <a:r>
              <a:rPr lang="en-US" sz="2000" dirty="0">
                <a:cs typeface="Times New Roman" pitchFamily="18" charset="0"/>
              </a:rPr>
              <a:t>, John Wiley &amp; Sons, 2013.</a:t>
            </a:r>
          </a:p>
          <a:p>
            <a:pPr marL="457200" indent="-457200" algn="just">
              <a:lnSpc>
                <a:spcPct val="150000"/>
              </a:lnSpc>
              <a:buFont typeface="+mj-lt"/>
              <a:buAutoNum type="arabicPeriod"/>
            </a:pPr>
            <a:r>
              <a:rPr lang="en-US" sz="2000" dirty="0">
                <a:cs typeface="Times New Roman" pitchFamily="18" charset="0"/>
              </a:rPr>
              <a:t>D.C. </a:t>
            </a:r>
            <a:r>
              <a:rPr lang="en-US" sz="2000" dirty="0" err="1">
                <a:cs typeface="Times New Roman" pitchFamily="18" charset="0"/>
              </a:rPr>
              <a:t>Kulshreshtha</a:t>
            </a:r>
            <a:r>
              <a:rPr lang="en-US" sz="2000" dirty="0">
                <a:cs typeface="Times New Roman" pitchFamily="18" charset="0"/>
              </a:rPr>
              <a:t>, Basic Electrical Engineering, Revised 1</a:t>
            </a:r>
            <a:r>
              <a:rPr lang="en-US" sz="2000" baseline="30000" dirty="0">
                <a:cs typeface="Times New Roman" pitchFamily="18" charset="0"/>
              </a:rPr>
              <a:t>st</a:t>
            </a:r>
            <a:r>
              <a:rPr lang="en-US" sz="2000" dirty="0">
                <a:cs typeface="Times New Roman" pitchFamily="18" charset="0"/>
              </a:rPr>
              <a:t> </a:t>
            </a:r>
            <a:r>
              <a:rPr lang="en-US" sz="2000" dirty="0" err="1">
                <a:cs typeface="Times New Roman" pitchFamily="18" charset="0"/>
              </a:rPr>
              <a:t>ed</a:t>
            </a:r>
            <a:r>
              <a:rPr lang="en-US" sz="2000" dirty="0">
                <a:cs typeface="Times New Roman" pitchFamily="18" charset="0"/>
              </a:rPr>
              <a:t>, Tata Mc </a:t>
            </a:r>
            <a:r>
              <a:rPr lang="en-US" sz="2000" dirty="0" err="1">
                <a:cs typeface="Times New Roman" pitchFamily="18" charset="0"/>
              </a:rPr>
              <a:t>Graw</a:t>
            </a:r>
            <a:r>
              <a:rPr lang="en-US" sz="2000" dirty="0">
                <a:cs typeface="Times New Roman" pitchFamily="18" charset="0"/>
              </a:rPr>
              <a:t> Hill, 2017.</a:t>
            </a:r>
          </a:p>
          <a:p>
            <a:pPr marL="457200" indent="-457200" algn="just">
              <a:lnSpc>
                <a:spcPct val="150000"/>
              </a:lnSpc>
              <a:buFont typeface="+mj-lt"/>
              <a:buAutoNum type="arabicPeriod"/>
            </a:pPr>
            <a:r>
              <a:rPr lang="en-US" sz="2000" dirty="0">
                <a:cs typeface="Times New Roman" pitchFamily="18" charset="0"/>
              </a:rPr>
              <a:t>V. </a:t>
            </a:r>
            <a:r>
              <a:rPr lang="en-US" sz="2000" dirty="0" err="1">
                <a:cs typeface="Times New Roman" pitchFamily="18" charset="0"/>
              </a:rPr>
              <a:t>K.Mehta</a:t>
            </a:r>
            <a:r>
              <a:rPr lang="en-US" sz="2000" dirty="0">
                <a:cs typeface="Times New Roman" pitchFamily="18" charset="0"/>
              </a:rPr>
              <a:t>, </a:t>
            </a:r>
            <a:r>
              <a:rPr lang="en-US" sz="2000" dirty="0" err="1">
                <a:cs typeface="Times New Roman" pitchFamily="18" charset="0"/>
              </a:rPr>
              <a:t>Rohit</a:t>
            </a:r>
            <a:r>
              <a:rPr lang="en-US" sz="2000" dirty="0">
                <a:cs typeface="Times New Roman" pitchFamily="18" charset="0"/>
              </a:rPr>
              <a:t> Mehta, Basic Electrical Engineering, 6</a:t>
            </a:r>
            <a:r>
              <a:rPr lang="en-US" sz="2000" baseline="30000" dirty="0">
                <a:cs typeface="Times New Roman" pitchFamily="18" charset="0"/>
              </a:rPr>
              <a:t>th</a:t>
            </a:r>
            <a:r>
              <a:rPr lang="en-US" sz="2000" dirty="0">
                <a:cs typeface="Times New Roman" pitchFamily="18" charset="0"/>
              </a:rPr>
              <a:t> </a:t>
            </a:r>
            <a:r>
              <a:rPr lang="en-US" sz="2000" dirty="0" err="1">
                <a:cs typeface="Times New Roman" pitchFamily="18" charset="0"/>
              </a:rPr>
              <a:t>ed</a:t>
            </a:r>
            <a:r>
              <a:rPr lang="en-US" sz="2000" dirty="0">
                <a:cs typeface="Times New Roman" pitchFamily="18" charset="0"/>
              </a:rPr>
              <a:t>, S. </a:t>
            </a:r>
            <a:r>
              <a:rPr lang="en-US" sz="2000" dirty="0" err="1">
                <a:cs typeface="Times New Roman" pitchFamily="18" charset="0"/>
              </a:rPr>
              <a:t>Chand</a:t>
            </a:r>
            <a:r>
              <a:rPr lang="en-US" sz="2000" dirty="0">
                <a:cs typeface="Times New Roman" pitchFamily="18" charset="0"/>
              </a:rPr>
              <a:t> Publishing, 2012.</a:t>
            </a:r>
          </a:p>
        </p:txBody>
      </p:sp>
      <p:sp>
        <p:nvSpPr>
          <p:cNvPr id="4" name="Slide Number Placeholder 3"/>
          <p:cNvSpPr>
            <a:spLocks noGrp="1"/>
          </p:cNvSpPr>
          <p:nvPr>
            <p:ph type="sldNum" sz="quarter" idx="12"/>
          </p:nvPr>
        </p:nvSpPr>
        <p:spPr/>
        <p:txBody>
          <a:bodyPr/>
          <a:lstStyle/>
          <a:p>
            <a:pPr>
              <a:lnSpc>
                <a:spcPct val="150000"/>
              </a:lnSpc>
            </a:pPr>
            <a:fld id="{B6F15528-21DE-4FAA-801E-634DDDAF4B2B}" type="slidenum">
              <a:rPr lang="en-US" smtClean="0">
                <a:latin typeface="Times New Roman" pitchFamily="18" charset="0"/>
                <a:cs typeface="Times New Roman" pitchFamily="18" charset="0"/>
              </a:rPr>
              <a:pPr>
                <a:lnSpc>
                  <a:spcPct val="150000"/>
                </a:lnSpc>
              </a:pPr>
              <a:t>23</a:t>
            </a:fld>
            <a:endParaRPr lang="en-US">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1303</Words>
  <Application>Microsoft Office PowerPoint</Application>
  <PresentationFormat>On-screen Show (4:3)</PresentationFormat>
  <Paragraphs>121</Paragraphs>
  <Slides>23</Slides>
  <Notes>1</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Slide 1</vt:lpstr>
      <vt:lpstr>CONTENTS</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ankur bhardwaj</dc:creator>
  <cp:lastModifiedBy>ankur.bhardwaj</cp:lastModifiedBy>
  <cp:revision>1</cp:revision>
  <dcterms:created xsi:type="dcterms:W3CDTF">2006-08-16T00:00:00Z</dcterms:created>
  <dcterms:modified xsi:type="dcterms:W3CDTF">2024-08-09T03:52:56Z</dcterms:modified>
</cp:coreProperties>
</file>