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8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6.png"/><Relationship Id="rId7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29.png"/><Relationship Id="rId4" Type="http://schemas.openxmlformats.org/officeDocument/2006/relationships/image" Target="../media/image24.png"/><Relationship Id="rId9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61179" y="908720"/>
            <a:ext cx="4821641" cy="323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400" b="1" dirty="0">
                <a:solidFill>
                  <a:srgbClr val="C00000"/>
                </a:solidFill>
                <a:latin typeface="+mj-lt"/>
              </a:rPr>
              <a:t>BASIC ELECTRONICS</a:t>
            </a:r>
          </a:p>
          <a:p>
            <a:pPr algn="ctr"/>
            <a:r>
              <a:rPr lang="en-US" sz="4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(24B11EC111)</a:t>
            </a:r>
          </a:p>
          <a:p>
            <a:pPr algn="ctr"/>
            <a:r>
              <a:rPr lang="en-US" sz="4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Unit-1</a:t>
            </a:r>
          </a:p>
          <a:p>
            <a:pPr algn="ctr"/>
            <a:r>
              <a:rPr lang="en-US" sz="4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Lecture-7</a:t>
            </a:r>
          </a:p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Superposition Theorem)</a:t>
            </a:r>
            <a:endParaRPr lang="en-US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>
                <a:latin typeface="Times New Roman" pitchFamily="18" charset="0"/>
                <a:cs typeface="Times New Roman" pitchFamily="18" charset="0"/>
              </a:rPr>
              <a:pPr/>
              <a:t>1</a:t>
            </a:fld>
            <a:endParaRPr lang="en-IN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10711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43484" y="836712"/>
            <a:ext cx="270093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  <a:latin typeface="+mj-lt"/>
                <a:cs typeface="Arial" pitchFamily="34" charset="0"/>
              </a:rPr>
              <a:t>CONTENTS</a:t>
            </a:r>
            <a:endParaRPr lang="en-IN" sz="4400" b="1" dirty="0">
              <a:solidFill>
                <a:srgbClr val="C00000"/>
              </a:solidFill>
              <a:latin typeface="+mj-lt"/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7199" y="2074765"/>
            <a:ext cx="4869592" cy="27847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>
              <a:lnSpc>
                <a:spcPct val="200000"/>
              </a:lnSpc>
              <a:buFont typeface="Arial" pitchFamily="34" charset="0"/>
              <a:buChar char="•"/>
            </a:pPr>
            <a:r>
              <a:rPr lang="en-US" b="1" dirty="0">
                <a:cs typeface="Arial" pitchFamily="34" charset="0"/>
              </a:rPr>
              <a:t>Network Theorems</a:t>
            </a:r>
          </a:p>
          <a:p>
            <a:pPr marL="257175" indent="-257175">
              <a:lnSpc>
                <a:spcPct val="200000"/>
              </a:lnSpc>
              <a:buFont typeface="Arial" pitchFamily="34" charset="0"/>
              <a:buChar char="•"/>
            </a:pPr>
            <a:r>
              <a:rPr lang="en-US" b="1" dirty="0">
                <a:cs typeface="Arial" pitchFamily="34" charset="0"/>
              </a:rPr>
              <a:t>Linearity Property</a:t>
            </a:r>
          </a:p>
          <a:p>
            <a:pPr marL="257175" indent="-257175">
              <a:lnSpc>
                <a:spcPct val="200000"/>
              </a:lnSpc>
              <a:buFont typeface="Arial" pitchFamily="34" charset="0"/>
              <a:buChar char="•"/>
            </a:pPr>
            <a:r>
              <a:rPr lang="en-US" b="1" dirty="0">
                <a:cs typeface="Arial" pitchFamily="34" charset="0"/>
              </a:rPr>
              <a:t>Superposition Theorem</a:t>
            </a:r>
          </a:p>
          <a:p>
            <a:pPr marL="257175" indent="-257175">
              <a:lnSpc>
                <a:spcPct val="200000"/>
              </a:lnSpc>
              <a:buFont typeface="Arial" pitchFamily="34" charset="0"/>
              <a:buChar char="•"/>
            </a:pPr>
            <a:r>
              <a:rPr lang="en-US" b="1" dirty="0">
                <a:cs typeface="Arial" pitchFamily="34" charset="0"/>
              </a:rPr>
              <a:t>Problem</a:t>
            </a:r>
          </a:p>
          <a:p>
            <a:pPr marL="257175" indent="-257175">
              <a:lnSpc>
                <a:spcPct val="200000"/>
              </a:lnSpc>
              <a:buFont typeface="Arial" pitchFamily="34" charset="0"/>
              <a:buChar char="•"/>
            </a:pPr>
            <a:r>
              <a:rPr lang="en-US" b="1" dirty="0">
                <a:cs typeface="Arial" pitchFamily="34" charset="0"/>
              </a:rPr>
              <a:t>References</a:t>
            </a:r>
            <a:endParaRPr lang="en-IN" dirty="0"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32481" y="260648"/>
            <a:ext cx="467903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  <a:latin typeface="+mj-lt"/>
                <a:cs typeface="Arial" pitchFamily="34" charset="0"/>
              </a:rPr>
              <a:t>Network Theorems</a:t>
            </a:r>
            <a:endParaRPr lang="en-IN" sz="4400" dirty="0">
              <a:solidFill>
                <a:srgbClr val="C00000"/>
              </a:solidFill>
              <a:latin typeface="+mj-lt"/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74073" y="1628507"/>
            <a:ext cx="8427027" cy="27847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>
              <a:lnSpc>
                <a:spcPct val="200000"/>
              </a:lnSpc>
              <a:buFont typeface="Arial" pitchFamily="34" charset="0"/>
              <a:buChar char="•"/>
            </a:pPr>
            <a:r>
              <a:rPr lang="en-US" b="1" dirty="0">
                <a:cs typeface="Times New Roman" pitchFamily="18" charset="0"/>
              </a:rPr>
              <a:t>To handle the complex circuits, engineers have developed some theorems like Superposition Theorem, </a:t>
            </a:r>
            <a:r>
              <a:rPr lang="en-US" b="1" dirty="0" err="1">
                <a:cs typeface="Times New Roman" pitchFamily="18" charset="0"/>
              </a:rPr>
              <a:t>Thevenin’s</a:t>
            </a:r>
            <a:r>
              <a:rPr lang="en-US" b="1" dirty="0">
                <a:cs typeface="Times New Roman" pitchFamily="18" charset="0"/>
              </a:rPr>
              <a:t> Theorem, Norton’s Theorem, Maximum Power Transfer Theorem.</a:t>
            </a:r>
          </a:p>
          <a:p>
            <a:pPr marL="257175" indent="-257175">
              <a:lnSpc>
                <a:spcPct val="200000"/>
              </a:lnSpc>
              <a:buFont typeface="Arial" pitchFamily="34" charset="0"/>
              <a:buChar char="•"/>
            </a:pPr>
            <a:r>
              <a:rPr lang="en-US" b="1" dirty="0">
                <a:cs typeface="Times New Roman" pitchFamily="18" charset="0"/>
              </a:rPr>
              <a:t> </a:t>
            </a:r>
            <a:r>
              <a:rPr lang="en-IN" b="1" dirty="0">
                <a:cs typeface="Times New Roman" pitchFamily="18" charset="0"/>
              </a:rPr>
              <a:t>Since these theorems are applicable to linear circuits, we first discuss the concept of circuit linearity.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67744" y="277400"/>
            <a:ext cx="440332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  <a:latin typeface="+mj-lt"/>
                <a:cs typeface="Arial" pitchFamily="34" charset="0"/>
              </a:rPr>
              <a:t>Linearity Property</a:t>
            </a:r>
          </a:p>
        </p:txBody>
      </p:sp>
      <p:sp>
        <p:nvSpPr>
          <p:cNvPr id="4" name="Rectangle 3"/>
          <p:cNvSpPr/>
          <p:nvPr/>
        </p:nvSpPr>
        <p:spPr>
          <a:xfrm>
            <a:off x="348095" y="1268760"/>
            <a:ext cx="8447809" cy="460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600" b="1" dirty="0">
                <a:cs typeface="Times New Roman" pitchFamily="18" charset="0"/>
              </a:rPr>
              <a:t>Linearity is the property of an element describing a linear relationship between cause and effect.</a:t>
            </a:r>
          </a:p>
          <a:p>
            <a:pPr marL="257175" indent="-257175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600" b="1" dirty="0">
                <a:cs typeface="Times New Roman" pitchFamily="18" charset="0"/>
              </a:rPr>
              <a:t>The property is a combination of both the homogeneity (scaling) property and the additivity property.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1600" b="1" dirty="0"/>
              <a:t>The homogeneity property requires that if the input is multiplied by a constant, then the output is multiplied by the same constant.</a:t>
            </a:r>
          </a:p>
          <a:p>
            <a:pPr marL="257175" indent="-257175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600" b="1" dirty="0"/>
              <a:t>The additivity property requires that the response to a sum of inputs is the sum of the responses to each input applied separately.</a:t>
            </a:r>
          </a:p>
          <a:p>
            <a:pPr marL="257175" indent="-257175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600" b="1" dirty="0"/>
              <a:t>Resistor is a linear element because the voltage-current relationship satisfies both the homogeneity and the additivity properties.</a:t>
            </a:r>
          </a:p>
          <a:p>
            <a:pPr marL="257175" indent="-257175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600" b="1" dirty="0"/>
              <a:t>In general, a circuit is linear if it is both additive and homogeneous.</a:t>
            </a:r>
          </a:p>
          <a:p>
            <a:pPr marL="257175" indent="-257175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600" b="1" dirty="0"/>
              <a:t>A linear circuit consists of only linear elements, linear dependent sources, and independent sources.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46809" y="1586563"/>
            <a:ext cx="83231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IN" b="1" dirty="0"/>
              <a:t>The superposition principle states that the voltage across (or current through) an element in a linear circuit is the algebraic sum of the voltages across (or currents through) that element due to each independent source acting alone.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033" y="2635890"/>
            <a:ext cx="83854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>
              <a:buFont typeface="Wingdings" pitchFamily="2" charset="2"/>
              <a:buChar char="Ø"/>
            </a:pPr>
            <a:r>
              <a:rPr lang="en-IN" b="1" dirty="0"/>
              <a:t>To apply the superposition principle, we must keep two things in mind:</a:t>
            </a:r>
          </a:p>
        </p:txBody>
      </p:sp>
      <p:sp>
        <p:nvSpPr>
          <p:cNvPr id="5" name="Rectangle 4"/>
          <p:cNvSpPr/>
          <p:nvPr/>
        </p:nvSpPr>
        <p:spPr>
          <a:xfrm>
            <a:off x="675421" y="3051995"/>
            <a:ext cx="8302337" cy="2126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We consider one independent source at a time while all other independent sources are turned off. This implies that we replace every voltage source by 0 V (or a short circuit), and every current source by 0 A (or an open circuit). This way we obtain a simpler and more manageable circuit.</a:t>
            </a: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Dependent sources are left intact because they are controlled by circuit variables.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21E79FB-FE82-D5B2-8C45-0E356BAF1530}"/>
              </a:ext>
            </a:extLst>
          </p:cNvPr>
          <p:cNvSpPr/>
          <p:nvPr/>
        </p:nvSpPr>
        <p:spPr>
          <a:xfrm>
            <a:off x="1691680" y="260648"/>
            <a:ext cx="568142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  <a:latin typeface="+mj-lt"/>
                <a:cs typeface="Arial" pitchFamily="34" charset="0"/>
              </a:rPr>
              <a:t>Superposition Theorem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91680" y="260648"/>
            <a:ext cx="568142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  <a:latin typeface="+mj-lt"/>
                <a:cs typeface="Arial" pitchFamily="34" charset="0"/>
              </a:rPr>
              <a:t>Superposition Theorem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67544" y="1688857"/>
            <a:ext cx="7848872" cy="464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>
              <a:lnSpc>
                <a:spcPct val="150000"/>
              </a:lnSpc>
              <a:buFont typeface="Wingdings" pitchFamily="2" charset="2"/>
              <a:buChar char="Ø"/>
            </a:pPr>
            <a:r>
              <a:rPr lang="en-IN" b="1" dirty="0"/>
              <a:t>With these in mind, we apply the superposition principle in three steps:</a:t>
            </a:r>
          </a:p>
        </p:txBody>
      </p:sp>
      <p:sp>
        <p:nvSpPr>
          <p:cNvPr id="7" name="Rectangle 6"/>
          <p:cNvSpPr/>
          <p:nvPr/>
        </p:nvSpPr>
        <p:spPr>
          <a:xfrm>
            <a:off x="611560" y="2276872"/>
            <a:ext cx="8104910" cy="2126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Turn off all independent sources except one source. Find the output (voltage or current) due to that active source.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Repeat step 1 for each of the other independent sources.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Find the total contribution by adding algebraically all the contributions due to the independent sources.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188640"/>
            <a:ext cx="869719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solidFill>
                  <a:srgbClr val="C00000"/>
                </a:solidFill>
                <a:latin typeface="+mj-lt"/>
                <a:cs typeface="Arial" pitchFamily="34" charset="0"/>
              </a:rPr>
              <a:t>Problem</a:t>
            </a:r>
            <a:endParaRPr lang="en-US" sz="2100" b="1" dirty="0">
              <a:solidFill>
                <a:srgbClr val="C00000"/>
              </a:solidFill>
              <a:latin typeface="+mj-lt"/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1528" y="1492874"/>
            <a:ext cx="4934043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500" b="1" dirty="0"/>
              <a:t>Use the superposition theorem to find v in the circuit of Fig.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1309" y="1994609"/>
            <a:ext cx="3252680" cy="14259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8990" y="175272"/>
            <a:ext cx="864523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solidFill>
                  <a:srgbClr val="C00000"/>
                </a:solidFill>
                <a:latin typeface="+mj-lt"/>
                <a:cs typeface="Arial" pitchFamily="34" charset="0"/>
              </a:rPr>
              <a:t>Problem - </a:t>
            </a:r>
            <a:r>
              <a:rPr lang="en-US" altLang="en-US" sz="4400" b="1" dirty="0">
                <a:solidFill>
                  <a:srgbClr val="0066FF"/>
                </a:solidFill>
                <a:latin typeface="+mj-lt"/>
                <a:cs typeface="Arial" pitchFamily="34" charset="0"/>
              </a:rPr>
              <a:t>Solution</a:t>
            </a:r>
            <a:endParaRPr lang="en-US" sz="4400" b="1" dirty="0">
              <a:solidFill>
                <a:srgbClr val="C00000"/>
              </a:solidFill>
              <a:latin typeface="+mj-lt"/>
              <a:cs typeface="Arial" pitchFamily="34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38351" y="1418359"/>
            <a:ext cx="2702068" cy="1184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89072" y="3164061"/>
            <a:ext cx="2593506" cy="1376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322749" y="1565610"/>
            <a:ext cx="2339102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350" dirty="0">
                <a:latin typeface="Times New Roman" pitchFamily="18" charset="0"/>
                <a:cs typeface="Times New Roman" pitchFamily="18" charset="0"/>
              </a:rPr>
              <a:t>Since there are two sources, let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25304" y="1875560"/>
            <a:ext cx="1460897" cy="324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311728" y="2324318"/>
            <a:ext cx="6556664" cy="15465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350" dirty="0">
                <a:latin typeface="Times New Roman" pitchFamily="18" charset="0"/>
                <a:cs typeface="Times New Roman" pitchFamily="18" charset="0"/>
              </a:rPr>
              <a:t>where </a:t>
            </a:r>
            <a:r>
              <a:rPr lang="en-IN" sz="1350" i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IN" sz="135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IN" sz="135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IN" sz="1350" i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IN" sz="135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IN" sz="1350" dirty="0">
                <a:latin typeface="Times New Roman" pitchFamily="18" charset="0"/>
                <a:cs typeface="Times New Roman" pitchFamily="18" charset="0"/>
              </a:rPr>
              <a:t> are the contributions due to the 6-V voltage source and the 3-A current source, respectively. </a:t>
            </a:r>
          </a:p>
          <a:p>
            <a:endParaRPr lang="en-IN" sz="135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350" dirty="0">
                <a:latin typeface="Times New Roman" pitchFamily="18" charset="0"/>
                <a:cs typeface="Times New Roman" pitchFamily="18" charset="0"/>
              </a:rPr>
              <a:t>To obtain </a:t>
            </a:r>
            <a:r>
              <a:rPr lang="en-IN" sz="1350" i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IN" sz="135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IN" sz="1350" dirty="0">
                <a:latin typeface="Times New Roman" pitchFamily="18" charset="0"/>
                <a:cs typeface="Times New Roman" pitchFamily="18" charset="0"/>
              </a:rPr>
              <a:t> we set the current source to zero, as shown in Figure. </a:t>
            </a:r>
          </a:p>
          <a:p>
            <a:endParaRPr lang="en-IN" sz="1350" dirty="0">
              <a:latin typeface="Times New Roman" pitchFamily="18" charset="0"/>
              <a:cs typeface="Times New Roman" pitchFamily="18" charset="0"/>
            </a:endParaRPr>
          </a:p>
          <a:p>
            <a:endParaRPr lang="en-IN" sz="135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350" dirty="0">
                <a:latin typeface="Times New Roman" pitchFamily="18" charset="0"/>
                <a:cs typeface="Times New Roman" pitchFamily="18" charset="0"/>
              </a:rPr>
              <a:t>Applying KVL to the loop  gives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89709" y="4081709"/>
            <a:ext cx="3771900" cy="3256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061296" y="4914577"/>
            <a:ext cx="1617086" cy="262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426028" y="4888923"/>
            <a:ext cx="126769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Thus</a:t>
            </a:r>
            <a:endParaRPr lang="en-IN" sz="135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242118"/>
            <a:ext cx="864523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solidFill>
                  <a:srgbClr val="C00000"/>
                </a:solidFill>
                <a:latin typeface="+mj-lt"/>
                <a:cs typeface="Arial" pitchFamily="34" charset="0"/>
              </a:rPr>
              <a:t>Problem - </a:t>
            </a:r>
            <a:r>
              <a:rPr lang="en-US" altLang="en-US" sz="4400" b="1" dirty="0">
                <a:solidFill>
                  <a:srgbClr val="0066FF"/>
                </a:solidFill>
                <a:latin typeface="+mj-lt"/>
                <a:cs typeface="Arial" pitchFamily="34" charset="0"/>
              </a:rPr>
              <a:t>Solution</a:t>
            </a:r>
            <a:endParaRPr lang="en-US" sz="2100" b="1" dirty="0">
              <a:solidFill>
                <a:srgbClr val="C00000"/>
              </a:solidFill>
              <a:latin typeface="+mj-lt"/>
              <a:cs typeface="Arial" pitchFamily="34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38351" y="1418359"/>
            <a:ext cx="2702068" cy="1184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89072" y="3164061"/>
            <a:ext cx="2593506" cy="1376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529410" y="1929292"/>
            <a:ext cx="3852017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350" dirty="0"/>
              <a:t>We may also use voltage division to get </a:t>
            </a:r>
            <a:r>
              <a:rPr lang="en-IN" sz="1350" i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IN" sz="135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IN" sz="1350" dirty="0"/>
              <a:t> by writing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38467" y="2654877"/>
            <a:ext cx="2780900" cy="772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128904"/>
            <a:ext cx="864523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solidFill>
                  <a:srgbClr val="C00000"/>
                </a:solidFill>
                <a:latin typeface="+mj-lt"/>
                <a:cs typeface="Arial" pitchFamily="34" charset="0"/>
              </a:rPr>
              <a:t>Problem - </a:t>
            </a:r>
            <a:r>
              <a:rPr lang="en-US" altLang="en-US" sz="4400" b="1" dirty="0">
                <a:solidFill>
                  <a:srgbClr val="0066FF"/>
                </a:solidFill>
                <a:latin typeface="+mj-lt"/>
                <a:cs typeface="Arial" pitchFamily="34" charset="0"/>
              </a:rPr>
              <a:t>Solution</a:t>
            </a:r>
            <a:endParaRPr lang="en-US" sz="4400" b="1" dirty="0">
              <a:solidFill>
                <a:srgbClr val="C00000"/>
              </a:solidFill>
              <a:latin typeface="+mj-lt"/>
              <a:cs typeface="Arial" pitchFamily="34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02102" y="1475065"/>
            <a:ext cx="2240886" cy="982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9255" y="2868912"/>
            <a:ext cx="2528875" cy="1531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633845" y="1825417"/>
            <a:ext cx="5133110" cy="715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350" dirty="0"/>
              <a:t>To get </a:t>
            </a:r>
            <a:r>
              <a:rPr lang="en-IN" sz="1350" i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IN" sz="135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IN" sz="1350" dirty="0"/>
              <a:t> we set the voltage source to zero, as in Figure.</a:t>
            </a:r>
          </a:p>
          <a:p>
            <a:endParaRPr lang="en-IN" sz="1350" dirty="0"/>
          </a:p>
          <a:p>
            <a:r>
              <a:rPr lang="en-IN" sz="1350" dirty="0"/>
              <a:t>Using current division,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82029" y="2644487"/>
            <a:ext cx="2131685" cy="610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694009" y="3519100"/>
            <a:ext cx="673582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350" dirty="0"/>
              <a:t>Hence,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735282" y="3652405"/>
            <a:ext cx="1787917" cy="31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>
            <a:off x="650725" y="4339982"/>
            <a:ext cx="102791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350" dirty="0"/>
              <a:t>And we find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530387" y="4747997"/>
            <a:ext cx="3162661" cy="286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3404" y="404664"/>
            <a:ext cx="869719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solidFill>
                  <a:srgbClr val="C00000"/>
                </a:solidFill>
                <a:latin typeface="+mj-lt"/>
                <a:cs typeface="Arial" pitchFamily="34" charset="0"/>
              </a:rPr>
              <a:t>Problem</a:t>
            </a:r>
            <a:endParaRPr lang="en-US" sz="4400" b="1" dirty="0">
              <a:solidFill>
                <a:srgbClr val="C00000"/>
              </a:solidFill>
              <a:latin typeface="+mj-lt"/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40496" y="1503264"/>
            <a:ext cx="4316695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Find </a:t>
            </a:r>
            <a:r>
              <a:rPr lang="en-IN" sz="1500" b="1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1500" b="1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 in the circuit of Figure using superposition.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45349" y="2053503"/>
            <a:ext cx="3450431" cy="277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204846"/>
            <a:ext cx="864523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solidFill>
                  <a:srgbClr val="C00000"/>
                </a:solidFill>
                <a:latin typeface="+mj-lt"/>
                <a:cs typeface="Arial" pitchFamily="34" charset="0"/>
              </a:rPr>
              <a:t>Problem - </a:t>
            </a:r>
            <a:r>
              <a:rPr lang="en-US" altLang="en-US" sz="4400" b="1" dirty="0">
                <a:solidFill>
                  <a:srgbClr val="0066FF"/>
                </a:solidFill>
                <a:latin typeface="+mj-lt"/>
                <a:cs typeface="Arial" pitchFamily="34" charset="0"/>
              </a:rPr>
              <a:t>Solution</a:t>
            </a:r>
            <a:endParaRPr lang="en-US" sz="4400" b="1" dirty="0">
              <a:solidFill>
                <a:srgbClr val="C00000"/>
              </a:solidFill>
              <a:latin typeface="+mj-lt"/>
              <a:cs typeface="Arial" pitchFamily="34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76109" y="1263794"/>
            <a:ext cx="2608444" cy="2095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78572" y="3590068"/>
            <a:ext cx="2760770" cy="1828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446809" y="1648806"/>
            <a:ext cx="6109855" cy="715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350" dirty="0"/>
              <a:t>The circuit in Figure involves a dependent source, which must be left intact.</a:t>
            </a:r>
          </a:p>
          <a:p>
            <a:endParaRPr lang="en-IN" sz="1350" dirty="0"/>
          </a:p>
          <a:p>
            <a:r>
              <a:rPr lang="en-IN" sz="1350" dirty="0"/>
              <a:t>We let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93719" y="2124941"/>
            <a:ext cx="1620982" cy="356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405242" y="2771128"/>
            <a:ext cx="635923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350" dirty="0"/>
              <a:t>where          and        are due to the 4-A current source and 20-V voltage source respectively. </a:t>
            </a:r>
          </a:p>
          <a:p>
            <a:endParaRPr lang="en-IN" sz="1350" dirty="0"/>
          </a:p>
          <a:p>
            <a:r>
              <a:rPr lang="en-IN" sz="1350" dirty="0"/>
              <a:t>To obtain        we turn off the 20-V source so that we have the circuit in Figure. </a:t>
            </a:r>
          </a:p>
          <a:p>
            <a:endParaRPr lang="en-IN" sz="1350" dirty="0"/>
          </a:p>
          <a:p>
            <a:r>
              <a:rPr lang="en-IN" sz="1350" dirty="0"/>
              <a:t>We apply mesh analysis in order to obtain </a:t>
            </a:r>
          </a:p>
          <a:p>
            <a:endParaRPr lang="en-IN" sz="1350" dirty="0"/>
          </a:p>
          <a:p>
            <a:r>
              <a:rPr lang="en-IN" sz="1350" dirty="0"/>
              <a:t>For loop 1,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89413" y="2802624"/>
            <a:ext cx="195151" cy="224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617736" y="2809444"/>
            <a:ext cx="174278" cy="229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76452" y="3436486"/>
            <a:ext cx="195151" cy="224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493625" y="3831341"/>
            <a:ext cx="195151" cy="224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004147" y="4361020"/>
            <a:ext cx="759835" cy="1850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Rectangle 12"/>
          <p:cNvSpPr/>
          <p:nvPr/>
        </p:nvSpPr>
        <p:spPr>
          <a:xfrm>
            <a:off x="458430" y="4869918"/>
            <a:ext cx="93730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350" dirty="0"/>
              <a:t>For loop 2,</a:t>
            </a: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551818" y="4940337"/>
            <a:ext cx="2614937" cy="245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9045" y="176278"/>
            <a:ext cx="864523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solidFill>
                  <a:srgbClr val="C00000"/>
                </a:solidFill>
                <a:latin typeface="+mj-lt"/>
                <a:cs typeface="Arial" pitchFamily="34" charset="0"/>
              </a:rPr>
              <a:t>Problem - </a:t>
            </a:r>
            <a:r>
              <a:rPr lang="en-US" altLang="en-US" sz="4400" b="1" dirty="0">
                <a:solidFill>
                  <a:srgbClr val="0066FF"/>
                </a:solidFill>
                <a:latin typeface="+mj-lt"/>
                <a:cs typeface="Arial" pitchFamily="34" charset="0"/>
              </a:rPr>
              <a:t>Solution</a:t>
            </a:r>
            <a:endParaRPr lang="en-US" sz="4400" b="1" dirty="0">
              <a:solidFill>
                <a:srgbClr val="C00000"/>
              </a:solidFill>
              <a:latin typeface="+mj-lt"/>
              <a:cs typeface="Arial" pitchFamily="34" charset="0"/>
            </a:endParaRPr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47947" y="1465845"/>
            <a:ext cx="3159687" cy="20930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499994" y="1607173"/>
            <a:ext cx="93730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350" dirty="0"/>
              <a:t>For loop 3,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93719" y="1722293"/>
            <a:ext cx="2777945" cy="26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515067" y="2178673"/>
            <a:ext cx="1176925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350" dirty="0"/>
              <a:t>But at node 0,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76846" y="2188262"/>
            <a:ext cx="2182091" cy="268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30475" y="3014012"/>
            <a:ext cx="1497560" cy="731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>
            <a:off x="499991" y="2770990"/>
            <a:ext cx="1781257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350" dirty="0"/>
              <a:t>By substituting, we 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9600" y="4007508"/>
            <a:ext cx="1623521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350" dirty="0"/>
              <a:t>After solving, we get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520446" y="4012428"/>
            <a:ext cx="1241064" cy="6962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37553" y="1631387"/>
            <a:ext cx="2601889" cy="2000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349812" y="151766"/>
            <a:ext cx="864523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solidFill>
                  <a:srgbClr val="C00000"/>
                </a:solidFill>
                <a:latin typeface="+mj-lt"/>
                <a:cs typeface="Arial" pitchFamily="34" charset="0"/>
              </a:rPr>
              <a:t>Problem - </a:t>
            </a:r>
            <a:r>
              <a:rPr lang="en-US" altLang="en-US" sz="4400" b="1" dirty="0">
                <a:solidFill>
                  <a:srgbClr val="0066FF"/>
                </a:solidFill>
                <a:latin typeface="+mj-lt"/>
                <a:cs typeface="Arial" pitchFamily="34" charset="0"/>
              </a:rPr>
              <a:t>Solution</a:t>
            </a:r>
            <a:endParaRPr lang="en-US" sz="4400" b="1" dirty="0">
              <a:solidFill>
                <a:srgbClr val="C00000"/>
              </a:solidFill>
              <a:latin typeface="+mj-lt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4464" y="1627990"/>
            <a:ext cx="5964381" cy="9950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350" dirty="0"/>
              <a:t>To obtain         we turn off the 4-A current source so that the circuit becomes that shown in Figure.</a:t>
            </a:r>
          </a:p>
          <a:p>
            <a:pPr>
              <a:lnSpc>
                <a:spcPct val="150000"/>
              </a:lnSpc>
            </a:pPr>
            <a:r>
              <a:rPr lang="en-IN" sz="1350" dirty="0"/>
              <a:t>For loop 4, KVL gives</a:t>
            </a: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70927" y="1739181"/>
            <a:ext cx="174278" cy="229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97392" y="2386828"/>
            <a:ext cx="1575845" cy="229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433919" y="2926819"/>
            <a:ext cx="1213345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350" dirty="0"/>
              <a:t>and for loop 5,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08369" y="3018560"/>
            <a:ext cx="2707874" cy="240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645337" y="3631948"/>
            <a:ext cx="835469" cy="259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1036215" y="4038646"/>
            <a:ext cx="261905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350" dirty="0"/>
              <a:t>Substituting this in Equations gives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7567" y="3643792"/>
            <a:ext cx="46679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350" dirty="0"/>
              <a:t>But </a:t>
            </a: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852106" y="4125683"/>
            <a:ext cx="1519995" cy="634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3"/>
          <p:cNvSpPr/>
          <p:nvPr/>
        </p:nvSpPr>
        <p:spPr>
          <a:xfrm>
            <a:off x="1051705" y="4890700"/>
            <a:ext cx="170027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350" dirty="0"/>
              <a:t>which we solve to get</a:t>
            </a:r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107856" y="4908742"/>
            <a:ext cx="962909" cy="41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535382" y="5522771"/>
            <a:ext cx="1381991" cy="304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759037" y="5347798"/>
            <a:ext cx="2287624" cy="510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Rectangle 17"/>
          <p:cNvSpPr/>
          <p:nvPr/>
        </p:nvSpPr>
        <p:spPr>
          <a:xfrm>
            <a:off x="1041311" y="5524546"/>
            <a:ext cx="117833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350" dirty="0"/>
              <a:t>Finally, we get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3795" y="207952"/>
            <a:ext cx="867640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Practice Problem</a:t>
            </a:r>
            <a:endParaRPr lang="en-US" sz="4400" b="1" dirty="0">
              <a:solidFill>
                <a:srgbClr val="C0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3291" y="1482517"/>
            <a:ext cx="76750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For the circuit in Figure, use the superposition theorem to find </a:t>
            </a:r>
            <a:r>
              <a:rPr lang="en-IN" b="1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b="1" i="1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30236" y="2046489"/>
            <a:ext cx="3382241" cy="2170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540327" y="4525241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Ans</a:t>
            </a:r>
            <a:r>
              <a:rPr lang="en-US" b="1" dirty="0"/>
              <a:t>: 2 A</a:t>
            </a:r>
            <a:endParaRPr lang="en-IN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764704"/>
            <a:ext cx="8610600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References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>
                <a:cs typeface="Times New Roman" pitchFamily="18" charset="0"/>
              </a:rPr>
              <a:t>R.C. </a:t>
            </a:r>
            <a:r>
              <a:rPr lang="en-US" sz="2000" dirty="0" err="1">
                <a:cs typeface="Times New Roman" pitchFamily="18" charset="0"/>
              </a:rPr>
              <a:t>Dorf</a:t>
            </a:r>
            <a:r>
              <a:rPr lang="en-US" sz="2000" dirty="0">
                <a:cs typeface="Times New Roman" pitchFamily="18" charset="0"/>
              </a:rPr>
              <a:t> and James A. Svoboda, “Introduction to Electric Circuits”, 9</a:t>
            </a:r>
            <a:r>
              <a:rPr lang="en-US" sz="2000" baseline="30000" dirty="0">
                <a:cs typeface="Times New Roman" pitchFamily="18" charset="0"/>
              </a:rPr>
              <a:t>th</a:t>
            </a:r>
            <a:r>
              <a:rPr lang="en-US" sz="2000" dirty="0">
                <a:cs typeface="Times New Roman" pitchFamily="18" charset="0"/>
              </a:rPr>
              <a:t> </a:t>
            </a:r>
            <a:r>
              <a:rPr lang="en-US" sz="2000" dirty="0" err="1">
                <a:cs typeface="Times New Roman" pitchFamily="18" charset="0"/>
              </a:rPr>
              <a:t>ed</a:t>
            </a:r>
            <a:r>
              <a:rPr lang="en-US" sz="2000" dirty="0">
                <a:cs typeface="Times New Roman" pitchFamily="18" charset="0"/>
              </a:rPr>
              <a:t>, John Wiley &amp; Sons, 2013.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>
                <a:cs typeface="Times New Roman" pitchFamily="18" charset="0"/>
              </a:rPr>
              <a:t>D.C. </a:t>
            </a:r>
            <a:r>
              <a:rPr lang="en-US" sz="2000" dirty="0" err="1">
                <a:cs typeface="Times New Roman" pitchFamily="18" charset="0"/>
              </a:rPr>
              <a:t>Kulshreshtha</a:t>
            </a:r>
            <a:r>
              <a:rPr lang="en-US" sz="2000" dirty="0">
                <a:cs typeface="Times New Roman" pitchFamily="18" charset="0"/>
              </a:rPr>
              <a:t>, Basic Electrical Engineering, Revised 1</a:t>
            </a:r>
            <a:r>
              <a:rPr lang="en-US" sz="2000" baseline="30000" dirty="0">
                <a:cs typeface="Times New Roman" pitchFamily="18" charset="0"/>
              </a:rPr>
              <a:t>st</a:t>
            </a:r>
            <a:r>
              <a:rPr lang="en-US" sz="2000" dirty="0">
                <a:cs typeface="Times New Roman" pitchFamily="18" charset="0"/>
              </a:rPr>
              <a:t> </a:t>
            </a:r>
            <a:r>
              <a:rPr lang="en-US" sz="2000" dirty="0" err="1">
                <a:cs typeface="Times New Roman" pitchFamily="18" charset="0"/>
              </a:rPr>
              <a:t>ed</a:t>
            </a:r>
            <a:r>
              <a:rPr lang="en-US" sz="2000" dirty="0">
                <a:cs typeface="Times New Roman" pitchFamily="18" charset="0"/>
              </a:rPr>
              <a:t>, Tata Mc </a:t>
            </a:r>
            <a:r>
              <a:rPr lang="en-US" sz="2000" dirty="0" err="1">
                <a:cs typeface="Times New Roman" pitchFamily="18" charset="0"/>
              </a:rPr>
              <a:t>Graw</a:t>
            </a:r>
            <a:r>
              <a:rPr lang="en-US" sz="2000" dirty="0">
                <a:cs typeface="Times New Roman" pitchFamily="18" charset="0"/>
              </a:rPr>
              <a:t> Hill, 2017.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>
                <a:cs typeface="Times New Roman" pitchFamily="18" charset="0"/>
              </a:rPr>
              <a:t>V. </a:t>
            </a:r>
            <a:r>
              <a:rPr lang="en-US" sz="2000" dirty="0" err="1">
                <a:cs typeface="Times New Roman" pitchFamily="18" charset="0"/>
              </a:rPr>
              <a:t>K.Mehta</a:t>
            </a:r>
            <a:r>
              <a:rPr lang="en-US" sz="2000" dirty="0">
                <a:cs typeface="Times New Roman" pitchFamily="18" charset="0"/>
              </a:rPr>
              <a:t>, </a:t>
            </a:r>
            <a:r>
              <a:rPr lang="en-US" sz="2000" dirty="0" err="1">
                <a:cs typeface="Times New Roman" pitchFamily="18" charset="0"/>
              </a:rPr>
              <a:t>Rohit</a:t>
            </a:r>
            <a:r>
              <a:rPr lang="en-US" sz="2000" dirty="0">
                <a:cs typeface="Times New Roman" pitchFamily="18" charset="0"/>
              </a:rPr>
              <a:t> Mehta, Basic Electrical Engineering, 6</a:t>
            </a:r>
            <a:r>
              <a:rPr lang="en-US" sz="2000" baseline="30000" dirty="0">
                <a:cs typeface="Times New Roman" pitchFamily="18" charset="0"/>
              </a:rPr>
              <a:t>th</a:t>
            </a:r>
            <a:r>
              <a:rPr lang="en-US" sz="2000" dirty="0">
                <a:cs typeface="Times New Roman" pitchFamily="18" charset="0"/>
              </a:rPr>
              <a:t> </a:t>
            </a:r>
            <a:r>
              <a:rPr lang="en-US" sz="2000" dirty="0" err="1">
                <a:cs typeface="Times New Roman" pitchFamily="18" charset="0"/>
              </a:rPr>
              <a:t>ed</a:t>
            </a:r>
            <a:r>
              <a:rPr lang="en-US" sz="2000" dirty="0">
                <a:cs typeface="Times New Roman" pitchFamily="18" charset="0"/>
              </a:rPr>
              <a:t>, S. </a:t>
            </a:r>
            <a:r>
              <a:rPr lang="en-US" sz="2000" dirty="0" err="1">
                <a:cs typeface="Times New Roman" pitchFamily="18" charset="0"/>
              </a:rPr>
              <a:t>Chand</a:t>
            </a:r>
            <a:r>
              <a:rPr lang="en-US" sz="2000" dirty="0">
                <a:cs typeface="Times New Roman" pitchFamily="18" charset="0"/>
              </a:rPr>
              <a:t> Publishing, 2012.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742</Words>
  <Application>Microsoft Office PowerPoint</Application>
  <PresentationFormat>On-screen Show (4:3)</PresentationFormat>
  <Paragraphs>88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ankur bhardwaj</dc:creator>
  <cp:lastModifiedBy>ankur.bhardwaj</cp:lastModifiedBy>
  <cp:revision>1</cp:revision>
  <dcterms:created xsi:type="dcterms:W3CDTF">2006-08-16T00:00:00Z</dcterms:created>
  <dcterms:modified xsi:type="dcterms:W3CDTF">2024-08-09T03:53:19Z</dcterms:modified>
</cp:coreProperties>
</file>